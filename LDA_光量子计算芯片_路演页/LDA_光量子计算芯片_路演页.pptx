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6" Type="http://schemas.openxmlformats.org/officeDocument/2006/relationships/notesMaster" Target="notesMasters/notesMaster1.xml" /><Relationship Id="rId7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A1120', padding: '64px 72px', flexDirection: 'column', justifyContent: 'space-between' }}&gt;&#10;    &lt;Box style={{ flexDirection: 'row', alignItems: 'center', justifyContent: 'space-between', height: 470 }}&gt;&#10;        &lt;Box style={{ flexDirection: 'column', gap: 18, width: 620 }}&gt;&#10;            &lt;Box style={{ flexDirection: 'row', alignItems: 'center', gap: 14 }}&gt;&#10;                &lt;Box style={{ width: 6, height: 32, background: '#2563EB', borderRadius: 3 }} /&gt;&#10;                &lt;Text style={{ fontSize: 19, color: '#9FB3CC' }}&gt;LDA · 开源 Agent 原生光子 / 量子芯片设计软件&lt;/Text&gt;&#10;            &lt;/Box&gt;&#10;            &lt;Text style={{ fontSize: 62, fontWeight: 'bold', color: '#E8EEF7', lineHeight: 1.12 }}&gt;LDA 光量子计算芯片&lt;/Text&gt;&#10;            &lt;Text style={{ fontSize: 30, fontWeight: 'bold', color: '#2563EB' }}&gt;可编程 MZI 干涉网格 · LOQC 通用处理器&lt;/Text&gt;&#10;            &lt;Text style={{ fontSize: 20, color: '#9FB3CC', lineHeight: 1.7 }}&gt;把「任意 216×216 酉变换」编译成片上真实光路——深度恰好打到理论紧下界，全链路 DRC / LVS 签核通过。用 LDA 亲手设计。&lt;/Text&gt;&#10;        &lt;/Box&gt;&#10;        &lt;Box style={{ flexDirection: 'column', gap: 16 }}&gt;&#10;            &lt;Box style={{ background: 'rgba(255,255,255,0.05)', borderRadius: 12, padding: '16px 26px', width: 430, flexDirection: 'column', gap: 4 }}&gt;&#10;                &lt;Text style={{ fontSize: 68, fontWeight: 'bold', color: '#2563EB', fontFamily: 'Consolas' }}&gt;216&lt;/Text&gt;&#10;                &lt;Text style={{ fontSize: 16, color: '#9FB3CC' }}&gt;光学深度 = 相邻耦合紧下界&lt;/Text&gt;&#10;            &lt;/Box&gt;&#10;            &lt;Box style={{ background: 'rgba(255,255,255,0.05)', borderRadius: 12, padding: '16px 26px', width: 430, flexDirection: 'column', gap: 4 }}&gt;&#10;                &lt;Text style={{ fontSize: 68, fontWeight: 'bold', color: '#2563EB', fontFamily: 'Consolas' }}&gt;23,220&lt;/Text&gt;&#10;                &lt;Text style={{ fontSize: 16, color: '#9FB3CC' }}&gt;MZI 干涉仪单元（= N(N−1)/2）&lt;/Text&gt;&#10;            &lt;/Box&gt;&#10;            &lt;Box style={{ background: 'rgba(255,255,255,0.05)', borderRadius: 12, padding: '16px 26px', width: 430, flexDirection: 'column', gap: 4 }}&gt;&#10;                &lt;Text style={{ fontSize: 40, fontWeight: 'bold', color: '#2563EB', fontFamily: 'Consolas' }}&gt;1.000000000000&lt;/Text&gt;&#10;                &lt;Text style={{ fontSize: 16, color: '#9FB3CC' }}&gt;酉重构保真度（机器精度）&lt;/Text&gt;&#10;            &lt;/Box&gt;&#10;        &lt;/Box&gt;&#10;    &lt;/Box&gt;&#10;    &lt;Box style={{ flexDirection: 'row', alignItems: 'center', justifyContent: 'space-between', borderTop: '1px solid rgba(159,179,204,0.25)', paddingTop: 16 }}&gt;&#10;        &lt;Text style={{ fontSize: 16, color: '#9FB3CC' }}&gt;LDA · 光量子计算芯片（量子征程「吃狗粮」）&lt;/Text&gt;&#10;        &lt;Text style={{ fontSize: 16, color: '#9FB3CC', fontFamily: 'Consolas' }}&gt;01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4763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76300" y="1524000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开源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 Agent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原生光子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量子芯片设计软件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952625"/>
            <a:ext cx="5905500" cy="8001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650" b="1">
                <a:solidFill>
                  <a:srgbClr val="E8EEF7"/>
                </a:solidFill>
                <a:latin typeface="Microsoft YaHei"/>
                <a:ea typeface="Microsoft YaHei"/>
              </a:rPr>
              <a:t>LDA </a:t>
            </a:r>
            <a:r>
              <a:rPr lang="zh-CN" sz="4650" b="1">
                <a:solidFill>
                  <a:srgbClr val="E8EEF7"/>
                </a:solidFill>
                <a:latin typeface="Microsoft YaHei"/>
                <a:ea typeface="Microsoft YaHei"/>
              </a:rPr>
              <a:t>光量子计算芯片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5905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563EB"/>
                </a:solidFill>
                <a:latin typeface="Microsoft YaHei"/>
                <a:ea typeface="Microsoft YaHei"/>
              </a:rPr>
              <a:t>可编程</a:t>
            </a: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 MZI </a:t>
            </a:r>
            <a:r>
              <a:rPr lang="zh-CN" sz="2250" b="1">
                <a:solidFill>
                  <a:srgbClr val="2563EB"/>
                </a:solidFill>
                <a:latin typeface="Microsoft YaHei"/>
                <a:ea typeface="Microsoft YaHei"/>
              </a:rPr>
              <a:t>干涉网格</a:t>
            </a: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 · LOQC </a:t>
            </a:r>
            <a:r>
              <a:rPr lang="zh-CN" sz="2250" b="1">
                <a:solidFill>
                  <a:srgbClr val="2563EB"/>
                </a:solidFill>
                <a:latin typeface="Microsoft YaHei"/>
                <a:ea typeface="Microsoft YaHei"/>
              </a:rPr>
              <a:t>通用处理器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3438525"/>
            <a:ext cx="5905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9FB3CC"/>
                </a:solidFill>
                <a:latin typeface="Microsoft YaHei"/>
                <a:ea typeface="Microsoft YaHei"/>
              </a:rPr>
              <a:t>把「任意</a:t>
            </a:r>
            <a:r>
              <a:rPr lang="en-US" sz="1500">
                <a:solidFill>
                  <a:srgbClr val="9FB3CC"/>
                </a:solidFill>
                <a:latin typeface="Microsoft YaHei"/>
                <a:ea typeface="Microsoft YaHei"/>
              </a:rPr>
              <a:t> 216×216 </a:t>
            </a:r>
            <a:r>
              <a:rPr lang="zh-CN" sz="1500">
                <a:solidFill>
                  <a:srgbClr val="9FB3CC"/>
                </a:solidFill>
                <a:latin typeface="Microsoft YaHei"/>
                <a:ea typeface="Microsoft YaHei"/>
              </a:rPr>
              <a:t>酉变换」编译成片上真实光路——深度恰好打到理论紧下界，全链路</a:t>
            </a:r>
            <a:r>
              <a:rPr lang="en-US" sz="1500">
                <a:solidFill>
                  <a:srgbClr val="9FB3CC"/>
                </a:solidFill>
                <a:latin typeface="Microsoft YaHei"/>
                <a:ea typeface="Microsoft YaHei"/>
              </a:rPr>
              <a:t> DRC / LVS </a:t>
            </a:r>
            <a:r>
              <a:rPr lang="zh-CN" sz="1500">
                <a:solidFill>
                  <a:srgbClr val="9FB3CC"/>
                </a:solidFill>
                <a:latin typeface="Microsoft YaHei"/>
                <a:ea typeface="Microsoft YaHei"/>
              </a:rPr>
              <a:t>签核通过。用</a:t>
            </a:r>
            <a:r>
              <a:rPr lang="en-US" sz="1500">
                <a:solidFill>
                  <a:srgbClr val="9FB3CC"/>
                </a:solidFill>
                <a:latin typeface="Microsoft YaHei"/>
                <a:ea typeface="Microsoft YaHei"/>
              </a:rPr>
              <a:t> LDA </a:t>
            </a:r>
            <a:r>
              <a:rPr lang="zh-CN" sz="1500">
                <a:solidFill>
                  <a:srgbClr val="9FB3CC"/>
                </a:solidFill>
                <a:latin typeface="Microsoft YaHei"/>
                <a:ea typeface="Microsoft YaHei"/>
              </a:rPr>
              <a:t>亲手设计。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410450" y="885825"/>
            <a:ext cx="4095750" cy="131445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58100" y="1038225"/>
            <a:ext cx="36004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563EB"/>
                </a:solidFill>
                <a:latin typeface="Consolas"/>
                <a:ea typeface="Consolas"/>
              </a:rPr>
              <a:t>216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58100" y="185737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光学深度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相邻耦合紧下界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410450" y="2352675"/>
            <a:ext cx="4095750" cy="131445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58100" y="2505075"/>
            <a:ext cx="36004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563EB"/>
                </a:solidFill>
                <a:latin typeface="Consolas"/>
                <a:ea typeface="Consolas"/>
              </a:rPr>
              <a:t>23,220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58100" y="332422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MZI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干涉仪单元（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= N(N−1)/2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7410450" y="3819525"/>
            <a:ext cx="4095750" cy="990600"/>
          </a:xfrm>
          <a:prstGeom prst="roundRect">
            <a:avLst>
              <a:gd name="adj" fmla="val 1153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58100" y="3971925"/>
            <a:ext cx="36004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Consolas"/>
                <a:ea typeface="Consolas"/>
              </a:rPr>
              <a:t>1.000000000000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58100" y="446722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酉重构保真度（机器精度）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光量子计算芯片（量子征程「吃狗粮」）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01 / 05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style={{ width: 1280, height: 720, background: '#0A1120', padding: '56px 72px', flexDirection: 'column', justifyContent: 'space-between' }}&gt;&#10;    &lt;Box style={{ flexDirection: 'row', alignItems: 'center', gap: 14, height: 76 }}&gt;&#10;        &lt;Box style={{ width: 6, height: 32, background: '#2563EB', borderRadius: 3 }} /&gt;&#10;        &lt;Text style={{ fontSize: 40, fontWeight: 'bold', color: '#E8EEF7' }}&gt;它是什么：可编程干涉仪网格 = 量子处理器&lt;/Text&gt;&#10;    &lt;/Box&gt;&#10;&#10;    &lt;Box style={{ flexDirection: 'row', gap: 40, flex: 1, paddingTop: 8, paddingBottom: 8 }}&gt;&#10;        &lt;Box style={{ flexDirection: 'column', gap: 18, justifyContent: 'center', width: 570 }}&gt;&#10;            &lt;Text style={{ fontSize: 20, color: '#E8EEF7', lineHeight: 1.75 }}&gt;线性光学中，N 个模式的任意酉变换 U 由无源分束器 + 相移器实现。&lt;/Text&gt;&#10;            &lt;Text style={{ fontSize: 20, color: '#E8EEF7', lineHeight: 1.75 }}&gt;任意 N×N 酉可分解为 N(N−1)/2 片 2 模门——这是 Clements 必要性定理给定的数量，省不掉。&lt;/Text&gt;&#10;            &lt;Box style={{ background: 'rgba(37,99,235,0.12)', borderRadius: 10, padding: '18px 22px' }}&gt;&#10;                &lt;Text style={{ fontSize: 22, fontWeight: 'bold', color: '#2563EB', lineHeight: 1.5 }}&gt;换一组相位即换一个酉，硬件不动。&lt;/Text&gt;&#10;            &lt;/Box&gt;&#10;            &lt;Text style={{ fontSize: 17, color: '#9FB3CC', lineHeight: 1.7 }}&gt;每片 MZI = 一个分束器 θ + 一个相移器 φ（2 个可编程参数）；同层配对互不共享波导，同层可同步。&lt;/Text&gt;&#10;        &lt;/Box&gt;&#10;&#10;        &lt;Box style={{ width: 520, background: 'rgba(255,255,255,0.04)', borderRadius: 14, padding: 24, flexDirection: 'column', justifyContent: 'space-between' }}&gt;&#10;            &lt;Text style={{ fontSize: 17, color: '#9FB3CC' }}&gt;MZI 网格（示意 · 交错错位 ⇒ 每层真匹配）&lt;/Text&gt;&#10;            &lt;Box style={{ flexDirection: 'row', alignItems: 'center', gap: 8, height: 44 }}&gt;&#10;                &lt;Box style={{ flex: 1, height: 2, background: '#3A5A80' }} /&gt;&#10;                &lt;Box style={{ width: 68, height: 42, background: 'rgba(37,99,235,0.35)', border: '1px solid #2563EB', borderRadius: 6 }} /&gt;&#10;                &lt;Box style={{ flex: 1, height: 2, background: '#3A5A80' }} /&gt;&#10;            &lt;/Box&gt;&#10;            &lt;Box style={{ flexDirection: 'row', alignItems: 'center', gap: 8, height: 44 }}&gt;&#10;                &lt;Box style={{ flex: 1, height: 2, background: '#3A5A80' }} /&gt;&#10;                &lt;Box style={{ width: 68, height: 42, background: 'rgba(37,99,235,0.35)', border: '1px solid #2563EB', borderRadius: 6, marginLeft: 92 }} /&gt;&#10;                &lt;Box style={{ flex: 1, height: 2, background: '#3A5A80' }} /&gt;&#10;            &lt;/Box&gt;&#10;            &lt;Box style={{ flexDirection: 'row', alignItems: 'center', gap: 8, height: 44 }}&gt;&#10;                &lt;Box style={{ flex: 1, height: 2, background: '#3A5A80' }} /&gt;&#10;                &lt;Box style={{ width: 68, height: 42, background: 'rgba(37,99,235,0.35)', border: '1px solid #2563EB', borderRadius: 6 }} /&gt;&#10;                &lt;Box style={{ flex: 1, height: 2, background: '#3A5A80' }} /&gt;&#10;            &lt;/Box&gt;&#10;            &lt;Box style={{ flexDirection: 'row', alignItems: 'center', gap: 8, height: 44 }}&gt;&#10;                &lt;Box style={{ flex: 1, height: 2, background: '#3A5A80' }} /&gt;&#10;                &lt;Box style={{ width: 68, height: 42, background: 'rgba(37,99,235,0.35)', border: '1px solid #2563EB', borderRadius: 6, marginLeft: 92 }} /&gt;&#10;                &lt;Box style={{ flex: 1, height: 2, background: '#3A5A80' }} /&gt;&#10;            &lt;/Box&gt;&#10;            &lt;Text style={{ fontSize: 16, color: '#9FB3CC' }}&gt;矩形 Clements 网格 · 深度 = N&lt;/Text&gt;&#10;        &lt;/Box&gt;&#10;    &lt;/Box&gt;&#10;&#10;    &lt;Box style={{ flexDirection: 'row', alignItems: 'center', justifyContent: 'space-between', borderTop: '1px solid rgba(159,179,204,0.25)', paddingTop: 14 }}&gt;&#10;        &lt;Text style={{ fontSize: 16, color: '#9FB3CC' }}&gt;LDA · 光量子计算芯片（量子征程「吃狗粮」）&lt;/Text&gt;&#10;        &lt;Text style={{ fontSize: 16, color: '#9FB3CC', fontFamily: 'Consolas' }}&gt;02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685800" y="7429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76300" y="666750"/>
            <a:ext cx="7381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它是什么：可编程干涉仪网格</a:t>
            </a:r>
            <a:r>
              <a:rPr lang="en-US" sz="3000" b="1">
                <a:solidFill>
                  <a:srgbClr val="E8EEF7"/>
                </a:solidFill>
                <a:latin typeface="Microsoft YaHei"/>
                <a:ea typeface="Microsoft YaHei"/>
              </a:rPr>
              <a:t> = </a:t>
            </a: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量子处理器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1876425"/>
            <a:ext cx="54292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线性光学中，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N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个模式的任意酉变换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U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由无源分束器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相移器实现。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2847975"/>
            <a:ext cx="54292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任意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N×N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酉可分解为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N(N−1)/2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片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2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模门——这是</a:t>
            </a:r>
            <a:r>
              <a:rPr lang="en-US" sz="1500">
                <a:solidFill>
                  <a:srgbClr val="E8EEF7"/>
                </a:solidFill>
                <a:latin typeface="Microsoft YaHei"/>
                <a:ea typeface="Microsoft YaHei"/>
              </a:rPr>
              <a:t> Clements </a:t>
            </a:r>
            <a:r>
              <a:rPr lang="zh-CN" sz="1500">
                <a:solidFill>
                  <a:srgbClr val="E8EEF7"/>
                </a:solidFill>
                <a:latin typeface="Microsoft YaHei"/>
                <a:ea typeface="Microsoft YaHei"/>
              </a:rPr>
              <a:t>必要性定理给定的数量，省不掉。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3819525"/>
            <a:ext cx="5429250" cy="723900"/>
          </a:xfrm>
          <a:prstGeom prst="roundRect">
            <a:avLst>
              <a:gd name="adj" fmla="val 13158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95350" y="3990975"/>
            <a:ext cx="50101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换一组相位即换一个酉，硬件不动。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85800" y="4714875"/>
            <a:ext cx="5429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每片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MZI =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一个分束器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θ +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一个相移器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φ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2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个可编程参数）；同层配对互不共享波导，同层可同步。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496050" y="1333500"/>
            <a:ext cx="4953000" cy="4581525"/>
          </a:xfrm>
          <a:prstGeom prst="roundRect">
            <a:avLst>
              <a:gd name="adj" fmla="val 2911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724650" y="1562100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MZI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网格（示意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交错错位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⇒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每层真匹配）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724650" y="2371725"/>
            <a:ext cx="184785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8648700" y="2181225"/>
            <a:ext cx="647700" cy="400050"/>
          </a:xfrm>
          <a:prstGeom prst="roundRect">
            <a:avLst>
              <a:gd name="adj" fmla="val 14286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9372600" y="2371725"/>
            <a:ext cx="184785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724650" y="3200400"/>
            <a:ext cx="140970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9086850" y="3009900"/>
            <a:ext cx="647700" cy="400050"/>
          </a:xfrm>
          <a:prstGeom prst="roundRect">
            <a:avLst>
              <a:gd name="adj" fmla="val 14286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9810750" y="3200400"/>
            <a:ext cx="140970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724650" y="4038600"/>
            <a:ext cx="184785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8648700" y="3848100"/>
            <a:ext cx="647700" cy="400050"/>
          </a:xfrm>
          <a:prstGeom prst="roundRect">
            <a:avLst>
              <a:gd name="adj" fmla="val 14286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9372600" y="4038600"/>
            <a:ext cx="184785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724650" y="4867275"/>
            <a:ext cx="140970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9086850" y="4676775"/>
            <a:ext cx="647700" cy="400050"/>
          </a:xfrm>
          <a:prstGeom prst="roundRect">
            <a:avLst>
              <a:gd name="adj" fmla="val 14286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9810750" y="4867275"/>
            <a:ext cx="1409700" cy="19050"/>
          </a:xfrm>
          <a:prstGeom prst="rect">
            <a:avLst/>
          </a:prstGeom>
          <a:solidFill>
            <a:srgbClr val="3A5A80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724650" y="5495925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矩形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Clements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网格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深度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= N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5991225"/>
            <a:ext cx="10820400" cy="342900"/>
          </a:xfrm>
          <a:custGeom>
            <a:pathLst>
              <a:path w="1136" h="36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光量子计算芯片（量子征程「吃狗粮」）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915650" y="61341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 style={{ width: 1280, height: 720, background: '#0A1120', padding: '56px 72px', flexDirection: 'column', justifyContent: 'space-between' }}&gt;&#10;    &lt;Box style={{ flexDirection: 'row', alignItems: 'center', gap: 14, height: 76 }}&gt;&#10;        &lt;Box style={{ width: 6, height: 32, background: '#2563EB', borderRadius: 3 }} /&gt;&#10;        &lt;Text style={{ fontSize: 40, fontWeight: 'bold', color: '#E8EEF7' }}&gt;九步征程：从酉分解到真实版图签核&lt;/Text&gt;&#10;    &lt;/Box&gt;&#10;&#10;    &lt;Box style={{ flexDirection: 'column', gap: 30, flex: 1, justifyContent: 'center' }}&gt;&#10;        &lt;Box style={{ flexDirection: 'row', alignItems: 'flex-start', gap: 6 }}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5, fontWeight: 'bold', color: '#E8EEF7' }}&gt;M1&lt;/Text&gt;&#10;                &lt;/Box&gt;&#10;                &lt;Text style={{ fontSize: 14, color: '#9FB3CC', textAlign: 'center', lineHeight: 1.45 }}&gt;四模全链路签核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5, fontWeight: 'bold', color: '#E8EEF7' }}&gt;M2&lt;/Text&gt;&#10;                &lt;/Box&gt;&#10;                &lt;Text style={{ fontSize: 14, color: '#9FB3CC', textAlign: 'center', lineHeight: 1.45 }}&gt;N×N 生成器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5, fontWeight: 'bold', color: '#E8EEF7' }}&gt;M3&lt;/Text&gt;&#10;                &lt;/Box&gt;&#10;                &lt;Text style={{ fontSize: 14, color: '#9FB3CC', textAlign: 'center', lineHeight: 1.45 }}&gt;量子态层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4, fontWeight: 'bold', color: '#E8EEF7' }}&gt;M3b&lt;/Text&gt;&#10;                &lt;/Box&gt;&#10;                &lt;Text style={{ fontSize: 14, color: '#9FB3CC', textAlign: 'center', lineHeight: 1.45 }}&gt;真实源 / 探测器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4, fontWeight: 'bold', color: '#E8EEF7' }}&gt;M3c&lt;/Text&gt;&#10;                &lt;/Box&gt;&#10;                &lt;Text style={{ fontSize: 14, color: '#9FB3CC', textAlign: 'center', lineHeight: 1.45 }}&gt;全链路量子签核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5, fontWeight: 'bold', color: '#E8EEF7' }}&gt;M4&lt;/Text&gt;&#10;                &lt;/Box&gt;&#10;                &lt;Text style={{ fontSize: 14, color: '#9FB3CC', textAlign: 'center', lineHeight: 1.45 }}&gt;规模对标 216 模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4, fontWeight: 'bold', color: '#E8EEF7' }}&gt;M4b&lt;/Text&gt;&#10;                &lt;/Box&gt;&#10;                &lt;Text style={{ fontSize: 14, color: '#9FB3CC', textAlign: 'center', lineHeight: 1.45 }}&gt;时间复用与深度界&lt;/Text&gt;&#10;            &lt;/Box&gt;&#10;            &lt;Box style={{ flex: 1, flexDirection: 'column', alignItems: 'center', gap: 10 }}&gt;&#10;                &lt;Box style={{ width: 44, height: 44, borderRadius: 22, background: '#2563EB', alignItems: 'center', justifyContent: 'center' }}&gt;&#10;                    &lt;Text style={{ fontSize: 15, fontWeight: 'bold', color: '#FFFFFF' }}&gt;M5&lt;/Text&gt;&#10;                &lt;/Box&gt;&#10;                &lt;Text style={{ fontSize: 14, fontWeight: 'bold', color: '#E8EEF7', textAlign: 'center', lineHeight: 1.45 }}&gt;矩形网格坐实紧界&lt;/Text&gt;&#10;            &lt;/Box&gt;&#10;            &lt;Box style={{ flex: 1, flexDirection: 'column', alignItems: 'center', gap: 10 }}&gt;&#10;                &lt;Box style={{ width: 44, height: 44, borderRadius: 22, background: 'rgba(37,99,235,0.30)', border: '1px solid #2563EB', alignItems: 'center', justifyContent: 'center' }}&gt;&#10;                    &lt;Text style={{ fontSize: 13, fontWeight: 'bold', color: '#E8EEF7' }}&gt;M5b&lt;/Text&gt;&#10;                &lt;/Box&gt;&#10;                &lt;Text style={{ fontSize: 14, color: '#9FB3CC', textAlign: 'center', lineHeight: 1.45 }}&gt;真实损耗预算&lt;/Text&gt;&#10;            &lt;/Box&gt;&#10;        &lt;/Box&gt;&#10;&#10;        &lt;Box style={{ background: 'rgba(37,99,235,0.10)', borderRadius: 12, padding: '18px 24px', flexDirection: 'row', alignItems: 'center', gap: 22 }}&gt;&#10;            &lt;Text style={{ fontSize: 20, fontWeight: 'bold', color: '#E8EEF7' }}&gt;吃狗粮反向长出 9 项平台能力&lt;/Text&gt;&#10;            &lt;Text style={{ fontSize: 16, color: '#9FB3CC' }}&gt;G_Q1–G_Q9 · 已闭合 8 项&lt;/Text&gt;&#10;            &lt;Box style={{ flex: 1, height: 10, background: 'rgba(255,255,255,0.10)', borderRadius: 5, flexDirection: 'row' }}&gt;&#10;                &lt;Box style={{ width: '89%', height: 10, background: '#2563EB', borderRadius: 5 }} /&gt;&#10;            &lt;/Box&gt;&#10;        &lt;/Box&gt;&#10;&#10;        &lt;Text style={{ fontSize: 17, color: '#9FB3CC', lineHeight: 1.7 }}&gt;全程在 LDA 内闭环：产出真实 GDSII（最大 64 模 / 650 KB）+ DRC PASS + LVS ACCEPT + 酉重构保真度 1.000000000000。这不是「用了 LDA 做设计」，而是「一颗芯片逼着平台长出一整个量子能力栈」。&lt;/Text&gt;&#10;    &lt;/Box&gt;&#10;&#10;    &lt;Box style={{ flexDirection: 'row', alignItems: 'center', justifyContent: 'space-between', borderTop: '1px solid rgba(159,179,204,0.25)', paddingTop: 14 }}&gt;&#10;        &lt;Text style={{ fontSize: 16, color: '#9FB3CC' }}&gt;LDA · 光量子计算芯片（量子征程「吃狗粮」）&lt;/Text&gt;&#10;        &lt;Text style={{ fontSize: 16, color: '#9FB3CC', fontFamily: 'Consolas' }}&gt;03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685800" y="7429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76300" y="666750"/>
            <a:ext cx="6096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九步征程：从酉分解到真实版图签核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1057275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52525" y="24669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7"/>
                </a:solidFill>
                <a:latin typeface="Microsoft YaHei"/>
                <a:ea typeface="Microsoft YaHei"/>
              </a:rPr>
              <a:t>M1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00100" y="2857500"/>
            <a:ext cx="93345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四模全链路签核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2266950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362200" y="24669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7"/>
                </a:solidFill>
                <a:latin typeface="Microsoft YaHei"/>
                <a:ea typeface="Microsoft YaHei"/>
              </a:rPr>
              <a:t>M2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095500" y="2857500"/>
            <a:ext cx="7620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>N×N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生成器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476625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571875" y="24669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7"/>
                </a:solidFill>
                <a:latin typeface="Microsoft YaHei"/>
                <a:ea typeface="Microsoft YaHei"/>
              </a:rPr>
              <a:t>M3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419475" y="2857500"/>
            <a:ext cx="5334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量子态层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686300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743450" y="2476500"/>
            <a:ext cx="314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EEF7"/>
                </a:solidFill>
                <a:latin typeface="Microsoft YaHei"/>
                <a:ea typeface="Microsoft YaHei"/>
              </a:rPr>
              <a:t>M3b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419600" y="2857500"/>
            <a:ext cx="9429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真实源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探测器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886450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953125" y="2476500"/>
            <a:ext cx="29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EEF7"/>
                </a:solidFill>
                <a:latin typeface="Microsoft YaHei"/>
                <a:ea typeface="Microsoft YaHei"/>
              </a:rPr>
              <a:t>M3c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629275" y="2857500"/>
            <a:ext cx="93345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全链路量子签核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096125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191375" y="24669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7"/>
                </a:solidFill>
                <a:latin typeface="Microsoft YaHei"/>
                <a:ea typeface="Microsoft YaHei"/>
              </a:rPr>
              <a:t>M4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10375" y="2857500"/>
            <a:ext cx="9810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规模对标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> 216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模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305800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62950" y="2476500"/>
            <a:ext cx="314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EEF7"/>
                </a:solidFill>
                <a:latin typeface="Microsoft YaHei"/>
                <a:ea typeface="Microsoft YaHei"/>
              </a:rPr>
              <a:t>M4b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981950" y="2857500"/>
            <a:ext cx="10668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时间复用与深度界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515475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610725" y="24669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M5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191625" y="2857500"/>
            <a:ext cx="10668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 b="1">
                <a:solidFill>
                  <a:srgbClr val="E8EEF7"/>
                </a:solidFill>
                <a:latin typeface="Microsoft YaHei"/>
                <a:ea typeface="Microsoft YaHei"/>
              </a:rPr>
              <a:t>矩形网格坐实紧界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10725150" y="2343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791825" y="24765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7"/>
                </a:solidFill>
                <a:latin typeface="Microsoft YaHei"/>
                <a:ea typeface="Microsoft YaHei"/>
              </a:rPr>
              <a:t>M5b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534650" y="2857500"/>
            <a:ext cx="8001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真实损耗预算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3381375"/>
            <a:ext cx="10820400" cy="5715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2524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吃狗粮反向长出</a:t>
            </a:r>
            <a:r>
              <a:rPr lang="en-US" sz="1500" b="1">
                <a:solidFill>
                  <a:srgbClr val="E8EEF7"/>
                </a:solidFill>
                <a:latin typeface="Microsoft YaHei"/>
                <a:ea typeface="Microsoft YaHei"/>
              </a:rPr>
              <a:t> 9 </a:t>
            </a: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项平台能力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648075" y="3571875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G_Q1–G_Q9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已闭合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648325" y="3619500"/>
            <a:ext cx="5629275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5648325" y="3619500"/>
            <a:ext cx="50101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1082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全程在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LDA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内闭环：产出真实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GDSII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（最大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64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模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/ 650 KB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+ DRC PASS + LVS ACCEPT +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酉重构保真度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1.000000000000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。这不是「用了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LDA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做设计」，而是「一颗芯片逼着平台长出一整个量子能力栈」。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85800" y="5991225"/>
            <a:ext cx="10820400" cy="342900"/>
          </a:xfrm>
          <a:custGeom>
            <a:pathLst>
              <a:path w="1136" h="36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光量子计算芯片（量子征程「吃狗粮」）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15650" y="61341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03 / 05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style={{ width: 1280, height: 720, background: '#0A1120', padding: '56px 72px', flexDirection: 'column', justifyContent: 'space-between' }}&gt;&#10;    &lt;Box style={{ flexDirection: 'row', alignItems: 'center', gap: 14, height: 76 }}&gt;&#10;        &lt;Box style={{ width: 6, height: 32, background: '#2563EB', borderRadius: 3 }} /&gt;&#10;        &lt;Text style={{ fontSize: 40, fontWeight: 'bold', color: '#E8EEF7' }}&gt;四条硬结论（均来自实测与反证）&lt;/Text&gt;&#10;    &lt;/Box&gt;&#10;&#10;    &lt;Box style={{ flexDirection: 'column', gap: 22, flex: 1, justifyContent: 'center' }}&gt;&#10;        &lt;Box style={{ flexDirection: 'row', gap: 22, height: 206 }}&gt;&#10;            &lt;Box style={{ flex: 1, background: 'rgba(255,255,255,0.05)', borderRadius: 12, padding: 20, flexDirection: 'column', gap: 8 }}&gt;&#10;                &lt;Text style={{ fontSize: 34, fontWeight: 'bold', color: '#2563EB', fontFamily: 'Consolas' }}&gt;01&lt;/Text&gt;&#10;                &lt;Text style={{ fontSize: 22, fontWeight: 'bold', color: '#E8EEF7' }}&gt;紧界可达&lt;/Text&gt;&#10;                &lt;Text style={{ fontSize: 17, color: '#9FB3CC', lineHeight: 1.65 }}&gt;通用 N 模酉的相邻耦合紧下界 = N，矩形 Clements 网格深度恰 = N（每层真匹配），且元件数不增。&lt;/Text&gt;&#10;            &lt;/Box&gt;&#10;            &lt;Box style={{ flex: 1, background: 'rgba(255,255,255,0.05)', borderRadius: 12, padding: 20, flexDirection: 'column', gap: 8 }}&gt;&#10;                &lt;Text style={{ fontSize: 34, fontWeight: 'bold', color: '#2563EB', fontFamily: 'Consolas' }}&gt;02&lt;/Text&gt;&#10;                &lt;Text style={{ fontSize: 22, fontWeight: 'bold', color: '#E8EEF7' }}&gt;参数计数会骗人&lt;/Text&gt;&#10;                &lt;Text style={{ fontSize: 17, color: '#9FB3CC', lineHeight: 1.65 }}&gt;「可及参数 ≈ ⌊N/2⌋·D」只是上界；实测可达维数显示全最大匹配序列恒为 2N，最优浅电路是交替砖墙。&lt;/Text&gt;&#10;            &lt;/Box&gt;&#10;        &lt;/Box&gt;&#10;        &lt;Box style={{ flexDirection: 'row', gap: 22, height: 206 }}&gt;&#10;            &lt;Box style={{ flex: 1, background: 'rgba(255,255,255,0.05)', borderRadius: 12, padding: 20, flexDirection: 'column', gap: 8 }}&gt;&#10;                &lt;Text style={{ fontSize: 34, fontWeight: 'bold', color: '#2563EB', fontFamily: 'Consolas' }}&gt;03&lt;/Text&gt;&#10;                &lt;Text style={{ fontSize: 22, fontWeight: 'bold', color: '#E8EEF7' }}&gt;通用与省损不可兼得&lt;/Text&gt;&#10;                &lt;Text style={{ fontSize: 17, color: '#9FB3CC', lineHeight: 1.65 }}&gt;损耗墙的本质是深度墙（下界 Ω(N)）；时间复用把元件降到 1 片但更费损，只有放弃通用性的浅电路才越墙。&lt;/Text&gt;&#10;            &lt;/Box&gt;&#10;            &lt;Box style={{ flex: 1, background: 'rgba(255,255,255,0.05)', borderRadius: 12, padding: 20, flexDirection: 'column', gap: 8 }}&gt;&#10;                &lt;Text style={{ fontSize: 34, fontWeight: 'bold', color: '#2563EB', fontFamily: 'Consolas' }}&gt;04&lt;/Text&gt;&#10;                &lt;Text style={{ fontSize: 22, fontWeight: 'bold', color: '#E8EEF7' }}&gt;约定须精确到块级恒等式&lt;/Text&gt;&#10;                &lt;Text style={{ fontSize: 17, color: '#9FB3CC', lineHeight: 1.65 }}&gt;相位臂不一致的「看似只差一个标量」，嵌入 N×N 后变成逐模相位注入且与邻门不对易——连全局相位都不是。&lt;/Text&gt;&#10;            &lt;/Box&gt;&#10;        &lt;/Box&gt;&#10;    &lt;/Box&gt;&#10;&#10;    &lt;Box style={{ flexDirection: 'row', alignItems: 'center', justifyContent: 'space-between', borderTop: '1px solid rgba(159,179,204,0.25)', paddingTop: 14 }}&gt;&#10;        &lt;Text style={{ fontSize: 16, color: '#9FB3CC' }}&gt;LDA · 光量子计算芯片（量子征程「吃狗粮」）&lt;/Text&gt;&#10;        &lt;Text style={{ fontSize: 16, color: '#9FB3CC', fontFamily: 'Consolas' }}&gt;04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85800" y="7429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666750"/>
            <a:ext cx="5715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四条硬结论（均来自实测与反证）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85800" y="1562100"/>
            <a:ext cx="5305425" cy="1962150"/>
          </a:xfrm>
          <a:prstGeom prst="roundRect">
            <a:avLst>
              <a:gd name="adj" fmla="val 582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76300" y="1752600"/>
            <a:ext cx="4924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2219325"/>
            <a:ext cx="492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紧界可达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76300" y="2552700"/>
            <a:ext cx="49244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通用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N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模酉的相邻耦合紧下界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= N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，矩形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Clements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网格深度恰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= N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（每层真匹配），且元件数不增。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200775" y="1562100"/>
            <a:ext cx="5305425" cy="1962150"/>
          </a:xfrm>
          <a:prstGeom prst="roundRect">
            <a:avLst>
              <a:gd name="adj" fmla="val 582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391275" y="1752600"/>
            <a:ext cx="4924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391275" y="2219325"/>
            <a:ext cx="492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参数计数会骗人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91275" y="2552700"/>
            <a:ext cx="49244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「可及参数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≈ ⌊N/2⌋·D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」只是上界；实测可达维数显示全最大匹配序列恒为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2N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，最优浅电路是交替砖墙。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85800" y="3733800"/>
            <a:ext cx="5305425" cy="1962150"/>
          </a:xfrm>
          <a:prstGeom prst="roundRect">
            <a:avLst>
              <a:gd name="adj" fmla="val 582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76300" y="3924300"/>
            <a:ext cx="4924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6300" y="4391025"/>
            <a:ext cx="492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通用与省损不可兼得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76300" y="4724400"/>
            <a:ext cx="49244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损耗墙的本质是深度墙（下界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Ω(N)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）；时间复用把元件降到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1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片但更费损，只有放弃通用性的浅电路才越墙。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200775" y="3733800"/>
            <a:ext cx="5305425" cy="1962150"/>
          </a:xfrm>
          <a:prstGeom prst="roundRect">
            <a:avLst>
              <a:gd name="adj" fmla="val 582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391275" y="3924300"/>
            <a:ext cx="4924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91275" y="4391025"/>
            <a:ext cx="492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7"/>
                </a:solidFill>
                <a:latin typeface="Microsoft YaHei"/>
                <a:ea typeface="Microsoft YaHei"/>
              </a:rPr>
              <a:t>约定须精确到块级恒等式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91275" y="4724400"/>
            <a:ext cx="49244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相位臂不一致的「看似只差一个标量」，嵌入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N×N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后变成逐模相位注入且与邻门不对易——连全局相位都不是。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85800" y="5991225"/>
            <a:ext cx="10820400" cy="342900"/>
          </a:xfrm>
          <a:custGeom>
            <a:pathLst>
              <a:path w="1136" h="36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光量子计算芯片（量子征程「吃狗粮」）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915650" y="61341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width: 1280, height: 720, background: '#0A1120', padding: '56px 72px', flexDirection: 'column', justifyContent: 'space-between' }}&gt;&#10;    &lt;Box style={{ flexDirection: 'row', alignItems: 'center', gap: 14, height: 76 }}&gt;&#10;        &lt;Box style={{ width: 6, height: 32, background: '#2563EB', borderRadius: 3 }} /&gt;&#10;        &lt;Text style={{ fontSize: 40, fontWeight: 'bold', color: '#E8EEF7' }}&gt;可信度来自哪里 · 与诚实边界&lt;/Text&gt;&#10;    &lt;/Box&gt;&#10;&#10;    &lt;Box style={{ flexDirection: 'column', gap: 20, flex: 1, justifyContent: 'center' }}&gt;&#10;        &lt;Box style={{ flexDirection: 'row', gap: 20, height: 132 }}&gt;&#10;            &lt;Box style={{ flex: 1, background: 'rgba(255,255,255,0.05)', borderRadius: 12, padding: 18, flexDirection: 'column', gap: 7 }}&gt;&#10;                &lt;Text style={{ fontSize: 19, fontWeight: 'bold', color: '#2563EB' }}&gt;判决不靠模型&lt;/Text&gt;&#10;                &lt;Text style={{ fontSize: 16, color: '#9FB3CC', lineHeight: 1.6 }}&gt;是否通过由死标量比对（闭式物理律 vs 数值）给出，LLM 不进判决路径。&lt;/Text&gt;&#10;            &lt;/Box&gt;&#10;            &lt;Box style={{ flex: 1, background: 'rgba(255,255,255,0.05)', borderRadius: 12, padding: 18, flexDirection: 'column', gap: 7 }}&gt;&#10;                &lt;Text style={{ fontSize: 19, fontWeight: 'bold', color: '#2563EB' }}&gt;外部真值分层&lt;/Text&gt;&#10;                &lt;Text style={{ fontSize: 16, color: '#9FB3CC', lineHeight: 1.6 }}&gt;仿真 / 计算值永不作基准；与 Borealis 只比规模与架构，不比数值。&lt;/Text&gt;&#10;            &lt;/Box&gt;&#10;            &lt;Box style={{ flex: 1, background: 'rgba(255,255,255,0.05)', borderRadius: 12, padding: 18, flexDirection: 'column', gap: 7 }}&gt;&#10;                &lt;Text style={{ fontSize: 19, fontWeight: 'bold', color: '#2563EB' }}&gt;机器可判护栏&lt;/Text&gt;&#10;                &lt;Text style={{ fontSize: 16, color: '#9FB3CC', lineHeight: 1.6 }}&gt;每个能力配常驻门禁 + 突变探针（探针证明断言真会变红）。&lt;/Text&gt;&#10;            &lt;/Box&gt;&#10;        &lt;/Box&gt;&#10;&#10;        &lt;Box style={{ background: 'rgba(37,99,235,0.10)', borderRadius: 12, padding: '18px 22px', flexDirection: 'column', gap: 8 }}&gt;&#10;            &lt;Text style={{ fontSize: 19, fontWeight: 'bold', color: '#E8EEF7' }}&gt;诚实边界（随本页同步，不可省略）&lt;/Text&gt;&#10;            &lt;Text style={{ fontSize: 16, color: '#9FB3CC', lineHeight: 1.7 }}&gt;① 设计 + 数值正确性证明，&lt;Text style={{ fontWeight: 'bold', color: '#E8EEF7' }}&gt;非流片后实测&lt;/Text&gt;；② 损耗 / 效率为设计预算口径，非实测 PDK；③ 与 Borealis 只比规模 / 架构 / 参数计数，不比数值；④ 综合对标分为平台自定义量，非国际公认指标；⑤ 最优性证据限 N ≤ 8 / D ≤ 6 搜索空间；⑥ 每模口径不含波导交叉损耗，属&lt;Text style={{ fontWeight: 'bold', color: '#E8EEF7' }}&gt;下界&lt;/Text&gt;。&lt;/Text&gt;&#10;        &lt;/Box&gt;&#10;&#10;        &lt;Text style={{ fontSize: 17, color: '#9FB3CC', lineHeight: 1.7 }}&gt;纯 numpy，零量子 SDK，零 GPU，秒级可复现：&lt;Text style={{ fontWeight: 'bold', color: '#E8EEF7' }}&gt;python examples/lda_qchip_m5.py&lt;/Text&gt;。&lt;/Text&gt;&#10;    &lt;/Box&gt;&#10;&#10;    &lt;Box style={{ flexDirection: 'column', gap: 8, borderTop: '1px solid rgba(159,179,204,0.25)', paddingTop: 14 }}&gt;&#10;        &lt;Box style={{ flexDirection: 'row', alignItems: 'center', justifyContent: 'space-between' }}&gt;&#10;            &lt;Text style={{ fontSize: 16, color: '#9FB3CC' }}&gt;LDA · 开源 Agent 原生光子 / 量子芯片设计软件（MIT）· 杜玉河 / 工业5点0产业生态联盟&lt;/Text&gt;&#10;            &lt;Text style={{ fontSize: 16, color: '#9FB3CC', fontFamily: 'Consolas' }}&gt;05 / 0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85800" y="7429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76300" y="666750"/>
            <a:ext cx="49720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可信度来自哪里</a:t>
            </a:r>
            <a:r>
              <a:rPr lang="en-US" sz="3000" b="1">
                <a:solidFill>
                  <a:srgbClr val="E8EEF7"/>
                </a:solidFill>
                <a:latin typeface="Microsoft YaHei"/>
                <a:ea typeface="Microsoft YaHei"/>
              </a:rPr>
              <a:t> · </a:t>
            </a:r>
            <a:r>
              <a:rPr lang="zh-CN" sz="3000" b="1">
                <a:solidFill>
                  <a:srgbClr val="E8EEF7"/>
                </a:solidFill>
                <a:latin typeface="Microsoft YaHei"/>
                <a:ea typeface="Microsoft YaHei"/>
              </a:rPr>
              <a:t>与诚实边界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2009775"/>
            <a:ext cx="3476625" cy="1257300"/>
          </a:xfrm>
          <a:prstGeom prst="roundRect">
            <a:avLst>
              <a:gd name="adj" fmla="val 90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57250" y="2181225"/>
            <a:ext cx="3133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判决不靠模型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57250" y="2466975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是否通过由死标量比对（闭式物理律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vs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数值）给出，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LLM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不进判决路径。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352925" y="2009775"/>
            <a:ext cx="3486150" cy="1257300"/>
          </a:xfrm>
          <a:prstGeom prst="roundRect">
            <a:avLst>
              <a:gd name="adj" fmla="val 90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524375" y="218122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外部真值分层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524375" y="2466975"/>
            <a:ext cx="3143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仿真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计算值永不作基准；与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Borealis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只比规模与架构，不比数值。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029575" y="2009775"/>
            <a:ext cx="3476625" cy="1257300"/>
          </a:xfrm>
          <a:prstGeom prst="roundRect">
            <a:avLst>
              <a:gd name="adj" fmla="val 90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01025" y="2181225"/>
            <a:ext cx="3133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机器可判护栏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01025" y="2466975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每个能力配常驻门禁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突变探针（探针证明断言真会变红）。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5800" y="3457575"/>
            <a:ext cx="10820400" cy="1266825"/>
          </a:xfrm>
          <a:prstGeom prst="roundRect">
            <a:avLst>
              <a:gd name="adj" fmla="val 902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95350" y="3629025"/>
            <a:ext cx="10401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诚实边界（随本页同步，不可省略）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95350" y="3924300"/>
            <a:ext cx="1040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设计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数值正确性证明，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非流片后实测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；②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损耗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效率为设计预算口径，非实测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PDK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；③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Borealis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只比规模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参数计数，不比数值；④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综合对标分为平台自定义量，非国际公认指标；⑤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最优性证据限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N ≤ 8 / D ≤ 6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搜索空间；⑥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每模口径不含波导交叉损耗，属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下界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5800" y="49149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纯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numpy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，零量子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SDK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，零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GPU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，秒级可复现：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python examples/lda_qchip_m5.py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85800" y="5991225"/>
            <a:ext cx="10820400" cy="342900"/>
          </a:xfrm>
          <a:custGeom>
            <a:pathLst>
              <a:path w="1136" h="36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6086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开源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Agent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原生光子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量子芯片设计软件（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MIT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杜玉河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工业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5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点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0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产业生态联盟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915650" y="61341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2026-09-29T15:17:35Z</dcterms:created>
  <dcterms:modified xsi:type="dcterms:W3CDTF">2026-09-29T15:17:35Z</dcterms:modified>
</cp:coreProperties>
</file>