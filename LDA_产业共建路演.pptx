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48272"/>
            <a:ext cx="1216152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914400"/>
            <a:ext cx="1828800" cy="1828800"/>
          </a:xfrm>
          <a:prstGeom prst="ellipse">
            <a:avLst/>
          </a:prstGeom>
          <a:solidFill>
            <a:srgbClr val="1B2C4F"/>
          </a:solidFill>
          <a:ln w="19050">
            <a:solidFill>
              <a:srgbClr val="2E75B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146304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LDA 产业共建路演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41248" y="2926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 · 自主可控 · Agent 原生的光芯片与量子芯片设计底座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41248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用 AI 智能体直接编写、并验证底层求解内核 —— 已经被跑通，不是设想。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41248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面向产业界 · 学界 · 投资界   |   工业5点0产业生态联盟 · 杜玉河   |   2026-08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为什么是现在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产业在爆发，工具在断供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6974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光子产业被 AI 拉动高速增长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4114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800G/1.6T 光互联推动硅光器件 2025 增速 37%+；光子 EDA 软件约 13 亿美元、CAGR ~12%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0060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6974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美系 EDA 对华断供风险持续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754880" y="4114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Synopsys 完成收购 Ansys，光子仿真旗舰 Lumerical 归入其体系，垄断在加深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32104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4108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26974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747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量子芯片进入国产窗口期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95360" y="41148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国产与海外在 QEDA 上无明显代差，自主可控战略意义极强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结论：被“卡”的设计工具 + 高增长的需求 = 一个必须被填补的真空。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结构性机会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巨头不会做的，才是我们的生态位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巨头（Synopsys / Cadence）的收入根基是可信商业求解器的授权费。一旦由 AI 长出“开放、可验证、免费”的内核，等于击穿自己的收费地基 —— 所以它们只会把 AI 做成商业工具里的“辅助层”，永远不会做开放内核。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巨头商业工具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锁死封闭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利益冲突，不做开放内核</a:t>
            </a:r>
            <a:endParaRPr lang="en-US" sz="13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4251960"/>
            <a:ext cx="292608" cy="2926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89120" y="338328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gdsfactory 等开源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61772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布局层已成熟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我们站在肩上</a:t>
            </a:r>
            <a:endParaRPr lang="en-US" sz="13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688" y="4251960"/>
            <a:ext cx="292608" cy="29260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138160" y="338328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36676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LDA 真空格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8366760" y="4206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跨光子+量子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开放标准 + AI 造核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我们是什么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三大支柱：标准 + 协议 + AI 造核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94560"/>
            <a:ext cx="352044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251460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715768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834640" y="251460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914400" y="35204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统一中间表示 IR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1440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同一套机器语言，表达光子与量子器件设计意图；巨头没认真做、gdsfactory 没占的真空格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480560" y="21945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2194560"/>
            <a:ext cx="352044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14" name="Shape 11"/>
          <p:cNvSpPr/>
          <p:nvPr/>
        </p:nvSpPr>
        <p:spPr>
          <a:xfrm>
            <a:off x="4800600" y="251460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2715768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675120" y="251460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3200" dirty="0"/>
          </a:p>
        </p:txBody>
      </p:sp>
      <p:sp>
        <p:nvSpPr>
          <p:cNvPr id="17" name="Text 13"/>
          <p:cNvSpPr/>
          <p:nvPr/>
        </p:nvSpPr>
        <p:spPr>
          <a:xfrm>
            <a:off x="4754880" y="35204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智能体协议层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475488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Interpreter / Designer / Layout / Solver / Verifier 开放接口，让 AI 智能体确定性、可验证协作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321040" y="2194560"/>
            <a:ext cx="3520440" cy="3200400"/>
          </a:xfrm>
          <a:prstGeom prst="roundRect">
            <a:avLst>
              <a:gd name="adj" fmla="val 228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194560"/>
            <a:ext cx="3520440" cy="10972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21" name="Shape 17"/>
          <p:cNvSpPr/>
          <p:nvPr/>
        </p:nvSpPr>
        <p:spPr>
          <a:xfrm>
            <a:off x="8641080" y="251460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2248" y="2715768"/>
            <a:ext cx="420624" cy="4206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515600" y="251460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3200" dirty="0"/>
          </a:p>
        </p:txBody>
      </p:sp>
      <p:sp>
        <p:nvSpPr>
          <p:cNvPr id="24" name="Text 19"/>
          <p:cNvSpPr/>
          <p:nvPr/>
        </p:nvSpPr>
        <p:spPr>
          <a:xfrm>
            <a:off x="8595360" y="352044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自举求解核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859536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写手 +（物理定律 + 大数据）裁判闭环，长出可验证求解器 —— 这一步我们已经跑通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已被验证的事实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已自己写出 1D / 2D / 3D 电磁求解器，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在“物理定律”真值锚上，逐题 5/5 通过。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5/5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透射谱验证通过（解析解锚）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5/5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65760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透射谱验证通过（双 ORACLE）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5/5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49224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透射谱验证通过（双 ORACLE）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0" y="3017520"/>
            <a:ext cx="2670048" cy="2011680"/>
          </a:xfrm>
          <a:prstGeom prst="roundRect">
            <a:avLst>
              <a:gd name="adj" fmla="val 3636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0" y="3246120"/>
            <a:ext cx="2670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9326880" y="434340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商业/美系求解器依赖（已自立）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5303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/ 2D / 3D 全维度透射谱，均已无需借任何商业求解器即得 —— 这是“自主可控求解内核”第一个可运行、可复核的实证。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证据链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 1D 到 3D：AI 自写求解核的验证台账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840480"/>
                <a:gridCol w="393192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交付物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验证方式（非 AI 真值锚）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fdtd1d.py（零依赖，AI 自写）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传输矩阵解析解 tmm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 4/4 PASS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fdtd2d.py（TEz Yee 网格）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解析解退化极限 + 点源柱面波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 5/5 PASS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fdtd3d.py（全 Yee 六分量）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解析解退化极限 + 点源球面波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 5/5 PASS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性能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Numba-CPU JIT / PyTorch 后端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逐字节 / 逐位等价对照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~20× 加速 · GPU 一行激活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3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验证底线：裁判最终判定强制落“物理定律 + 实证大数据”非 AI 真值锚 —— 纯 AI 互证（两 AI 互相点头）视为无效。这是 LDA 赢得信任的根本。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护城河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护城河 = 标准 + 生态 + PDK，而非某段代码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74520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7452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L4 应用与生态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77840" y="187452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用户层 / 开源社区 / 认证商业版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734056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734056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734056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L3 求解器后端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577840" y="2734056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FDTD / FEM / EME / 量子哈密顿 ← AI 自举生成 / 插件调度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593592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93592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593592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 开放 PDK / 器件本体 Registry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577840" y="3593592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社区 + 晶圆厂共建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453128"/>
            <a:ext cx="10881360" cy="749808"/>
          </a:xfrm>
          <a:prstGeom prst="rect">
            <a:avLst/>
          </a:prstGeom>
          <a:solidFill>
            <a:srgbClr val="1B2C4F"/>
          </a:solidFill>
          <a:ln w="12700">
            <a:solidFill>
              <a:srgbClr val="1B2C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453128"/>
            <a:ext cx="128016" cy="7498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4531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智能体协议层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577840" y="4453128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Interpreter / Designer / Layout / Solver / Verifier 开放接口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5312664"/>
            <a:ext cx="10881360" cy="749808"/>
          </a:xfrm>
          <a:prstGeom prst="rect">
            <a:avLst/>
          </a:prstGeom>
          <a:solidFill>
            <a:srgbClr val="2E75B6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312664"/>
            <a:ext cx="128016" cy="749808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5312664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 开放统一 IR / DSL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577840" y="5312664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光子 + 量子统一中间表示（核心创新）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自主可控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主权三级：第一天就掌握命门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514600"/>
            <a:ext cx="777240" cy="77724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6974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474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级 · 永久自主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40233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IR / L1 协议 / L3 AI 求解核 / 物理定律锚 —— 第一天自己掌握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2514600"/>
            <a:ext cx="777240" cy="777240"/>
          </a:xfrm>
          <a:prstGeom prst="ellipse">
            <a:avLst/>
          </a:prstGeom>
          <a:solidFill>
            <a:srgbClr val="22B8C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6974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3474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级 · 主权化复用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754880" y="40233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gdsfactory / Meep / KLayout / SAX 等开源组件：fork + 镜像冷备，离线可构建、断供不崩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321040" y="219456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95360" y="2514600"/>
            <a:ext cx="777240" cy="777240"/>
          </a:xfrm>
          <a:prstGeom prst="ellipse">
            <a:avLst/>
          </a:prstGeom>
          <a:solidFill>
            <a:srgbClr val="13203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974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74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级 · 绝不依赖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595360" y="40233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美系商业求解器（Lumerical / Ansys / Synopsys / Cadence）直接不采用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13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GPL 红线：GPL 组件仅作外部进程调用，绝不污染核心代码的许可。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生态共建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双引擎：学生 + 退休专家 = 开源人力核心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94560"/>
            <a:ext cx="128016" cy="3291840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560320"/>
            <a:ext cx="914400" cy="91440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7889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03120" y="2606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学生引擎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2103120" y="31089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开源贡献生力军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74904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光电 / 微电子 / 量子 / 计算方向硕博与本科生。把“自然语言 → GDSII”做成毕设 / 科研课题 / 竞赛题 —— 契合刚需。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355080" y="219456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55080" y="2194560"/>
            <a:ext cx="128016" cy="3291840"/>
          </a:xfrm>
          <a:prstGeom prst="rect">
            <a:avLst/>
          </a:prstGeom>
          <a:solidFill>
            <a:srgbClr val="22B8CF"/>
          </a:solidFill>
          <a:ln/>
        </p:spPr>
      </p:sp>
      <p:sp>
        <p:nvSpPr>
          <p:cNvPr id="14" name="Shape 11"/>
          <p:cNvSpPr/>
          <p:nvPr/>
        </p:nvSpPr>
        <p:spPr>
          <a:xfrm>
            <a:off x="6720840" y="2560320"/>
            <a:ext cx="914400" cy="91440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78892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818120" y="26060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退休专家引擎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7818120" y="31089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顾问 / 导师 / 质量背书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720840" y="374904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老炮、光电半导体退休研究员、高校退休博导。有资源、有情怀、有时间，退休再发挥余热，把关基准、为内核背书。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资源地图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四大对接集群：覆盖光子与量子最强节点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945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945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武汉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武汉光电国家研究中心 / NOEIC / 华科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5661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硅光 PDK + 学生密度全国最高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74720" y="21945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21945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21945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重庆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0" y="28346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CUMEC（开放硅光工艺平台）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0" y="35661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 PDK 对接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7947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947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上海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" y="44348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SITRI / 图灵量子 / 芯和 / 华大九天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1663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PDK + 光量子 + EDA 老炮三重富集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474720" y="3794760"/>
            <a:ext cx="267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74720" y="3794760"/>
            <a:ext cx="2670048" cy="5486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0" y="3794760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合肥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657600" y="443484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中科大 / 本源 / 国盾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0" y="51663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量子最强院校 + 量子企业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资源诉求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把“可用的内核”变成“产业可用的生态”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31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算力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645920" y="2578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自配 GPU 部署机 → 点亮 3D GPU 求解核、攻生产级超大网格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8056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219456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3317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实测语料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486400" y="2578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真实流片 / 测量数据 → 建“实证大数据锚”，让 AI 裁判可信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321040" y="192024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49640" y="219456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3317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326880" y="21488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顾问与背书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9326880" y="2578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退休 EDA 老炮 / 光电·量子退休研究员入库把关基准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68680" y="384048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97764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4592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院校合作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1645920" y="422452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毕设 / 竞赛 / 课题联合设立 → 学生引擎冷启动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48056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709160" y="384048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397764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48640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晶圆厂 PDK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5486400" y="422452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本土硅光 PDK 对接 → 打通“设计→签核→流片”闭环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8321040" y="356616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549640" y="3840480"/>
            <a:ext cx="640080" cy="64008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3977640"/>
            <a:ext cx="365760" cy="36576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326880" y="3794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资金 / 商业合作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9326880" y="422452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认证版研发 / 垂直场景落地 / 赛事运营 → 阶段3 试点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我们能给出什么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共建者回报：先发卡位 + 自主可控底座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6362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6504" y="27889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定义标准的先发卡位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开放标准的共同制定权——规则由共建者一起写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7472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9826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144" y="27889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5760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可信验证基建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70332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公开对抗性基准 + 反向悬赏，共建行业信任，对冲美系断供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30936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23290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784" y="278892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9224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自主可控底座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3796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对美系断供风险的结构性对冲，对国产替代的直接支撑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9144000" y="22860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0067544" y="2606040"/>
            <a:ext cx="822960" cy="822960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0424" y="278892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26880" y="361188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成果共享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372600" y="416052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开源内核免费使用；认证版提供 SLA 与责任兜底（红帽模式）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路线图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五年四阶段：从内核跑通到标准话语权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2B8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战略奠基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已完成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0632" y="3383280"/>
            <a:ext cx="274320" cy="274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98648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2E75B6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98648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2898648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技术验证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898648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🔶 进行中</a:t>
            </a:r>
            <a:endParaRPr lang="en-US" sz="13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383280"/>
            <a:ext cx="274320" cy="2743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57216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5157216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FB0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3"/>
          <p:cNvSpPr/>
          <p:nvPr/>
        </p:nvSpPr>
        <p:spPr>
          <a:xfrm>
            <a:off x="5157216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生态启动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5157216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开源首发</a:t>
            </a:r>
            <a:endParaRPr lang="en-US" sz="13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768" y="3383280"/>
            <a:ext cx="274320" cy="27432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15784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7415784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FB0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17"/>
          <p:cNvSpPr/>
          <p:nvPr/>
        </p:nvSpPr>
        <p:spPr>
          <a:xfrm>
            <a:off x="7415784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商业试点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7415784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认证版+PDK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3383280"/>
            <a:ext cx="274320" cy="2743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74352" y="2377440"/>
            <a:ext cx="2121408" cy="2377440"/>
          </a:xfrm>
          <a:prstGeom prst="roundRect">
            <a:avLst>
              <a:gd name="adj" fmla="val 3448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9674352" y="25603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FB0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7" name="Text 21"/>
          <p:cNvSpPr/>
          <p:nvPr/>
        </p:nvSpPr>
        <p:spPr>
          <a:xfrm>
            <a:off x="9674352" y="34290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规模扩张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9674352" y="39319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标准话语权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已固化决策：光子优先、量子后上；先单点垂直场景、后统一。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64592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54864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诚实的边界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我们把风险摊在桌面上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42316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5603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3317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验证底线不可破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737360" y="283464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裁判最终判定强制落物理定律 + 大数据锚 —— 这是信任来源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21945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29400" y="242316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5603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33172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主权红线清晰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452360" y="283464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级永借、B 级主权化、C 级自主；GPL 组件仅外部调用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411480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4400" y="434340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48056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37360" y="4251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窗口竞速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73736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每阶段末交付可公开锁定的资产（标准 / 基准 / PDK 意向），用先发筑墙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355080" y="411480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0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29400" y="4343400"/>
            <a:ext cx="640080" cy="640080"/>
          </a:xfrm>
          <a:prstGeom prst="ellipse">
            <a:avLst/>
          </a:prstGeom>
          <a:solidFill>
            <a:srgbClr val="EAF2FB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48056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52360" y="4251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32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诚实标注性能边界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452360" y="47548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主权核以 float64 运行，消费级 GPU 加速比可能不及数据中心卡 —— 如实标注，绝不夸大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· 开源 / 自主可控 / Agent 原生 光·量子芯片设计底座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22B8C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如何参与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822960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741932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668" y="3108960"/>
            <a:ext cx="420624" cy="4206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院校 / 学生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005840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认领一个 Good First Issue，把光子 / 量子设计自动化做成课题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593592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12564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0" y="3108960"/>
            <a:ext cx="420624" cy="42062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30752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退休专家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3776472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加入顾问委员会，把关基准、为自主内核背书 —— 退休再发挥一次余热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364224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283196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932" y="3108960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01384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晶圆厂 / 器件企业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6547104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 PDK 或实测语料，共建“实证大数据锚”，锁定生态位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9134856" y="26517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C4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0053828" y="2926080"/>
            <a:ext cx="768096" cy="76809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64" y="3108960"/>
            <a:ext cx="420624" cy="4206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272016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投资 / 产业方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9317736" y="43434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联合点亮 GPU 算力与垂直场景，共享定义标准与自主可控的红利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B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联系：工业5点0产业生态联盟 · 杜玉河（微信号：gongyhlw）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LDA 产业共建路演</dc:title>
  <dc:subject>PptxGenJS Presentation</dc:subject>
  <dc:creator>LDA 领域研究室</dc:creator>
  <cp:lastModifiedBy>LDA 领域研究室</cp:lastModifiedBy>
  <cp:revision>1</cp:revision>
  <dcterms:created xsi:type="dcterms:W3CDTF">2026-08-15T22:21:54Z</dcterms:created>
  <dcterms:modified xsi:type="dcterms:W3CDTF">2026-08-15T22:21:54Z</dcterms:modified>
</cp:coreProperties>
</file>