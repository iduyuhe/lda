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7" Type="http://schemas.openxmlformats.org/officeDocument/2006/relationships/slide" Target="slides/slide7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notesMaster" Target="notesMasters/notesMaster1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9" Type="http://schemas.openxmlformats.org/officeDocument/2006/relationships/slide" Target="slides/slide9.xml" /><Relationship Id="rId12" Type="http://schemas.openxmlformats.org/officeDocument/2006/relationships/slide" Target="slides/slide12.xml" 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1280, height: 720, padding: '72px 72px 56px 72px', background: '#061F32', fontFamily: 'Arial, &quot;PingFang SC&quot;, &quot;Microsoft YaHei&quot;, &quot;Noto Sans SC&quot;, sans-serif', flexDirection: 'column', justifyContent: 'space-between' }}&gt;&#10;  &lt;Box style={{ flexDirection: 'row', alignItems: 'center', gap: 14 }}&gt;&#10;    &lt;svg width={30} height={30} viewBox='0 0 28 28'&gt;&#10;      &lt;rect x='0' y='0' width='12' height='12' fill='#08A6F6' /&gt;&#10;      &lt;rect x='16' y='0' width='12' height='12' fill='#99BDED' /&gt;&#10;      &lt;rect x='0' y='16' width='12' height='12' fill='#99BDED' /&gt;&#10;      &lt;rect x='16' y='16' width='12' height='12' fill='#08A6F6' /&gt;&#10;    &lt;/svg&gt;&#10;    &lt;Text style={{ fontSize: 18, color: '#99BDED', letterSpacing: 2, fontWeight: 'bold' }}&gt;LDA · 开源 Agent-native EDA（MIT）· 量子芯片征程&lt;/Text&gt;&#10;  &lt;/Box&gt;&#10;&#10;  &lt;Box style={{ flexDirection: 'column', gap: 24 }}&gt;&#10;    &lt;Text style={{ fontSize: 78, fontWeight: 'bold', color: '#FFFFFF', lineHeight: 1.12 }}&gt;超导量子计算芯片&lt;br /&gt;LDA-S&lt;/Text&gt;&#10;    &lt;Box style={{ width: 132, height: 5, background: '#08A6F6' }} /&gt;&#10;    &lt;Text style={{ fontSize: 26, color: '#E7E6E6', lineHeight: 1.5 }}&gt;transmon 微波 QEDA · 从单比特单元到 1024 比特阵列版图（32×32）&lt;br /&gt;P&amp;amp;R 与全链路签核闭环 · 平台自写 GDSII 编码器直出&lt;/Text&gt;&#10;  &lt;/Box&gt;&#10;&#10;  &lt;Box style={{ flexDirection: 'column', gap: 14 }}&gt;&#10;    &lt;Text style={{ fontSize: 21, color: '#99BDED', lineHeight: 1.5 }}&gt;这不是一次器件仿真，而是一次「平台能不能真的画出一颗芯片」的体检——用 LDA 亲手设计，吃自己的狗粮。&lt;/Text&gt;&#10;    &lt;Box style={{ height: 1, background: '#44546A' }} /&gt;&#10;    &lt;Box style={{ flexDirection: 'row', justifyContent: 'space-between', alignItems: 'center' }}&gt;&#10;      &lt;Text style={{ fontSize: 17, color: '#808080' }}&gt;LDA 工程团队 · 2026-09-30 · 平台版本 0.9.145&lt;/Text&gt;&#10;      &lt;Text style={{ fontSize: 17, color: '#808080' }}&gt;口径：设计期签核 · 非流片后实测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85800"/>
            <a:ext cx="285750" cy="285750"/>
          </a:xfrm>
          <a:prstGeom prst="rect">
            <a:avLst/>
          </a:prstGeom>
          <a:ln/>
        </p:spPr>
      </p:pic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104900" y="723900"/>
            <a:ext cx="483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99BDED"/>
                </a:solidFill>
                <a:latin typeface="Arial"/>
                <a:ea typeface="Arial"/>
              </a:rPr>
              <a:t xml:space="preserve">LDA · </a:t>
            </a:r>
            <a:r>
              <a:rPr lang="zh-CN" sz="1350" b="1" spc="150">
                <a:solidFill>
                  <a:srgbClr val="99BDED"/>
                </a:solidFill>
                <a:latin typeface="Arial"/>
                <a:ea typeface="Arial"/>
              </a:rPr>
              <a:t>开源</a:t>
            </a:r>
            <a:r>
              <a:rPr lang="en-US" sz="1350" b="1" spc="150">
                <a:solidFill>
                  <a:srgbClr val="99BDED"/>
                </a:solidFill>
                <a:latin typeface="Arial"/>
                <a:ea typeface="Arial"/>
              </a:rPr>
              <a:t xml:space="preserve"> Agent-native EDA</a:t>
            </a:r>
            <a:r>
              <a:rPr lang="zh-CN" sz="1350" b="1" spc="150">
                <a:solidFill>
                  <a:srgbClr val="99BDED"/>
                </a:solidFill>
                <a:latin typeface="Arial"/>
                <a:ea typeface="Arial"/>
              </a:rPr>
              <a:t>（</a:t>
            </a:r>
            <a:r>
              <a:rPr lang="en-US" sz="1350" b="1" spc="150">
                <a:solidFill>
                  <a:srgbClr val="99BDED"/>
                </a:solidFill>
                <a:latin typeface="Arial"/>
                <a:ea typeface="Arial"/>
              </a:rPr>
              <a:t>MIT</a:t>
            </a:r>
            <a:r>
              <a:rPr lang="zh-CN" sz="1350" b="1" spc="150">
                <a:solidFill>
                  <a:srgbClr val="99BDED"/>
                </a:solidFill>
                <a:latin typeface="Arial"/>
                <a:ea typeface="Arial"/>
              </a:rPr>
              <a:t>）·</a:t>
            </a:r>
            <a:r>
              <a:rPr lang="en-US" sz="1350" b="1" spc="150">
                <a:solidFill>
                  <a:srgbClr val="99BDED"/>
                </a:solidFill>
                <a:latin typeface="Arial"/>
                <a:ea typeface="Arial"/>
              </a:rPr>
              <a:t xml:space="preserve"> </a:t>
            </a:r>
            <a:r>
              <a:rPr lang="zh-CN" sz="1350" b="1" spc="150">
                <a:solidFill>
                  <a:srgbClr val="99BDED"/>
                </a:solidFill>
                <a:latin typeface="Arial"/>
                <a:ea typeface="Arial"/>
              </a:rPr>
              <a:t>量子芯片征程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533525"/>
            <a:ext cx="10820400" cy="2000250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zh-CN" sz="5850" b="1">
                <a:solidFill>
                  <a:srgbClr val="FFFFFF"/>
                </a:solidFill>
                <a:latin typeface="Arial"/>
                <a:ea typeface="Arial"/>
              </a:rPr>
              <a:t>超导量子计算芯片</a:t>
            </a:r>
            <a:endParaRPr/>
          </a:p>
          <a:p>
            <a:pPr>
              <a:lnSpc>
                <a:spcPct val="112000"/>
              </a:lnSpc>
            </a:pPr>
            <a:r>
              <a:rPr lang="en-US" sz="5850" b="1">
                <a:solidFill>
                  <a:srgbClr val="FFFFFF"/>
                </a:solidFill>
                <a:latin typeface="Arial"/>
                <a:ea typeface="Arial"/>
              </a:rPr>
              <a:t>LDA-S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85800" y="3762375"/>
            <a:ext cx="1257300" cy="4762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4038600"/>
            <a:ext cx="108204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E7E6E6"/>
                </a:solidFill>
                <a:latin typeface="Arial"/>
                <a:ea typeface="Arial"/>
              </a:rPr>
              <a:t xml:space="preserve">transmon </a:t>
            </a:r>
            <a:r>
              <a:rPr lang="zh-CN" sz="1950">
                <a:solidFill>
                  <a:srgbClr val="E7E6E6"/>
                </a:solidFill>
                <a:latin typeface="Arial"/>
                <a:ea typeface="Arial"/>
              </a:rPr>
              <a:t>微波</a:t>
            </a:r>
            <a:r>
              <a:rPr lang="en-US" sz="1950">
                <a:solidFill>
                  <a:srgbClr val="E7E6E6"/>
                </a:solidFill>
                <a:latin typeface="Arial"/>
                <a:ea typeface="Arial"/>
              </a:rPr>
              <a:t xml:space="preserve"> QEDA · </a:t>
            </a:r>
            <a:r>
              <a:rPr lang="zh-CN" sz="1950">
                <a:solidFill>
                  <a:srgbClr val="E7E6E6"/>
                </a:solidFill>
                <a:latin typeface="Arial"/>
                <a:ea typeface="Arial"/>
              </a:rPr>
              <a:t>从单比特单元到</a:t>
            </a:r>
            <a:r>
              <a:rPr lang="en-US" sz="1950">
                <a:solidFill>
                  <a:srgbClr val="E7E6E6"/>
                </a:solidFill>
                <a:latin typeface="Arial"/>
                <a:ea typeface="Arial"/>
              </a:rPr>
              <a:t xml:space="preserve"> 1024 </a:t>
            </a:r>
            <a:r>
              <a:rPr lang="zh-CN" sz="1950">
                <a:solidFill>
                  <a:srgbClr val="E7E6E6"/>
                </a:solidFill>
                <a:latin typeface="Arial"/>
                <a:ea typeface="Arial"/>
              </a:rPr>
              <a:t>比特阵列版图（</a:t>
            </a:r>
            <a:r>
              <a:rPr lang="en-US" sz="1950">
                <a:solidFill>
                  <a:srgbClr val="E7E6E6"/>
                </a:solidFill>
                <a:latin typeface="Arial"/>
                <a:ea typeface="Arial"/>
              </a:rPr>
              <a:t>32×32</a:t>
            </a:r>
            <a:r>
              <a:rPr lang="zh-CN" sz="1950">
                <a:solidFill>
                  <a:srgbClr val="E7E6E6"/>
                </a:solidFill>
                <a:latin typeface="Arial"/>
                <a:ea typeface="Arial"/>
              </a:rPr>
              <a:t>）</a:t>
            </a:r>
            <a:endParaRPr/>
          </a:p>
          <a:p>
            <a:pPr>
              <a:lnSpc>
                <a:spcPct val="150000"/>
              </a:lnSpc>
            </a:pPr>
            <a:r>
              <a:rPr lang="en-US" sz="1950">
                <a:solidFill>
                  <a:srgbClr val="E7E6E6"/>
                </a:solidFill>
                <a:latin typeface="Arial"/>
                <a:ea typeface="Arial"/>
              </a:rPr>
              <a:t xml:space="preserve">P&amp;R </a:t>
            </a:r>
            <a:r>
              <a:rPr lang="zh-CN" sz="1950">
                <a:solidFill>
                  <a:srgbClr val="E7E6E6"/>
                </a:solidFill>
                <a:latin typeface="Arial"/>
                <a:ea typeface="Arial"/>
              </a:rPr>
              <a:t>与全链路签核闭环</a:t>
            </a:r>
            <a:r>
              <a:rPr lang="en-US" sz="1950">
                <a:solidFill>
                  <a:srgbClr val="E7E6E6"/>
                </a:solidFill>
                <a:latin typeface="Arial"/>
                <a:ea typeface="Arial"/>
              </a:rPr>
              <a:t xml:space="preserve"> · </a:t>
            </a:r>
            <a:r>
              <a:rPr lang="zh-CN" sz="1950">
                <a:solidFill>
                  <a:srgbClr val="E7E6E6"/>
                </a:solidFill>
                <a:latin typeface="Arial"/>
                <a:ea typeface="Arial"/>
              </a:rPr>
              <a:t>平台自写</a:t>
            </a:r>
            <a:r>
              <a:rPr lang="en-US" sz="1950">
                <a:solidFill>
                  <a:srgbClr val="E7E6E6"/>
                </a:solidFill>
                <a:latin typeface="Arial"/>
                <a:ea typeface="Arial"/>
              </a:rPr>
              <a:t xml:space="preserve"> GDSII </a:t>
            </a:r>
            <a:r>
              <a:rPr lang="zh-CN" sz="1950">
                <a:solidFill>
                  <a:srgbClr val="E7E6E6"/>
                </a:solidFill>
                <a:latin typeface="Arial"/>
                <a:ea typeface="Arial"/>
              </a:rPr>
              <a:t>编码器直出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5486400"/>
            <a:ext cx="108204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99BDED"/>
                </a:solidFill>
                <a:latin typeface="Arial"/>
                <a:ea typeface="Arial"/>
              </a:rPr>
              <a:t>这不是一次器件仿真，而是一次「平台能不能真的画出一颗芯片」的体检——用</a:t>
            </a:r>
            <a:r>
              <a:rPr lang="en-US" sz="1575">
                <a:solidFill>
                  <a:srgbClr val="99BDED"/>
                </a:solidFill>
                <a:latin typeface="Arial"/>
                <a:ea typeface="Arial"/>
              </a:rPr>
              <a:t xml:space="preserve"> LDA </a:t>
            </a:r>
            <a:r>
              <a:rPr lang="zh-CN" sz="1575">
                <a:solidFill>
                  <a:srgbClr val="99BDED"/>
                </a:solidFill>
                <a:latin typeface="Arial"/>
                <a:ea typeface="Arial"/>
              </a:rPr>
              <a:t>亲手设计，吃自己的狗粮。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" y="5981700"/>
            <a:ext cx="10820400" cy="952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6124575"/>
            <a:ext cx="3362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808080"/>
                </a:solidFill>
                <a:latin typeface="Arial"/>
                <a:ea typeface="Arial"/>
              </a:rPr>
              <a:t xml:space="preserve">LDA </a:t>
            </a:r>
            <a:r>
              <a:rPr lang="zh-CN" sz="1275">
                <a:solidFill>
                  <a:srgbClr val="808080"/>
                </a:solidFill>
                <a:latin typeface="Arial"/>
                <a:ea typeface="Arial"/>
              </a:rPr>
              <a:t>工程团队</a:t>
            </a:r>
            <a:r>
              <a:rPr lang="en-US" sz="1275">
                <a:solidFill>
                  <a:srgbClr val="808080"/>
                </a:solidFill>
                <a:latin typeface="Arial"/>
                <a:ea typeface="Arial"/>
              </a:rPr>
              <a:t xml:space="preserve"> · 2026-09-30 · </a:t>
            </a:r>
            <a:r>
              <a:rPr lang="zh-CN" sz="1275">
                <a:solidFill>
                  <a:srgbClr val="808080"/>
                </a:solidFill>
                <a:latin typeface="Arial"/>
                <a:ea typeface="Arial"/>
              </a:rPr>
              <a:t>平台版本</a:t>
            </a:r>
            <a:r>
              <a:rPr lang="en-US" sz="1275">
                <a:solidFill>
                  <a:srgbClr val="808080"/>
                </a:solidFill>
                <a:latin typeface="Arial"/>
                <a:ea typeface="Arial"/>
              </a:rPr>
              <a:t xml:space="preserve"> 0.9.145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086850" y="6124575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08080"/>
                </a:solidFill>
                <a:latin typeface="Arial"/>
                <a:ea typeface="Arial"/>
              </a:rPr>
              <a:t>口径：设计期签核</a:t>
            </a:r>
            <a:r>
              <a:rPr lang="en-US" sz="127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275">
                <a:solidFill>
                  <a:srgbClr val="808080"/>
                </a:solidFill>
                <a:latin typeface="Arial"/>
                <a:ea typeface="Arial"/>
              </a:rPr>
              <a:t>非流片后实测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4, fontWeight: 'bold', color: '#061F32', lineHeight: 1.15 }}&gt;目录&lt;/Text&gt;&#10;    &lt;Text style={{ fontSize: 15, color: '#808080', paddingTop: 10 }}&gt;CONTENTS · 全篇回答一个问题：同一条设计链路，换一种物理，是否还站得住&lt;/Text&gt;&#10;  &lt;/Box&gt;&#10;  &lt;Box style={{ height: 1, background: '#061F32', marginTop: 8 }} /&gt;&#10;&#10;  &lt;Box style={{ height: 537, marginTop: 12, flexDirection: 'row', alignItems: 'center', gap: 40 }}&gt;&#10;    &lt;Box style={{ flex: 1, flexDirection: 'column', gap: 18, paddingTop: 6 }}&gt;&#10;      &lt;Text style={{ fontSize: 96, fontWeight: 'bold', color: '#E7E6E6', lineHeight: 1 }}&gt;01&lt;/Text&gt;&#10;      &lt;Text style={{ fontSize: 28, fontWeight: 'bold', color: '#061F32' }}&gt;这颗芯片是什么&lt;/Text&gt;&#10;      &lt;Box style={{ width: 56, height: 4, background: '#08A6F6' }} /&gt;&#10;      &lt;Text style={{ fontSize: 19, color: '#44546A', lineHeight: 1.55 }}&gt;规格与构成：transmon 比特、可调耦合器、读出腔、三线控制、两种拓扑；八项硬指标同时成立，才叫「能画出一颗芯片」。&lt;/Text&gt;&#10;    &lt;/Box&gt;&#10;&#10;    &lt;Box style={{ width: 1, height: 260, background: '#E7E6E6' }} /&gt;&#10;&#10;    &lt;Box style={{ flex: 1, flexDirection: 'column', gap: 18, paddingTop: 6 }}&gt;&#10;      &lt;Text style={{ fontSize: 96, fontWeight: 'bold', color: '#E7E6E6', lineHeight: 1 }}&gt;02&lt;/Text&gt;&#10;      &lt;Text style={{ fontSize: 28, fontWeight: 'bold', color: '#061F32' }}&gt;技术结果与先进性&lt;/Text&gt;&#10;      &lt;Box style={{ width: 56, height: 4, background: '#08A6F6' }} /&gt;&#10;      &lt;Text style={{ fontSize: 19, color: '#44546A', lineHeight: 1.55 }}&gt;物理内核两条独立路径互验（0.42% / 4.60%）；六道签核工序各有拒绝条件；与产业界不同台比比特数，比可验证的设计链路。&lt;/Text&gt;&#10;    &lt;/Box&gt;&#10;&#10;    &lt;Box style={{ width: 1, height: 260, background: '#E7E6E6' }} /&gt;&#10;&#10;    &lt;Box style={{ flex: 1, flexDirection: 'column', gap: 18, paddingTop: 6 }}&gt;&#10;      &lt;Text style={{ fontSize: 96, fontWeight: 'bold', color: '#E7E6E6', lineHeight: 1 }}&gt;03&lt;/Text&gt;&#10;      &lt;Text style={{ fontSize: 28, fontWeight: 'bold', color: '#061F32' }}&gt;案例化与合作路径&lt;/Text&gt;&#10;      &lt;Box style={{ width: 56, height: 4, background: '#08A6F6' }} /&gt;&#10;      &lt;Text style={{ fontSize: 19, color: '#44546A', lineHeight: 1.55 }}&gt;版图可下载可复核；案例卡已接线，三条路径都能在 30 秒内自己验一遍；六条边界写清楚，合作才谈得实。&lt;/Text&gt;&#10;    &lt;/Box&gt;&#10;  &lt;/Box&gt;&#10;&#10;  &lt;Box style={{ height: 40, flexDirection: 'row', justifyContent: 'flex-end', alignItems: 'flex-end' }}&gt;&#10;    &lt;Text style={{ fontSize: 15, color: '#808080' }}&gt;02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647700" cy="4476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550" b="1">
                <a:solidFill>
                  <a:srgbClr val="061F32"/>
                </a:solidFill>
                <a:latin typeface="Arial"/>
                <a:ea typeface="Arial"/>
              </a:rPr>
              <a:t>目录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600825" y="419100"/>
            <a:ext cx="5057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CONTENTS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全篇回答一个问题：同一条设计链路，换一种物理，是否还站得住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33400" y="2095500"/>
            <a:ext cx="31908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7E6E6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33400" y="3371850"/>
            <a:ext cx="3190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Arial"/>
                <a:ea typeface="Arial"/>
              </a:rPr>
              <a:t>这颗芯片是什么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33400" y="3867150"/>
            <a:ext cx="53340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33400" y="4076700"/>
            <a:ext cx="319087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4546A"/>
                </a:solidFill>
                <a:latin typeface="Arial"/>
                <a:ea typeface="Arial"/>
              </a:rPr>
              <a:t>规格与构成：</a:t>
            </a:r>
            <a:r>
              <a:rPr lang="en-US" sz="1425">
                <a:solidFill>
                  <a:srgbClr val="44546A"/>
                </a:solidFill>
                <a:latin typeface="Arial"/>
                <a:ea typeface="Arial"/>
              </a:rPr>
              <a:t xml:space="preserve">transmon </a:t>
            </a:r>
            <a:r>
              <a:rPr lang="zh-CN" sz="1425">
                <a:solidFill>
                  <a:srgbClr val="44546A"/>
                </a:solidFill>
                <a:latin typeface="Arial"/>
                <a:ea typeface="Arial"/>
              </a:rPr>
              <a:t>比特、可调耦合器、读出腔、三线控制、两种拓扑；八项硬指标同时成立，才叫「能画出一颗芯片」。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105275" y="2495550"/>
            <a:ext cx="9525" cy="247650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495800" y="2095500"/>
            <a:ext cx="32004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7E6E6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495800" y="3371850"/>
            <a:ext cx="3200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Arial"/>
                <a:ea typeface="Arial"/>
              </a:rPr>
              <a:t>技术结果与先进性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4495800" y="3867150"/>
            <a:ext cx="53340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495800" y="4076700"/>
            <a:ext cx="3200400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4546A"/>
                </a:solidFill>
                <a:latin typeface="Arial"/>
                <a:ea typeface="Arial"/>
              </a:rPr>
              <a:t>物理内核两条独立路径互验（</a:t>
            </a:r>
            <a:r>
              <a:rPr lang="en-US" sz="1425">
                <a:solidFill>
                  <a:srgbClr val="44546A"/>
                </a:solidFill>
                <a:latin typeface="Arial"/>
                <a:ea typeface="Arial"/>
              </a:rPr>
              <a:t>0.42% / 4.60%</a:t>
            </a:r>
            <a:r>
              <a:rPr lang="zh-CN" sz="1425">
                <a:solidFill>
                  <a:srgbClr val="44546A"/>
                </a:solidFill>
                <a:latin typeface="Arial"/>
                <a:ea typeface="Arial"/>
              </a:rPr>
              <a:t>）；六道签核工序各有拒绝条件；与产业界不同台比比特数，比可验证的设计链路。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8077200" y="2495550"/>
            <a:ext cx="9525" cy="2476500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467725" y="2257425"/>
            <a:ext cx="31908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E7E6E6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467725" y="3533775"/>
            <a:ext cx="3190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061F32"/>
                </a:solidFill>
                <a:latin typeface="Arial"/>
                <a:ea typeface="Arial"/>
              </a:rPr>
              <a:t>案例化与合作路径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8467725" y="4029075"/>
            <a:ext cx="53340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467725" y="4238625"/>
            <a:ext cx="3190875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4546A"/>
                </a:solidFill>
                <a:latin typeface="Arial"/>
                <a:ea typeface="Arial"/>
              </a:rPr>
              <a:t>版图可下载可复核；案例卡已接线，三条路径都能在</a:t>
            </a:r>
            <a:r>
              <a:rPr lang="en-US" sz="1425">
                <a:solidFill>
                  <a:srgbClr val="44546A"/>
                </a:solidFill>
                <a:latin typeface="Arial"/>
                <a:ea typeface="Arial"/>
              </a:rPr>
              <a:t xml:space="preserve"> 30 </a:t>
            </a:r>
            <a:r>
              <a:rPr lang="zh-CN" sz="1425">
                <a:solidFill>
                  <a:srgbClr val="44546A"/>
                </a:solidFill>
                <a:latin typeface="Arial"/>
                <a:ea typeface="Arial"/>
              </a:rPr>
              <a:t>秒内自己验一遍；六条边界写清楚，合作才谈得实。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220450" y="6496050"/>
            <a:ext cx="43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style={{ width: 1280, height: 720, padding: '82px 96px', background: '#062032', fontFamily: 'Arial, &quot;PingFang SC&quot;, &quot;Microsoft YaHei&quot;, &quot;Noto Sans SC&quot;, sans-serif', flexDirection: 'row', alignItems: 'center', gap: 60 }}&gt;&#10;  &lt;Text style={{ fontSize: 264, fontWeight: 'bold', color: 'rgba(255,255,255,0.10)', lineHeight: 0.9 }}&gt;01&lt;/Text&gt;&#10;  &lt;Box style={{ flexDirection: 'column', gap: 22 }}&gt;&#10;    &lt;Text style={{ fontSize: 46, fontWeight: 'bold', color: '#FFFFFF', lineHeight: 1.2 }}&gt;这颗芯片是什么&lt;/Text&gt;&#10;    &lt;Text style={{ fontSize: 21, color: '#99BDED', letterSpacing: 3 }}&gt;WHAT WE BUILT&lt;/Text&gt;&#10;    &lt;Box style={{ width: 96, height: 3, background: '#44546A', marginTop: 8 }} /&gt;&#10;    &lt;Text style={{ fontSize: 19, color: '#99BDED', lineHeight: 1.6 }}&gt;先立规格，再谈能力：一份可以被下游工艺与测试接手的设计交付物，长什么样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14400" y="2066925"/>
            <a:ext cx="2800350" cy="27241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9800" b="1">
                <a:solidFill>
                  <a:srgbClr val="FFFFFF">
                    <a:alpha val="10000"/>
                  </a:srgbClr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286250" y="2447925"/>
            <a:ext cx="6515100" cy="638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Arial"/>
                <a:ea typeface="Arial"/>
              </a:rPr>
              <a:t>这颗芯片是什么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286250" y="3295650"/>
            <a:ext cx="6515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225">
                <a:solidFill>
                  <a:srgbClr val="99BDED"/>
                </a:solidFill>
                <a:latin typeface="Arial"/>
                <a:ea typeface="Arial"/>
              </a:rPr>
              <a:t>WHAT WE BUILT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4286250" y="3829050"/>
            <a:ext cx="914400" cy="2857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286250" y="4067175"/>
            <a:ext cx="65151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99BDED"/>
                </a:solidFill>
                <a:latin typeface="Arial"/>
                <a:ea typeface="Arial"/>
              </a:rPr>
              <a:t>先立规格，再谈能力：一份可以被下游工艺与测试接手的设计交付物，长什么样。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4, fontWeight: 'bold', color: '#061F32', lineHeight: 1.15 }}&gt;八项硬指标同时成立，才叫「能画出一颗芯片」&lt;/Text&gt;&#10;    &lt;Text style={{ fontSize: 15, color: '#808080', paddingTop: 10 }}&gt;第 1 章 · 规格&lt;/Text&gt;&#10;  &lt;/Box&gt;&#10;  &lt;Box style={{ height: 1, background: '#061F32', marginTop: 8 }} /&gt;&#10;&#10;  &lt;Box style={{ height: 537, marginTop: 12, flexDirection: 'column', gap: 18 }}&gt;&#10;    &lt;Box style={{ height: 196, flexDirection: 'row', gap: 20 }}&gt;&#10;      &lt;Box style={{ flex: 1, background: '#061F32', borderRadius: 4, padding: 18, flexDirection: 'column', justifyContent: 'space-between' }}&gt;&#10;        &lt;Text style={{ fontSize: 17, color: '#99BDED' }}&gt;旗舰规模 · 版图容量&lt;/Text&gt;&#10;        &lt;Box style={{ flexDirection: 'row', alignItems: 'flex-end', gap: 8 }}&gt;&#10;          &lt;Text style={{ fontSize: 64, fontWeight: 'bold', color: '#FFFFFF', lineHeight: 1 }}&gt;1024&lt;/Text&gt;&#10;          &lt;Text style={{ fontSize: 20, fontWeight: 'bold', color: '#08A6F6', paddingBottom: 8 }}&gt;qubit&lt;/Text&gt;&#10;        &lt;/Box&gt;&#10;        &lt;Text style={{ fontSize: 16, color: '#E7E6E6', lineHeight: 1.45 }}&gt;32×32 · 10244 版图元素 · 1056 条控制信号线&lt;/Text&gt;&#10;      &lt;/Box&gt;&#10;      &lt;Box style={{ flex: 1, background: '#F5F5F5', borderRadius: 4, padding: 18, flexDirection: 'column', justifyContent: 'space-between' }}&gt;&#10;        &lt;Text style={{ fontSize: 17, color: '#44546A' }}&gt;五段征程 · 门禁判据&lt;/Text&gt;&#10;        &lt;Box style={{ flexDirection: 'row', alignItems: 'flex-end', gap: 8 }}&gt;&#10;          &lt;Text style={{ fontSize: 64, fontWeight: 'bold', color: '#061F32', lineHeight: 1 }}&gt;200&lt;/Text&gt;&#10;          &lt;Text style={{ fontSize: 20, fontWeight: 'bold', color: '#001965', paddingBottom: 8 }}&gt;条&lt;/Text&gt;&#10;        &lt;/Box&gt;&#10;        &lt;Text style={{ fontSize: 16, color: '#44546A', lineHeight: 1.45 }}&gt;S1 21 → S2 24 → S3 28 → S4 31 → S5 96&lt;/Text&gt;&#10;      &lt;/Box&gt;&#10;      &lt;Box style={{ flex: 1, background: '#F5F5F5', borderRadius: 4, padding: 18, flexDirection: 'column', justifyContent: 'space-between' }}&gt;&#10;        &lt;Text style={{ fontSize: 17, color: '#44546A' }}&gt;f01 双验证一致性&lt;/Text&gt;&#10;        &lt;Box style={{ flexDirection: 'row', alignItems: 'flex-end', gap: 8 }}&gt;&#10;          &lt;Text style={{ fontSize: 64, fontWeight: 'bold', color: '#061F32', lineHeight: 1 }}&gt;0.42&lt;/Text&gt;&#10;          &lt;Text style={{ fontSize: 20, fontWeight: 'bold', color: '#001965', paddingBottom: 8 }}&gt;%&lt;/Text&gt;&#10;        &lt;/Box&gt;&#10;        &lt;Text style={{ fontSize: 16, color: '#44546A', lineHeight: 1.45 }}&gt;严格对角化 ↔ Koch 闭式（两条独立路径）&lt;/Text&gt;&#10;      &lt;/Box&gt;&#10;      &lt;Box style={{ flex: 1, background: '#F5F5F5', borderRadius: 4, padding: 18, flexDirection: 'column', justifyContent: 'space-between' }}&gt;&#10;        &lt;Text style={{ fontSize: 17, color: '#44546A' }}&gt;可调耦合器可关比&lt;/Text&gt;&#10;        &lt;Box style={{ flexDirection: 'row', alignItems: 'flex-end', gap: 8 }}&gt;&#10;          &lt;Text style={{ fontSize: 64, fontWeight: 'bold', color: '#061F32', lineHeight: 1 }}&gt;54.3&lt;/Text&gt;&#10;          &lt;Text style={{ fontSize: 20, fontWeight: 'bold', color: '#001965', paddingBottom: 8 }}&gt;×&lt;/Text&gt;&#10;        &lt;/Box&gt;&#10;        &lt;Text style={{ fontSize: 16, color: '#44546A', lineHeight: 1.45 }}&gt;J_on 0.400 / J_off 0.0074 MHz · SQUID 闭式&lt;/Text&gt;&#10;      &lt;/Box&gt;&#10;    &lt;/Box&gt;&#10;&#10;    &lt;Box style={{ height: 196, flexDirection: 'row', gap: 20 }}&gt;&#10;      &lt;Box style={{ flex: 1, background: '#F5F5F5', borderRadius: 4, padding: 18, flexDirection: 'column', justifyContent: 'space-between' }}&gt;&#10;        &lt;Text style={{ fontSize: 17, color: '#44546A' }}&gt;最坏杂散 ZZ（N=1024）&lt;/Text&gt;&#10;        &lt;Box style={{ flexDirection: 'row', alignItems: 'flex-end', gap: 8 }}&gt;&#10;          &lt;Text style={{ fontSize: 64, fontWeight: 'bold', color: '#061F32', lineHeight: 1 }}&gt;0.39&lt;/Text&gt;&#10;          &lt;Text style={{ fontSize: 20, fontWeight: 'bold', color: '#001965', paddingBottom: 8 }}&gt;MHz&lt;/Text&gt;&#10;        &lt;/Box&gt;&#10;        &lt;Text style={{ fontSize: 16, color: '#44546A', lineHeight: 1.45 }}&gt;上限 1.0 MHz · 频率规划仅用 0.17 s&lt;/Text&gt;&#10;      &lt;/Box&gt;&#10;      &lt;Box style={{ flex: 1, background: '#F5F5F5', borderRadius: 4, padding: 18, flexDirection: 'column', justifyContent: 'space-between' }}&gt;&#10;        &lt;Text style={{ fontSize: 17, color: '#44546A' }}&gt;最小 T1（N≤1024）&lt;/Text&gt;&#10;        &lt;Box style={{ flexDirection: 'row', alignItems: 'flex-end', gap: 8 }}&gt;&#10;          &lt;Text style={{ fontSize: 64, fontWeight: 'bold', color: '#061F32', lineHeight: 1 }}&gt;41.2&lt;/Text&gt;&#10;          &lt;Text style={{ fontSize: 20, fontWeight: 'bold', color: '#001965', paddingBottom: 8 }}&gt;µs&lt;/Text&gt;&#10;        &lt;/Box&gt;&#10;        &lt;Text style={{ fontSize: 16, color: '#44546A', lineHeight: 1.45 }}&gt;目标 20 µs · 阵列良率 100%（含封装项）&lt;/Text&gt;&#10;      &lt;/Box&gt;&#10;      &lt;Box style={{ flex: 1, background: '#F5F5F5', borderRadius: 4, padding: 18, flexDirection: 'column', justifyContent: 'space-between' }}&gt;&#10;        &lt;Text style={{ fontSize: 17, color: '#44546A' }}&gt;heavy-hex 最大度&lt;/Text&gt;&#10;        &lt;Box style={{ flexDirection: 'row', alignItems: 'flex-end', gap: 8 }}&gt;&#10;          &lt;Text style={{ fontSize: 64, fontWeight: 'bold', color: '#061F32', lineHeight: 1 }}&gt;3&lt;/Text&gt;&#10;          &lt;Text style={{ fontSize: 20, fontWeight: 'bold', color: '#001965', paddingBottom: 8 }}&gt;度&lt;/Text&gt;&#10;        &lt;/Box&gt;&#10;        &lt;Text style={{ fontSize: 16, color: '#44546A', lineHeight: 1.45 }}&gt;91 qubit · 无 4 邻居（IBM 定义式 · 对标）&lt;/Text&gt;&#10;      &lt;/Box&gt;&#10;      &lt;Box style={{ flex: 1, background: '#F5F5F5', borderRadius: 4, padding: 18, flexDirection: 'column', justifyContent: 'space-between' }}&gt;&#10;        &lt;Text style={{ fontSize: 17, color: '#44546A' }}&gt;真产出物（可下载）&lt;/Text&gt;&#10;        &lt;Box style={{ flexDirection: 'row', alignItems: 'flex-end', gap: 8 }}&gt;&#10;          &lt;Text style={{ fontSize: 64, fontWeight: 'bold', color: '#061F32', lineHeight: 1 }}&gt;29&lt;/Text&gt;&#10;          &lt;Text style={{ fontSize: 20, fontWeight: 'bold', color: '#001965', paddingBottom: 8 }}&gt;件&lt;/Text&gt;&#10;        &lt;/Box&gt;&#10;        &lt;Text style={{ fontSize: 16, color: '#44546A', lineHeight: 1.45 }}&gt;8 组配置的 .gds / .svg / report.json&lt;/Text&gt;&#10;      &lt;/Box&gt;&#10;    &lt;/Box&gt;&#10;&#10;    &lt;Box style={{ flex: 1, flexDirection: 'row', alignItems: 'center', background: '#E7E6E6', borderLeft: '4px solid #061F32', padding: '14px 20px' }}&gt;&#10;      &lt;Text style={{ fontSize: 20, color: '#061F32', lineHeight: 1.5 }}&gt;&#10;        判断：这八项不是并列的荣誉，而是&lt;span style={{ fontWeight: 'bold' }}&gt;同一条链路的八个断面&lt;/span&gt;——任意一项缺失，都说明「设计」没有走到「可交付」。&#10;      &lt;/Text&gt;&#10;    &lt;/Box&gt;&#10;  &lt;/Box&gt;&#10;&#10;  &lt;Box style={{ height: 40, flexDirection: 'row', justifyContent: 'space-between', alignItems: 'flex-end' }}&gt;&#10;    &lt;Box style={{ flexDirection: 'column' }}&gt;&#10;      &lt;Text style={{ fontSize: 14, color: '#808080' }}&gt;Source：LDA 超导征程门禁 run_schip_s1..s5_smoke.py（200 判据）· 批量签核 examples/lda_schip_s5.py&lt;/Text&gt;&#10;      &lt;Text style={{ fontSize: 14, color: '#808080' }}&gt;Footnote：规模为版图容量（可排布且可签核的比特数），非已制备器件数；全部为设计期签核。&lt;/Text&gt;&#10;    &lt;/Box&gt;&#10;    &lt;Text style={{ fontSize: 14, color: '#808080' }}&gt;04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6800850" cy="4476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550" b="1">
                <a:solidFill>
                  <a:srgbClr val="061F32"/>
                </a:solidFill>
                <a:latin typeface="Arial"/>
                <a:ea typeface="Arial"/>
              </a:rPr>
              <a:t>八项硬指标同时成立，才叫「能画出一颗芯片」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0791825" y="419100"/>
            <a:ext cx="866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第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1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章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规格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533400" y="117157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04850" y="134302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旗舰规模</a:t>
            </a:r>
            <a:r>
              <a:rPr lang="en-US" sz="127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版图容量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04850" y="1571625"/>
            <a:ext cx="13620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FFFF"/>
                </a:solidFill>
                <a:latin typeface="Arial"/>
                <a:ea typeface="Arial"/>
              </a:rPr>
              <a:t>1024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2143125" y="2000250"/>
            <a:ext cx="466725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8A6F6"/>
                </a:solidFill>
                <a:latin typeface="Arial"/>
                <a:ea typeface="Arial"/>
              </a:rPr>
              <a:t>qubit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04850" y="233362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32×32 · 10244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版图元素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· 1056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条控制信号线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362325" y="117157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533775" y="134302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五段征程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·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门禁判据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533775" y="1571625"/>
            <a:ext cx="10191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200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629150" y="2000250"/>
            <a:ext cx="190500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1965"/>
                </a:solidFill>
                <a:latin typeface="Arial"/>
                <a:ea typeface="Arial"/>
              </a:rPr>
              <a:t>条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533775" y="233362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S1 21 → S2 24 → S3 28 → S4 31 → S5 96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191250" y="117157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362700" y="134302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f01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双验证一致性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362700" y="1571625"/>
            <a:ext cx="11906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0.42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629525" y="2000250"/>
            <a:ext cx="171450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1965"/>
                </a:solidFill>
                <a:latin typeface="Arial"/>
                <a:ea typeface="Arial"/>
              </a:rPr>
              <a:t>%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362700" y="233362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严格对角化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↔ Koch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闭式（两条独立路径）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020175" y="117157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191625" y="134302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可调耦合器可关比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191625" y="1571625"/>
            <a:ext cx="11906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54.3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0458450" y="2000250"/>
            <a:ext cx="114300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sz="1500" b="1">
                <a:solidFill>
                  <a:srgbClr val="001965"/>
                </a:solidFill>
                <a:latin typeface="Arial"/>
                <a:ea typeface="Arial"/>
              </a:rPr>
              <a:t>×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191625" y="233362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J_on 0.400 / J_off 0.0074 MHz · SQUID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闭式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33400" y="320992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04850" y="338137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最坏杂散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ZZ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>N=1024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04850" y="3609975"/>
            <a:ext cx="11906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0.39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971675" y="4038600"/>
            <a:ext cx="400050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1965"/>
                </a:solidFill>
                <a:latin typeface="Arial"/>
                <a:ea typeface="Arial"/>
              </a:rPr>
              <a:t>MHz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04850" y="437197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上限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1.0 MHz ·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频率规划仅用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0.17 s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3362325" y="320992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533775" y="338137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最小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T1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>N≤1024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3533775" y="3609975"/>
            <a:ext cx="11906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41.2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800600" y="4038600"/>
            <a:ext cx="219075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01965"/>
                </a:solidFill>
                <a:latin typeface="Arial"/>
                <a:ea typeface="Arial"/>
              </a:rPr>
              <a:t>µs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533775" y="437197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目标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20 µs ·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阵列良率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100%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（含封装项）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191250" y="320992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362700" y="338137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heavy-hex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最大度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362700" y="3609975"/>
            <a:ext cx="3429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781800" y="4038600"/>
            <a:ext cx="190500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1965"/>
                </a:solidFill>
                <a:latin typeface="Arial"/>
                <a:ea typeface="Arial"/>
              </a:rPr>
              <a:t>度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362700" y="437197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91 qubit ·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无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4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邻居（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IBM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定义式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·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对标）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9020175" y="3209925"/>
            <a:ext cx="2638425" cy="186690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9191625" y="3381375"/>
            <a:ext cx="2295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真产出物（可下载）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191625" y="3609975"/>
            <a:ext cx="685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61F32"/>
                </a:solidFill>
                <a:latin typeface="Arial"/>
                <a:ea typeface="Arial"/>
              </a:rPr>
              <a:t>29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953625" y="4038600"/>
            <a:ext cx="190500" cy="3048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1965"/>
                </a:solidFill>
                <a:latin typeface="Arial"/>
                <a:ea typeface="Arial"/>
              </a:rPr>
              <a:t>件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191625" y="4371975"/>
            <a:ext cx="2295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8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组配置的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.gds / .svg / report.json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71500" y="5248275"/>
            <a:ext cx="11125200" cy="10382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533400" y="5248275"/>
            <a:ext cx="11163300" cy="1038225"/>
          </a:xfrm>
          <a:custGeom>
            <a:pathLst>
              <a:path w="1172" h="109">
                <a:moveTo>
                  <a:pt x="0" y="0"/>
                </a:moveTo>
                <a:lnTo>
                  <a:pt x="4" y="0"/>
                </a:lnTo>
                <a:lnTo>
                  <a:pt x="4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62000" y="5600700"/>
            <a:ext cx="99060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061F32"/>
                </a:solidFill>
                <a:latin typeface="Arial"/>
                <a:ea typeface="Arial"/>
              </a:rPr>
              <a:t>判断：这八项不是并列的荣誉，而是</a:t>
            </a:r>
            <a:r>
              <a:rPr lang="zh-CN" sz="1500" b="1">
                <a:solidFill>
                  <a:srgbClr val="061F32"/>
                </a:solidFill>
                <a:latin typeface="Arial"/>
                <a:ea typeface="Arial"/>
              </a:rPr>
              <a:t>同一条链路的八个断面</a:t>
            </a:r>
            <a:r>
              <a:rPr lang="zh-CN" sz="1500">
                <a:solidFill>
                  <a:srgbClr val="061F32"/>
                </a:solidFill>
                <a:latin typeface="Arial"/>
                <a:ea typeface="Arial"/>
              </a:rPr>
              <a:t>——任意一项缺失，都说明「设计」没有走到「可交付」。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33400" y="6343650"/>
            <a:ext cx="6353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LDA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超导征程门禁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run_schip_s1..s5_smoke.py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200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判据）·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批量签核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examples/lda_schip_s5.py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33400" y="6505575"/>
            <a:ext cx="6353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Footnote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：规模为版图容量（可排布且可签核的比特数），非已制备器件数；全部为设计期签核。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2490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2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3, fontWeight: 'bold', color: '#061F32', lineHeight: 1.15 }}&gt;五段征程把「能设计」推进到「能签核」，判据从 21 条长到 200 条&lt;/Text&gt;&#10;    &lt;Text style={{ fontSize: 15, color: '#808080', paddingTop: 10 }}&gt;第 1 章 · 征程&lt;/Text&gt;&#10;  &lt;/Box&gt;&#10;  &lt;Box style={{ height: 1, background: '#061F32', marginTop: 8 }} /&gt;&#10;&#10;  &lt;Box style={{ height: 537, marginTop: 12, flexDirection: 'column', gap: 18 }}&gt;&#10;    &lt;Box style={{ height: 400, flexDirection: 'row', alignItems: 'stretch' }}&gt;&#10;      &lt;Box style={{ flex: 1, background: '#F5F5F5', borderTop: '3px solid #061F32', padding: '20px 16px', flexDirection: 'column', justifyContent: 'space-between' }}&gt;&#10;        &lt;Box style={{ flexDirection: 'column', gap: 6 }}&gt;&#10;          &lt;Text style={{ fontSize: 16, fontWeight: 'bold', color: '#08A6F6' }}&gt;S1 · D-133&lt;/Text&gt;&#10;          &lt;Text style={{ fontSize: 23, fontWeight: 'bold', color: '#061F32', lineHeight: 1.25 }}&gt;单 transmon&lt;br /&gt;单元&lt;/Text&gt;&#10;        &lt;/Box&gt;&#10;        &lt;Text style={{ fontSize: 46, fontWeight: 'bold', color: '#061F32', lineHeight: 1 }}&gt;21&lt;span style={{ fontSize: 17, color: '#808080' }}&gt; 判据&lt;/span&gt;&lt;/Text&gt;&#10;        &lt;Text style={{ fontSize: 16, color: '#44546A', lineHeight: 1.5 }}&gt;真 GDS（596 B）· DRC 4 规则 · LVS 5 判据&lt;/Text&gt;&#10;      &lt;/Box&gt;&#10;      &lt;Box style={{ width: 18, justifyContent: 'center', alignItems: 'center' }}&gt;&#10;        &lt;svg width={16} height={16} viewBox='0 0 16 16'&gt;&lt;path d='M2 8h10M8 3l5 5-5 5' fill='none' stroke='#808080' strokeWidth='2' /&gt;&lt;/svg&gt;&#10;      &lt;/Box&gt;&#10;      &lt;Box style={{ flex: 1, background: '#F5F5F5', borderTop: '3px solid #061F32', padding: '20px 16px', flexDirection: 'column', justifyContent: 'space-between' }}&gt;&#10;        &lt;Box style={{ flexDirection: 'column', gap: 6 }}&gt;&#10;          &lt;Text style={{ fontSize: 16, fontWeight: 'bold', color: '#08A6F6' }}&gt;S2 · D-134&lt;/Text&gt;&#10;          &lt;Text style={{ fontSize: 23, fontWeight: 'bold', color: '#061F32', lineHeight: 1.25 }}&gt;耦合 transmon&lt;br /&gt;对&lt;/Text&gt;&#10;        &lt;/Box&gt;&#10;        &lt;Text style={{ fontSize: 46, fontWeight: 'bold', color: '#061F32', lineHeight: 1 }}&gt;24&lt;span style={{ fontSize: 17, color: '#808080' }}&gt; 判据&lt;/span&gt;&lt;/Text&gt;&#10;        &lt;Text style={{ fontSize: 16, color: '#44546A', lineHeight: 1.5 }}&gt;J 双验证 rel ≤5% · g_CR 2.59 MHz&lt;/Text&gt;&#10;      &lt;/Box&gt;&#10;      &lt;Box style={{ width: 18, justifyContent: 'center', alignItems: 'center' }}&gt;&#10;        &lt;svg width={16} height={16} viewBox='0 0 16 16'&gt;&lt;path d='M2 8h10M8 3l5 5-5 5' fill='none' stroke='#808080' strokeWidth='2' /&gt;&lt;/svg&gt;&#10;      &lt;/Box&gt;&#10;      &lt;Box style={{ flex: 1, background: '#F5F5F5', borderTop: '3px solid #061F32', padding: '20px 16px', flexDirection: 'column', justifyContent: 'space-between' }}&gt;&#10;        &lt;Box style={{ flexDirection: 'column', gap: 6 }}&gt;&#10;          &lt;Text style={{ fontSize: 16, fontWeight: 'bold', color: '#08A6F6' }}&gt;S3 · D-135&lt;/Text&gt;&#10;          &lt;Text style={{ fontSize: 23, fontWeight: 'bold', color: '#061F32', lineHeight: 1.25 }}&gt;N 比特阵列&lt;br /&gt;P&amp;amp;R&lt;/Text&gt;&#10;        &lt;/Box&gt;&#10;        &lt;Text style={{ fontSize: 46, fontWeight: 'bold', color: '#061F32', lineHeight: 1 }}&gt;28&lt;span style={{ fontSize: 17, color: '#808080' }}&gt; 判据&lt;/span&gt;&lt;/Text&gt;&#10;        &lt;Text style={{ fontSize: 16, color: '#44546A', lineHeight: 1.5 }}&gt;逐边 J 双验证 max 4.37% · 3×3 = 12 耦合&lt;/Text&gt;&#10;      &lt;/Box&gt;&#10;      &lt;Box style={{ width: 18, justifyContent: 'center', alignItems: 'center' }}&gt;&#10;        &lt;svg width={16} height={16} viewBox='0 0 16 16'&gt;&lt;path d='M2 8h10M8 3l5 5-5 5' fill='none' stroke='#808080' strokeWidth='2' /&gt;&lt;/svg&gt;&#10;      &lt;/Box&gt;&#10;      &lt;Box style={{ flex: 1, background: '#F5F5F5', borderTop: '3px solid #061F32', padding: '20px 16px', flexDirection: 'column', justifyContent: 'space-between' }}&gt;&#10;        &lt;Box style={{ flexDirection: 'column', gap: 6 }}&gt;&#10;          &lt;Text style={{ fontSize: 16, fontWeight: 'bold', color: '#08A6F6' }}&gt;S4 · D-136&lt;/Text&gt;&#10;          &lt;Text style={{ fontSize: 23, fontWeight: 'bold', color: '#061F32', lineHeight: 1.25 }}&gt;读出控制&lt;br /&gt;+ 预算&lt;/Text&gt;&#10;        &lt;/Box&gt;&#10;        &lt;Text style={{ fontSize: 46, fontWeight: 'bold', color: '#061F32', lineHeight: 1 }}&gt;31&lt;span style={{ fontSize: 17, color: '#808080' }}&gt; 判据&lt;/span&gt;&lt;/Text&gt;&#10;        &lt;Text style={{ fontSize: 16, color: '#44546A', lineHeight: 1.5 }}&gt;DRC 10 规则 · LVS 9 判据 · 杂散 ZZ ≤1.0 MHz&lt;/Text&gt;&#10;      &lt;/Box&gt;&#10;      &lt;Box style={{ width: 18, justifyContent: 'center', alignItems: 'center' }}&gt;&#10;        &lt;svg width={16} height={16} viewBox='0 0 16 16'&gt;&lt;path d='M2 8h10M8 3l5 5-5 5' fill='none' stroke='#808080' strokeWidth='2' /&gt;&lt;/svg&gt;&#10;      &lt;/Box&gt;&#10;      &lt;Box style={{ flex: 1, background: '#061F32', borderTop: '3px solid #08A6F6', padding: '20px 16px', flexDirection: 'column', justifyContent: 'space-between' }}&gt;&#10;        &lt;Box style={{ flexDirection: 'column', gap: 6 }}&gt;&#10;          &lt;Text style={{ fontSize: 16, fontWeight: 'bold', color: '#08A6F6' }}&gt;S5 · D-137…D-145&lt;/Text&gt;&#10;          &lt;Text style={{ fontSize: 23, fontWeight: 'bold', color: '#FFFFFF', lineHeight: 1.25 }}&gt;规模压力&lt;br /&gt;+ 架构要素&lt;/Text&gt;&#10;        &lt;/Box&gt;&#10;        &lt;Text style={{ fontSize: 46, fontWeight: 'bold', color: '#FFFFFF', lineHeight: 1 }}&gt;96&lt;span style={{ fontSize: 17, color: '#99BDED' }}&gt; 判据&lt;/span&gt;&lt;/Text&gt;&#10;        &lt;Text style={{ fontSize: 16, color: '#E7E6E6', lineHeight: 1.5 }}&gt;规模 53→1024 · heavy-hex 91 qubit · 统一拓扑框架&lt;/Text&gt;&#10;      &lt;/Box&gt;&#10;    &lt;/Box&gt;&#10;&#10;    &lt;Box style={{ flex: 1, flexDirection: 'row', alignItems: 'center', background: '#E7E6E6', borderLeft: '4px solid #061F32', padding: '14px 20px' }}&gt;&#10;      &lt;Text style={{ fontSize: 20, color: '#061F32', lineHeight: 1.5 }}&gt;&#10;        判断：判据增长不是堆数量，而是&lt;span style={{ fontWeight: 'bold' }}&gt;每一段都新增了一类真实约束&lt;/span&gt;——几何与物理（S1–S3）、读出与损耗（S4）、规模与拓扑（S5）。判据长不出来的能力，等于没有。&#10;      &lt;/Text&gt;&#10;    &lt;/Box&gt;&#10;  &lt;/Box&gt;&#10;&#10;  &lt;Box style={{ height: 40, flexDirection: 'row', justifyContent: 'space-between', alignItems: 'flex-end' }}&gt;&#10;    &lt;Box style={{ flexDirection: 'column' }}&gt;&#10;      &lt;Text style={{ fontSize: 14, color: '#808080' }}&gt;Source：run_schip_s1_smoke.py … run_schip_s5_smoke.py（21/24/28/31/96）· 突变探针 scripts/d_sc_s5_probe.py 18 组&lt;/Text&gt;&#10;      &lt;Text style={{ fontSize: 14, color: '#808080' }}&gt;Footnote：全部判据为机器可判的死标量比对，LLM 不进判决路径。&lt;/Text&gt;&#10;    &lt;/Box&gt;&#10;    &lt;Text style={{ fontSize: 14, color: '#808080' }}&gt;05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9401175" cy="438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五段征程把「能设计」推进到「能签核」，判据从</a:t>
            </a:r>
            <a:r>
              <a:rPr lang="en-US" sz="2475" b="1">
                <a:solidFill>
                  <a:srgbClr val="061F32"/>
                </a:solidFill>
                <a:latin typeface="Arial"/>
                <a:ea typeface="Arial"/>
              </a:rPr>
              <a:t xml:space="preserve"> 21 </a:t>
            </a: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条长到</a:t>
            </a:r>
            <a:r>
              <a:rPr lang="en-US" sz="2475" b="1">
                <a:solidFill>
                  <a:srgbClr val="061F32"/>
                </a:solidFill>
                <a:latin typeface="Arial"/>
                <a:ea typeface="Arial"/>
              </a:rPr>
              <a:t xml:space="preserve"> 200 </a:t>
            </a: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条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0791825" y="419100"/>
            <a:ext cx="866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第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1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章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征程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533400" y="1200150"/>
            <a:ext cx="2085975" cy="3810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533400" y="1171575"/>
            <a:ext cx="2085975" cy="3838575"/>
          </a:xfrm>
          <a:custGeom>
            <a:pathLst>
              <a:path w="219" h="403">
                <a:moveTo>
                  <a:pt x="0" y="0"/>
                </a:moveTo>
                <a:lnTo>
                  <a:pt x="219" y="0"/>
                </a:lnTo>
                <a:lnTo>
                  <a:pt x="219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A6F6"/>
                </a:solidFill>
                <a:latin typeface="Arial"/>
                <a:ea typeface="Arial"/>
              </a:rPr>
              <a:t>S1 · D-133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85800" y="1638300"/>
            <a:ext cx="1781175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725" b="1">
                <a:solidFill>
                  <a:srgbClr val="061F32"/>
                </a:solidFill>
                <a:latin typeface="Arial"/>
                <a:ea typeface="Arial"/>
              </a:rPr>
              <a:t>单</a:t>
            </a:r>
            <a:r>
              <a:rPr lang="en-US" sz="1725" b="1">
                <a:solidFill>
                  <a:srgbClr val="061F32"/>
                </a:solidFill>
                <a:latin typeface="Arial"/>
                <a:ea typeface="Arial"/>
              </a:rPr>
              <a:t xml:space="preserve"> transmon</a:t>
            </a:r>
            <a:endParaRPr/>
          </a:p>
          <a:p>
            <a:pPr>
              <a:lnSpc>
                <a:spcPct val="125000"/>
              </a:lnSpc>
            </a:pPr>
            <a:r>
              <a:rPr lang="zh-CN" sz="1725" b="1">
                <a:solidFill>
                  <a:srgbClr val="061F32"/>
                </a:solidFill>
                <a:latin typeface="Arial"/>
                <a:ea typeface="Arial"/>
              </a:rPr>
              <a:t>单元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3000375"/>
            <a:ext cx="1781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61F32"/>
                </a:solidFill>
                <a:latin typeface="Arial"/>
                <a:ea typeface="Arial"/>
              </a:rPr>
              <a:t>21</a:t>
            </a:r>
            <a:r>
              <a:rPr lang="en-US" sz="1275" b="1">
                <a:solidFill>
                  <a:srgbClr val="808080"/>
                </a:solidFill>
                <a:latin typeface="Arial"/>
                <a:ea typeface="Arial"/>
              </a:rPr>
              <a:t xml:space="preserve"> </a:t>
            </a:r>
            <a:r>
              <a:rPr lang="zh-CN" sz="1275" b="1">
                <a:solidFill>
                  <a:srgbClr val="808080"/>
                </a:solidFill>
                <a:latin typeface="Arial"/>
                <a:ea typeface="Arial"/>
              </a:rPr>
              <a:t>判据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17811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真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GDS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596 B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）·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DRC 4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规则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· LVS 5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判据</a:t>
            </a:r>
            <a:endParaRPr/>
          </a:p>
        </p:txBody>
      </p:sp>
      <p:pic>
        <p:nvPicPr>
          <p:cNvPr id="193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628900" y="3000375"/>
            <a:ext cx="152400" cy="152400"/>
          </a:xfrm>
          <a:prstGeom prst="rect">
            <a:avLst/>
          </a:prstGeom>
          <a:ln/>
        </p:spPr>
      </p:pic>
      <p:sp>
        <p:nvSpPr>
          <p:cNvPr id="194" name=""/>
          <p:cNvSpPr/>
          <p:nvPr/>
        </p:nvSpPr>
        <p:spPr>
          <a:xfrm rot="0" flipH="0" flipV="0">
            <a:off x="2790825" y="1200150"/>
            <a:ext cx="2085975" cy="3810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2790825" y="1171575"/>
            <a:ext cx="2085975" cy="3838575"/>
          </a:xfrm>
          <a:custGeom>
            <a:pathLst>
              <a:path w="219" h="403">
                <a:moveTo>
                  <a:pt x="0" y="0"/>
                </a:moveTo>
                <a:lnTo>
                  <a:pt x="219" y="0"/>
                </a:lnTo>
                <a:lnTo>
                  <a:pt x="219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2943225" y="1390650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A6F6"/>
                </a:solidFill>
                <a:latin typeface="Arial"/>
                <a:ea typeface="Arial"/>
              </a:rPr>
              <a:t>S2 · D-134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2943225" y="1638300"/>
            <a:ext cx="1781175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725" b="1">
                <a:solidFill>
                  <a:srgbClr val="061F32"/>
                </a:solidFill>
                <a:latin typeface="Arial"/>
                <a:ea typeface="Arial"/>
              </a:rPr>
              <a:t>耦合</a:t>
            </a:r>
            <a:r>
              <a:rPr lang="en-US" sz="1725" b="1">
                <a:solidFill>
                  <a:srgbClr val="061F32"/>
                </a:solidFill>
                <a:latin typeface="Arial"/>
                <a:ea typeface="Arial"/>
              </a:rPr>
              <a:t xml:space="preserve"> transmon</a:t>
            </a:r>
            <a:endParaRPr/>
          </a:p>
          <a:p>
            <a:pPr>
              <a:lnSpc>
                <a:spcPct val="125000"/>
              </a:lnSpc>
            </a:pPr>
            <a:r>
              <a:rPr lang="zh-CN" sz="1725" b="1">
                <a:solidFill>
                  <a:srgbClr val="061F32"/>
                </a:solidFill>
                <a:latin typeface="Arial"/>
                <a:ea typeface="Arial"/>
              </a:rPr>
              <a:t>对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2943225" y="3000375"/>
            <a:ext cx="1781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61F32"/>
                </a:solidFill>
                <a:latin typeface="Arial"/>
                <a:ea typeface="Arial"/>
              </a:rPr>
              <a:t>24</a:t>
            </a:r>
            <a:r>
              <a:rPr lang="en-US" sz="1275" b="1">
                <a:solidFill>
                  <a:srgbClr val="808080"/>
                </a:solidFill>
                <a:latin typeface="Arial"/>
                <a:ea typeface="Arial"/>
              </a:rPr>
              <a:t xml:space="preserve"> </a:t>
            </a:r>
            <a:r>
              <a:rPr lang="zh-CN" sz="1275" b="1">
                <a:solidFill>
                  <a:srgbClr val="808080"/>
                </a:solidFill>
                <a:latin typeface="Arial"/>
                <a:ea typeface="Arial"/>
              </a:rPr>
              <a:t>判据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2943225" y="4238625"/>
            <a:ext cx="17811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J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双验证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rel ≤5% · g_CR 2.59 MHz</a:t>
            </a:r>
            <a:endParaRPr/>
          </a:p>
        </p:txBody>
      </p:sp>
      <p:pic>
        <p:nvPicPr>
          <p:cNvPr id="200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86325" y="3000375"/>
            <a:ext cx="152400" cy="152400"/>
          </a:xfrm>
          <a:prstGeom prst="rect">
            <a:avLst/>
          </a:prstGeom>
          <a:ln/>
        </p:spPr>
      </p:pic>
      <p:sp>
        <p:nvSpPr>
          <p:cNvPr id="201" name=""/>
          <p:cNvSpPr/>
          <p:nvPr/>
        </p:nvSpPr>
        <p:spPr>
          <a:xfrm rot="0" flipH="0" flipV="0">
            <a:off x="5048250" y="1200150"/>
            <a:ext cx="2095500" cy="3810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5048250" y="1171575"/>
            <a:ext cx="2095500" cy="3838575"/>
          </a:xfrm>
          <a:custGeom>
            <a:pathLst>
              <a:path w="220" h="403">
                <a:moveTo>
                  <a:pt x="0" y="0"/>
                </a:moveTo>
                <a:lnTo>
                  <a:pt x="220" y="0"/>
                </a:lnTo>
                <a:lnTo>
                  <a:pt x="220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200650" y="1390650"/>
            <a:ext cx="179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A6F6"/>
                </a:solidFill>
                <a:latin typeface="Arial"/>
                <a:ea typeface="Arial"/>
              </a:rPr>
              <a:t>S3 · D-135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200650" y="1638300"/>
            <a:ext cx="1790700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725" b="1">
                <a:solidFill>
                  <a:srgbClr val="061F32"/>
                </a:solidFill>
                <a:latin typeface="Arial"/>
                <a:ea typeface="Arial"/>
              </a:rPr>
              <a:t xml:space="preserve">N </a:t>
            </a:r>
            <a:r>
              <a:rPr lang="zh-CN" sz="1725" b="1">
                <a:solidFill>
                  <a:srgbClr val="061F32"/>
                </a:solidFill>
                <a:latin typeface="Arial"/>
                <a:ea typeface="Arial"/>
              </a:rPr>
              <a:t>比特阵列</a:t>
            </a:r>
            <a:endParaRPr/>
          </a:p>
          <a:p>
            <a:pPr>
              <a:lnSpc>
                <a:spcPct val="125000"/>
              </a:lnSpc>
            </a:pPr>
            <a:r>
              <a:rPr lang="en-US" sz="1725" b="1">
                <a:solidFill>
                  <a:srgbClr val="061F32"/>
                </a:solidFill>
                <a:latin typeface="Arial"/>
                <a:ea typeface="Arial"/>
              </a:rPr>
              <a:t>P&amp;R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200650" y="3000375"/>
            <a:ext cx="17907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61F32"/>
                </a:solidFill>
                <a:latin typeface="Arial"/>
                <a:ea typeface="Arial"/>
              </a:rPr>
              <a:t>28</a:t>
            </a:r>
            <a:r>
              <a:rPr lang="en-US" sz="1275" b="1">
                <a:solidFill>
                  <a:srgbClr val="808080"/>
                </a:solidFill>
                <a:latin typeface="Arial"/>
                <a:ea typeface="Arial"/>
              </a:rPr>
              <a:t xml:space="preserve"> </a:t>
            </a:r>
            <a:r>
              <a:rPr lang="zh-CN" sz="1275" b="1">
                <a:solidFill>
                  <a:srgbClr val="808080"/>
                </a:solidFill>
                <a:latin typeface="Arial"/>
                <a:ea typeface="Arial"/>
              </a:rPr>
              <a:t>判据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200650" y="4238625"/>
            <a:ext cx="1790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逐边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J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双验证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max 4.37% · 3×3 = 12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耦合</a:t>
            </a:r>
            <a:endParaRPr/>
          </a:p>
        </p:txBody>
      </p:sp>
      <p:pic>
        <p:nvPicPr>
          <p:cNvPr id="207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53275" y="3000375"/>
            <a:ext cx="152400" cy="152400"/>
          </a:xfrm>
          <a:prstGeom prst="rect">
            <a:avLst/>
          </a:prstGeom>
          <a:ln/>
        </p:spPr>
      </p:pic>
      <p:sp>
        <p:nvSpPr>
          <p:cNvPr id="208" name=""/>
          <p:cNvSpPr/>
          <p:nvPr/>
        </p:nvSpPr>
        <p:spPr>
          <a:xfrm rot="0" flipH="0" flipV="0">
            <a:off x="7315200" y="1200150"/>
            <a:ext cx="2085975" cy="38100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7315200" y="1171575"/>
            <a:ext cx="2085975" cy="3838575"/>
          </a:xfrm>
          <a:custGeom>
            <a:pathLst>
              <a:path w="219" h="403">
                <a:moveTo>
                  <a:pt x="0" y="0"/>
                </a:moveTo>
                <a:lnTo>
                  <a:pt x="219" y="0"/>
                </a:lnTo>
                <a:lnTo>
                  <a:pt x="219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467600" y="1390650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A6F6"/>
                </a:solidFill>
                <a:latin typeface="Arial"/>
                <a:ea typeface="Arial"/>
              </a:rPr>
              <a:t>S4 · D-136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467600" y="1638300"/>
            <a:ext cx="1781175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725" b="1">
                <a:solidFill>
                  <a:srgbClr val="061F32"/>
                </a:solidFill>
                <a:latin typeface="Arial"/>
                <a:ea typeface="Arial"/>
              </a:rPr>
              <a:t>读出控制</a:t>
            </a:r>
            <a:endParaRPr/>
          </a:p>
          <a:p>
            <a:pPr>
              <a:lnSpc>
                <a:spcPct val="125000"/>
              </a:lnSpc>
            </a:pPr>
            <a:r>
              <a:rPr lang="en-US" sz="1725" b="1">
                <a:solidFill>
                  <a:srgbClr val="061F32"/>
                </a:solidFill>
                <a:latin typeface="Arial"/>
                <a:ea typeface="Arial"/>
              </a:rPr>
              <a:t xml:space="preserve">+ </a:t>
            </a:r>
            <a:r>
              <a:rPr lang="zh-CN" sz="1725" b="1">
                <a:solidFill>
                  <a:srgbClr val="061F32"/>
                </a:solidFill>
                <a:latin typeface="Arial"/>
                <a:ea typeface="Arial"/>
              </a:rPr>
              <a:t>预算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467600" y="3000375"/>
            <a:ext cx="1781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61F32"/>
                </a:solidFill>
                <a:latin typeface="Arial"/>
                <a:ea typeface="Arial"/>
              </a:rPr>
              <a:t>31</a:t>
            </a:r>
            <a:r>
              <a:rPr lang="en-US" sz="1275" b="1">
                <a:solidFill>
                  <a:srgbClr val="808080"/>
                </a:solidFill>
                <a:latin typeface="Arial"/>
                <a:ea typeface="Arial"/>
              </a:rPr>
              <a:t xml:space="preserve"> </a:t>
            </a:r>
            <a:r>
              <a:rPr lang="zh-CN" sz="1275" b="1">
                <a:solidFill>
                  <a:srgbClr val="808080"/>
                </a:solidFill>
                <a:latin typeface="Arial"/>
                <a:ea typeface="Arial"/>
              </a:rPr>
              <a:t>判据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67600" y="4238625"/>
            <a:ext cx="17811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DRC 10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规则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· LVS 9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判据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·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杂散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ZZ ≤1.0 MHz</a:t>
            </a:r>
            <a:endParaRPr/>
          </a:p>
        </p:txBody>
      </p:sp>
      <p:pic>
        <p:nvPicPr>
          <p:cNvPr id="214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410700" y="3000375"/>
            <a:ext cx="152400" cy="152400"/>
          </a:xfrm>
          <a:prstGeom prst="rect">
            <a:avLst/>
          </a:prstGeom>
          <a:ln/>
        </p:spPr>
      </p:pic>
      <p:sp>
        <p:nvSpPr>
          <p:cNvPr id="215" name=""/>
          <p:cNvSpPr/>
          <p:nvPr/>
        </p:nvSpPr>
        <p:spPr>
          <a:xfrm rot="0" flipH="0" flipV="0">
            <a:off x="9572625" y="1200150"/>
            <a:ext cx="2085975" cy="3810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9572625" y="1171575"/>
            <a:ext cx="2085975" cy="3838575"/>
          </a:xfrm>
          <a:custGeom>
            <a:pathLst>
              <a:path w="219" h="403">
                <a:moveTo>
                  <a:pt x="0" y="0"/>
                </a:moveTo>
                <a:lnTo>
                  <a:pt x="219" y="0"/>
                </a:lnTo>
                <a:lnTo>
                  <a:pt x="219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9725025" y="1390650"/>
            <a:ext cx="178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8A6F6"/>
                </a:solidFill>
                <a:latin typeface="Arial"/>
                <a:ea typeface="Arial"/>
              </a:rPr>
              <a:t>S5 · D-137…D-145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725025" y="1638300"/>
            <a:ext cx="1781175" cy="65722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725" b="1">
                <a:solidFill>
                  <a:srgbClr val="FFFFFF"/>
                </a:solidFill>
                <a:latin typeface="Arial"/>
                <a:ea typeface="Arial"/>
              </a:rPr>
              <a:t>规模压力</a:t>
            </a:r>
            <a:endParaRPr/>
          </a:p>
          <a:p>
            <a:pPr>
              <a:lnSpc>
                <a:spcPct val="125000"/>
              </a:lnSpc>
            </a:pPr>
            <a:r>
              <a:rPr lang="en-US" sz="1725" b="1">
                <a:solidFill>
                  <a:srgbClr val="FFFFFF"/>
                </a:solidFill>
                <a:latin typeface="Arial"/>
                <a:ea typeface="Arial"/>
              </a:rPr>
              <a:t xml:space="preserve">+ </a:t>
            </a:r>
            <a:r>
              <a:rPr lang="zh-CN" sz="1725" b="1">
                <a:solidFill>
                  <a:srgbClr val="FFFFFF"/>
                </a:solidFill>
                <a:latin typeface="Arial"/>
                <a:ea typeface="Arial"/>
              </a:rPr>
              <a:t>架构要素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9725025" y="2867025"/>
            <a:ext cx="1781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FFFFFF"/>
                </a:solidFill>
                <a:latin typeface="Arial"/>
                <a:ea typeface="Arial"/>
              </a:rPr>
              <a:t>96</a:t>
            </a:r>
            <a:r>
              <a:rPr lang="en-US" sz="1275" b="1">
                <a:solidFill>
                  <a:srgbClr val="99BDED"/>
                </a:solidFill>
                <a:latin typeface="Arial"/>
                <a:ea typeface="Arial"/>
              </a:rPr>
              <a:t xml:space="preserve"> </a:t>
            </a:r>
            <a:r>
              <a:rPr lang="zh-CN" sz="1275" b="1">
                <a:solidFill>
                  <a:srgbClr val="99BDED"/>
                </a:solidFill>
                <a:latin typeface="Arial"/>
                <a:ea typeface="Arial"/>
              </a:rPr>
              <a:t>判据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725025" y="3962400"/>
            <a:ext cx="178117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规模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53→1024 · heavy-hex 91 qubit ·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统一拓扑框架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571500" y="5153025"/>
            <a:ext cx="11125200" cy="113347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533400" y="5153025"/>
            <a:ext cx="11163300" cy="1133475"/>
          </a:xfrm>
          <a:custGeom>
            <a:pathLst>
              <a:path w="1172" h="119">
                <a:moveTo>
                  <a:pt x="0" y="0"/>
                </a:moveTo>
                <a:lnTo>
                  <a:pt x="4" y="0"/>
                </a:lnTo>
                <a:lnTo>
                  <a:pt x="4" y="119"/>
                </a:lnTo>
                <a:lnTo>
                  <a:pt x="0" y="119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62000" y="5381625"/>
            <a:ext cx="107061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061F32"/>
                </a:solidFill>
                <a:latin typeface="Arial"/>
                <a:ea typeface="Arial"/>
              </a:rPr>
              <a:t>判断：判据增长不是堆数量，而是</a:t>
            </a:r>
            <a:r>
              <a:rPr lang="zh-CN" sz="1500" b="1">
                <a:solidFill>
                  <a:srgbClr val="061F32"/>
                </a:solidFill>
                <a:latin typeface="Arial"/>
                <a:ea typeface="Arial"/>
              </a:rPr>
              <a:t>每一段都新增了一类真实约束</a:t>
            </a:r>
            <a:r>
              <a:rPr lang="zh-CN" sz="1500">
                <a:solidFill>
                  <a:srgbClr val="061F32"/>
                </a:solidFill>
                <a:latin typeface="Arial"/>
                <a:ea typeface="Arial"/>
              </a:rPr>
              <a:t>——几何与物理（</a:t>
            </a:r>
            <a:r>
              <a:rPr lang="en-US" sz="1500">
                <a:solidFill>
                  <a:srgbClr val="061F32"/>
                </a:solidFill>
                <a:latin typeface="Arial"/>
                <a:ea typeface="Arial"/>
              </a:rPr>
              <a:t>S1–S3</a:t>
            </a:r>
            <a:r>
              <a:rPr lang="zh-CN" sz="1500">
                <a:solidFill>
                  <a:srgbClr val="061F32"/>
                </a:solidFill>
                <a:latin typeface="Arial"/>
                <a:ea typeface="Arial"/>
              </a:rPr>
              <a:t>）、读出与损耗（</a:t>
            </a:r>
            <a:r>
              <a:rPr lang="en-US" sz="1500">
                <a:solidFill>
                  <a:srgbClr val="061F32"/>
                </a:solidFill>
                <a:latin typeface="Arial"/>
                <a:ea typeface="Arial"/>
              </a:rPr>
              <a:t>S4</a:t>
            </a:r>
            <a:r>
              <a:rPr lang="zh-CN" sz="1500">
                <a:solidFill>
                  <a:srgbClr val="061F32"/>
                </a:solidFill>
                <a:latin typeface="Arial"/>
                <a:ea typeface="Arial"/>
              </a:rPr>
              <a:t>）、规模与拓扑（</a:t>
            </a:r>
            <a:r>
              <a:rPr lang="en-US" sz="1500">
                <a:solidFill>
                  <a:srgbClr val="061F32"/>
                </a:solidFill>
                <a:latin typeface="Arial"/>
                <a:ea typeface="Arial"/>
              </a:rPr>
              <a:t>S5</a:t>
            </a:r>
            <a:r>
              <a:rPr lang="zh-CN" sz="1500">
                <a:solidFill>
                  <a:srgbClr val="061F32"/>
                </a:solidFill>
                <a:latin typeface="Arial"/>
                <a:ea typeface="Arial"/>
              </a:rPr>
              <a:t>）。判据长不出来的能力，等于没有。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33400" y="6343650"/>
            <a:ext cx="7324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run_schip_s1_smoke.py … run_schip_s5_smoke.py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21/24/28/31/96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）·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突变探针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scripts/d_sc_s5_probe.py 18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组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533400" y="6505575"/>
            <a:ext cx="7324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Footnote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：全部判据为机器可判的死标量比对，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LLM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不进判决路径。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2490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27" name="" descr="&lt;Slide style={{ width: 1280, height: 720, padding: '82px 96px', background: '#062032', fontFamily: 'Arial, &quot;PingFang SC&quot;, &quot;Microsoft YaHei&quot;, &quot;Noto Sans SC&quot;, sans-serif', flexDirection: 'row', alignItems: 'center', gap: 60 }}&gt;&#10;  &lt;Text style={{ fontSize: 264, fontWeight: 'bold', color: 'rgba(255,255,255,0.10)', lineHeight: 0.9 }}&gt;02&lt;/Text&gt;&#10;  &lt;Box style={{ flexDirection: 'column', gap: 18 }}&gt;&#10;    &lt;Text style={{ fontSize: 46, fontWeight: 'bold', color: '#FFFFFF', lineHeight: 1.2 }}&gt;技术结果与先进性&lt;/Text&gt;&#10;    &lt;Text style={{ fontSize: 21, color: '#99BDED', letterSpacing: 3 }}&gt;EVIDENCE &amp;amp; POSITIONING&lt;/Text&gt;&#10;    &lt;Box style={{ width: 96, height: 3, background: '#44546A', marginTop: 8 }} /&gt;&#10;    &lt;Text style={{ fontSize: 19, color: '#99BDED', lineHeight: 1.6 }}&gt;结果必须能复核，定位必须不同台比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14400" y="2066925"/>
            <a:ext cx="2800350" cy="27241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9800" b="1">
                <a:solidFill>
                  <a:srgbClr val="FFFFFF">
                    <a:alpha val="10000"/>
                  </a:srgbClr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286250" y="2505075"/>
            <a:ext cx="3505200" cy="638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Arial"/>
                <a:ea typeface="Arial"/>
              </a:rPr>
              <a:t>技术结果与先进性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286250" y="3314700"/>
            <a:ext cx="3505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225">
                <a:solidFill>
                  <a:srgbClr val="99BDED"/>
                </a:solidFill>
                <a:latin typeface="Arial"/>
                <a:ea typeface="Arial"/>
              </a:rPr>
              <a:t>EVIDENCE &amp; POSITIONING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4286250" y="3810000"/>
            <a:ext cx="914400" cy="2857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286250" y="4010025"/>
            <a:ext cx="35052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99BDED"/>
                </a:solidFill>
                <a:latin typeface="Arial"/>
                <a:ea typeface="Arial"/>
              </a:rPr>
              <a:t>结果必须能复核，定位必须不同台比。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4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3, fontWeight: 'bold', color: '#061F32', lineHeight: 1.15 }}&gt;全链路签核由六道工序串成，每道都有机器可判的拒绝条件&lt;/Text&gt;&#10;    &lt;Text style={{ fontSize: 15, color: '#808080', paddingTop: 10 }}&gt;第 2 章 · 工序&lt;/Text&gt;&#10;  &lt;/Box&gt;&#10;  &lt;Box style={{ height: 1, background: '#061F32', marginTop: 8 }} /&gt;&#10;&#10;  &lt;Box style={{ height: 537, marginTop: 12, flexDirection: 'row', gap: 26 }}&gt;&#10;    &lt;Box style={{ flex: 2, flexDirection: 'column', gap: 12 }}&gt;&#10;      &lt;Box style={{ height: 232, flexDirection: 'row', alignItems: 'stretch' }}&gt;&#10;        &lt;Box style={{ flex: 1, background: '#061F32', padding: '16px 14px', flexDirection: 'column', gap: 8 }}&gt;&#10;          &lt;Text style={{ fontSize: 15, fontWeight: 'bold', color: '#08A6F6' }}&gt;工序 1&lt;/Text&gt;&#10;          &lt;Text style={{ fontSize: 22, fontWeight: 'bold', color: '#FFFFFF' }}&gt;P&amp;amp;R 布局&lt;/Text&gt;&#10;          &lt;Text style={{ fontSize: 15, color: '#E7E6E6', lineHeight: 1.45 }}&gt;比特单元摆放 + 网格/重六边形拓扑生成 + 规模自洽 pitch&lt;/Text&gt;&#10;          &lt;Text style={{ fontSize: 14, color: '#99BDED', lineHeight: 1.4 }}&gt;REJECT：节点间距 / 最大度超限&lt;/Text&gt;&#10;        &lt;/Box&gt;&#10;        &lt;Box style={{ width: 20, justifyContent: 'center', alignItems: 'center' }}&gt;&#10;          &lt;svg width={16} height={16} viewBox='0 0 16 16'&gt;&lt;path d='M2 8h10M8 3l5 5-5 5' fill='none' stroke='#808080' strokeWidth='2' /&gt;&lt;/svg&gt;&#10;        &lt;/Box&gt;&#10;        &lt;Box style={{ flex: 1, background: '#F5F5F5', padding: '16px 14px', flexDirection: 'column', gap: 8 }}&gt;&#10;          &lt;Text style={{ fontSize: 15, fontWeight: 'bold', color: '#001965' }}&gt;工序 2&lt;/Text&gt;&#10;          &lt;Text style={{ fontSize: 22, fontWeight: 'bold', color: '#061F32' }}&gt;布线路由&lt;/Text&gt;&#10;          &lt;Text style={{ fontSize: 15, color: '#44546A', lineHeight: 1.45 }}&gt;梳状 Manhattan 单层路由 + 行馈线 + 焊盘列 + 沟道地&lt;/Text&gt;&#10;          &lt;Text style={{ fontSize: 14, color: '#001965', lineHeight: 1.4 }}&gt;REJECT：线间距 / 焊盘间距 / 沟道间隙 / 焊盘宽度&lt;/Text&gt;&#10;        &lt;/Box&gt;&#10;        &lt;Box style={{ width: 20, justifyContent: 'center', alignItems: 'center' }}&gt;&#10;          &lt;svg width={16} height={16} viewBox='0 0 16 16'&gt;&lt;path d='M2 8h10M8 3l5 5-5 5' fill='none' stroke='#808080' strokeWidth='2' /&gt;&lt;/svg&gt;&#10;        &lt;/Box&gt;&#10;        &lt;Box style={{ flex: 1, background: '#F5F5F5', padding: '16px 14px', flexDirection: 'column', gap: 8 }}&gt;&#10;          &lt;Text style={{ fontSize: 15, fontWeight: 'bold', color: '#001965' }}&gt;工序 3&lt;/Text&gt;&#10;          &lt;Text style={{ fontSize: 22, fontWeight: 'bold', color: '#061F32' }}&gt;几何 DRC / LVS&lt;/Text&gt;&#10;          &lt;Text style={{ fontSize: 15, color: '#44546A', lineHeight: 1.45 }}&gt;线宽/间隙/JJ 尺寸/短接 + 多网连通性（段感知，不误判拐角）&lt;/Text&gt;&#10;          &lt;Text style={{ fontSize: 14, color: '#001965', lineHeight: 1.4 }}&gt;REJECT：14 条 DRC 规则 / 11 条 LVS 判据&lt;/Text&gt;&#10;        &lt;/Box&gt;&#10;      &lt;/Box&gt;&#10;&#10;      &lt;Box style={{ height: 18, flexDirection: 'row', alignItems: 'center', paddingLeft: 8 }}&gt;&#10;        &lt;svg width={18} height={18} viewBox='0 0 18 18'&gt;&lt;path d='M9 2v11M4 9l5 5 5-5' fill='none' stroke='#808080' strokeWidth='2' /&gt;&lt;/svg&gt;&#10;        &lt;Text style={{ fontSize: 15, color: '#808080', marginLeft: 8 }}&gt;版图合法后进入物理域&lt;/Text&gt;&#10;      &lt;/Box&gt;&#10;&#10;      &lt;Box style={{ height: 232, flexDirection: 'row', alignItems: 'stretch' }}&gt;&#10;        &lt;Box style={{ flex: 1, background: '#F5F5F5', padding: '16px 14px', flexDirection: 'column', gap: 8 }}&gt;&#10;          &lt;Text style={{ fontSize: 15, fontWeight: 'bold', color: '#001965' }}&gt;工序 4&lt;/Text&gt;&#10;          &lt;Text style={{ fontSize: 22, fontWeight: 'bold', color: '#061F32' }}&gt;频率避撞&lt;/Text&gt;&#10;          &lt;Text style={{ fontSize: 15, color: '#44546A', lineHeight: 1.45 }}&gt;逐比特频率分配 + 显式规避 ZZ 极点（|‖Δ‖−|α|| 下限）&lt;/Text&gt;&#10;          &lt;Text style={{ fontSize: 14, color: '#001965', lineHeight: 1.4 }}&gt;REJECT：近邻/相邻失谐 / 共振极点&lt;/Text&gt;&#10;        &lt;/Box&gt;&#10;        &lt;Box style={{ width: 20, justifyContent: 'center', alignItems: 'center' }}&gt;&#10;          &lt;svg width={16} height={16} viewBox='0 0 16 16'&gt;&lt;path d='M2 8h10M8 3l5 5-5 5' fill='none' stroke='#808080' strokeWidth='2' /&gt;&lt;/svg&gt;&#10;        &lt;/Box&gt;&#10;        &lt;Box style={{ flex: 1, background: '#F5F5F5', padding: '16px 14px', flexDirection: 'column', gap: 8 }}&gt;&#10;          &lt;Text style={{ fontSize: 15, fontWeight: 'bold', color: '#001965' }}&gt;工序 5&lt;/Text&gt;&#10;          &lt;Text style={{ fontSize: 22, fontWeight: 'bold', color: '#061F32' }}&gt;串扰 / 损耗预算&lt;/Text&gt;&#10;          &lt;Text style={{ fontSize: 15, color: '#44546A', lineHeight: 1.45 }}&gt;全 pair 杂散 ZZ + 参与比 + Purcell + 封装腔模规避&lt;/Text&gt;&#10;          &lt;Text style={{ fontSize: 14, color: '#001965', lineHeight: 1.4 }}&gt;REJECT：杂散超上限 / T1 低于目标&lt;/Text&gt;&#10;        &lt;/Box&gt;&#10;        &lt;Box style={{ width: 20, justifyContent: 'center', alignItems: 'center' }}&gt;&#10;          &lt;svg width={16} height={16} viewBox='0 0 16 16'&gt;&lt;path d='M2 8h10M8 3l5 5-5 5' fill='none' stroke='#808080' strokeWidth='2' /&gt;&lt;/svg&gt;&#10;        &lt;/Box&gt;&#10;        &lt;Box style={{ flex: 1, background: '#061F32', padding: '16px 14px', flexDirection: 'column', gap: 8 }}&gt;&#10;          &lt;Text style={{ fontSize: 15, fontWeight: 'bold', color: '#08A6F6' }}&gt;工序 6&lt;/Text&gt;&#10;          &lt;Text style={{ fontSize: 22, fontWeight: 'bold', color: '#FFFFFF' }}&gt;GDS 导出&lt;/Text&gt;&#10;          &lt;Text style={{ fontSize: 15, color: '#E7E6E6', lineHeight: 1.45 }}&gt;平台自写 GDSII 编码器直出（层 10 / 11 / 12），零外部依赖&lt;/Text&gt;&#10;          &lt;Text style={{ fontSize: 14, color: '#99BDED', lineHeight: 1.4 }}&gt;产出：8 组配置 × .gds / .svg / report&lt;/Text&gt;&#10;        &lt;/Box&gt;&#10;      &lt;/Box&gt;&#10;    &lt;/Box&gt;&#10;&#10;    &lt;Box style={{ flex: 1, flexDirection: 'column', gap: 14, paddingTop: 34 }}&gt;&#10;      &lt;Text style={{ fontSize: 19, fontWeight: 'bold', color: '#061F32' }}&gt;为什么这条链值得看&lt;/Text&gt;&#10;      &lt;Box style={{ width: 44, height: 3, background: '#08A6F6' }} /&gt;&#10;      &lt;Text style={{ fontSize: 17, color: '#44546A', lineHeight: 1.55 }}&gt;很多设计流程只在最后做一次整体检查，中间环节靠人工经验。这里每一道工序都有&lt;span style={{ fontWeight: 'bold', color: '#061F32' }}&gt;自己的拒绝条件&lt;/span&gt;，问题在产生的那一步就被拦下。&lt;/Text&gt;&#10;      &lt;Text style={{ fontSize: 17, color: '#44546A', lineHeight: 1.55 }}&gt;工序 1–3 是几何域，工序 4–5 是物理域，工序 6 是交付域。&lt;span style={{ fontWeight: 'bold', color: '#061F32' }}&gt;跨域串联&lt;/span&gt;，是「能设计」和「能交付」的分界。&lt;/Text&gt;&#10;      &lt;Box style={{ background: '#E7E6E6', borderLeft: '4px solid #061F32', padding: '12px 16px' }}&gt;&#10;        &lt;Text style={{ fontSize: 16, color: '#061F32', lineHeight: 1.5 }}&gt;六道工序全部通过，才允许出 GDS。&lt;/Text&gt;&#10;      &lt;/Box&gt;&#10;    &lt;/Box&gt;&#10;  &lt;/Box&gt;&#10;&#10;  &lt;Box style={{ height: 40, flexDirection: 'row', justifyContent: 'space-between', alignItems: 'flex-end' }}&gt;&#10;    &lt;Box style={{ flexDirection: 'column' }}&gt;&#10;      &lt;Text style={{ fontSize: 14, color: '#808080' }}&gt;Source：sc_routing / sc_array / sc_topology_core / sc_freq_alloc / sc_readout（DRC 14 规则 · LVS 11 判据）&lt;/Text&gt;&#10;      &lt;Text style={{ fontSize: 14, color: '#808080' }}&gt;Footnote：DRC 限值为平台自建设计规则，未对接任何 foundry PDK deck。&lt;/Text&gt;&#10;    &lt;/Box&gt;&#10;    &lt;Text style={{ fontSize: 14, color: '#808080' }}&gt;07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8172450" cy="438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全链路签核由六道工序串成，每道都有机器可判的拒绝条件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0791825" y="419100"/>
            <a:ext cx="866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第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2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章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工序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533400" y="1171575"/>
            <a:ext cx="2286000" cy="22098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66750" y="13239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A6F6"/>
                </a:solidFill>
                <a:latin typeface="Arial"/>
                <a:ea typeface="Arial"/>
              </a:rPr>
              <a:t>工序</a:t>
            </a:r>
            <a:r>
              <a:rPr lang="en-US" sz="1125" b="1">
                <a:solidFill>
                  <a:srgbClr val="08A6F6"/>
                </a:solidFill>
                <a:latin typeface="Arial"/>
                <a:ea typeface="Arial"/>
              </a:rPr>
              <a:t xml:space="preserve"> 1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66750" y="15716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/>
                <a:ea typeface="Arial"/>
              </a:rPr>
              <a:t xml:space="preserve">P&amp;R </a:t>
            </a: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布局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66750" y="1905000"/>
            <a:ext cx="2019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E7E6E6"/>
                </a:solidFill>
                <a:latin typeface="Arial"/>
                <a:ea typeface="Arial"/>
              </a:rPr>
              <a:t>比特单元摆放</a:t>
            </a:r>
            <a:r>
              <a:rPr lang="en-US" sz="1125">
                <a:solidFill>
                  <a:srgbClr val="E7E6E6"/>
                </a:solidFill>
                <a:latin typeface="Arial"/>
                <a:ea typeface="Arial"/>
              </a:rPr>
              <a:t xml:space="preserve"> + </a:t>
            </a:r>
            <a:r>
              <a:rPr lang="zh-CN" sz="1125">
                <a:solidFill>
                  <a:srgbClr val="E7E6E6"/>
                </a:solidFill>
                <a:latin typeface="Arial"/>
                <a:ea typeface="Arial"/>
              </a:rPr>
              <a:t>网格</a:t>
            </a:r>
            <a:r>
              <a:rPr lang="en-US" sz="1125">
                <a:solidFill>
                  <a:srgbClr val="E7E6E6"/>
                </a:solidFill>
                <a:latin typeface="Arial"/>
                <a:ea typeface="Arial"/>
              </a:rPr>
              <a:t>/</a:t>
            </a:r>
            <a:r>
              <a:rPr lang="zh-CN" sz="1125">
                <a:solidFill>
                  <a:srgbClr val="E7E6E6"/>
                </a:solidFill>
                <a:latin typeface="Arial"/>
                <a:ea typeface="Arial"/>
              </a:rPr>
              <a:t>重六边形拓扑生成</a:t>
            </a:r>
            <a:r>
              <a:rPr lang="en-US" sz="1125">
                <a:solidFill>
                  <a:srgbClr val="E7E6E6"/>
                </a:solidFill>
                <a:latin typeface="Arial"/>
                <a:ea typeface="Arial"/>
              </a:rPr>
              <a:t xml:space="preserve"> + </a:t>
            </a:r>
            <a:r>
              <a:rPr lang="zh-CN" sz="1125">
                <a:solidFill>
                  <a:srgbClr val="E7E6E6"/>
                </a:solidFill>
                <a:latin typeface="Arial"/>
                <a:ea typeface="Arial"/>
              </a:rPr>
              <a:t>规模自洽</a:t>
            </a:r>
            <a:r>
              <a:rPr lang="en-US" sz="1125">
                <a:solidFill>
                  <a:srgbClr val="E7E6E6"/>
                </a:solidFill>
                <a:latin typeface="Arial"/>
                <a:ea typeface="Arial"/>
              </a:rPr>
              <a:t xml:space="preserve"> pitch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66750" y="2486025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050">
                <a:solidFill>
                  <a:srgbClr val="99BDED"/>
                </a:solidFill>
                <a:latin typeface="Arial"/>
                <a:ea typeface="Arial"/>
              </a:rPr>
              <a:t>REJECT</a:t>
            </a:r>
            <a:r>
              <a:rPr lang="zh-CN" sz="1050">
                <a:solidFill>
                  <a:srgbClr val="99BDED"/>
                </a:solidFill>
                <a:latin typeface="Arial"/>
                <a:ea typeface="Arial"/>
              </a:rPr>
              <a:t>：节点间距</a:t>
            </a:r>
            <a:r>
              <a:rPr lang="en-US" sz="1050">
                <a:solidFill>
                  <a:srgbClr val="99BDED"/>
                </a:solidFill>
                <a:latin typeface="Arial"/>
                <a:ea typeface="Arial"/>
              </a:rPr>
              <a:t xml:space="preserve"> / </a:t>
            </a:r>
            <a:r>
              <a:rPr lang="zh-CN" sz="1050">
                <a:solidFill>
                  <a:srgbClr val="99BDED"/>
                </a:solidFill>
                <a:latin typeface="Arial"/>
                <a:ea typeface="Arial"/>
              </a:rPr>
              <a:t>最大度超限</a:t>
            </a:r>
            <a:endParaRPr/>
          </a:p>
        </p:txBody>
      </p:sp>
      <p:pic>
        <p:nvPicPr>
          <p:cNvPr id="244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838450" y="2200275"/>
            <a:ext cx="152400" cy="152400"/>
          </a:xfrm>
          <a:prstGeom prst="rect">
            <a:avLst/>
          </a:prstGeom>
          <a:ln/>
        </p:spPr>
      </p:pic>
      <p:sp>
        <p:nvSpPr>
          <p:cNvPr id="245" name=""/>
          <p:cNvSpPr/>
          <p:nvPr/>
        </p:nvSpPr>
        <p:spPr>
          <a:xfrm rot="0" flipH="0" flipV="0">
            <a:off x="3009900" y="1171575"/>
            <a:ext cx="2295525" cy="2209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143250" y="1323975"/>
            <a:ext cx="2028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Arial"/>
                <a:ea typeface="Arial"/>
              </a:rPr>
              <a:t>工序</a:t>
            </a:r>
            <a:r>
              <a:rPr lang="en-US" sz="1125" b="1">
                <a:solidFill>
                  <a:srgbClr val="001965"/>
                </a:solidFill>
                <a:latin typeface="Arial"/>
                <a:ea typeface="Arial"/>
              </a:rPr>
              <a:t xml:space="preserve"> 2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143250" y="1571625"/>
            <a:ext cx="2028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布线路由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143250" y="1905000"/>
            <a:ext cx="20288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梳状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Manhattan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单层路由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+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行馈线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+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焊盘列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+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沟道地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143250" y="2486025"/>
            <a:ext cx="20288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>REJECT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：线间距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/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焊盘间距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/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沟道间隙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/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焊盘宽度</a:t>
            </a:r>
            <a:endParaRPr/>
          </a:p>
        </p:txBody>
      </p:sp>
      <p:pic>
        <p:nvPicPr>
          <p:cNvPr id="250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24475" y="2200275"/>
            <a:ext cx="152400" cy="152400"/>
          </a:xfrm>
          <a:prstGeom prst="rect">
            <a:avLst/>
          </a:prstGeom>
          <a:ln/>
        </p:spPr>
      </p:pic>
      <p:sp>
        <p:nvSpPr>
          <p:cNvPr id="251" name=""/>
          <p:cNvSpPr/>
          <p:nvPr/>
        </p:nvSpPr>
        <p:spPr>
          <a:xfrm rot="0" flipH="0" flipV="0">
            <a:off x="5495925" y="1171575"/>
            <a:ext cx="2286000" cy="2209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629275" y="13239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Arial"/>
                <a:ea typeface="Arial"/>
              </a:rPr>
              <a:t>工序</a:t>
            </a:r>
            <a:r>
              <a:rPr lang="en-US" sz="1125" b="1">
                <a:solidFill>
                  <a:srgbClr val="001965"/>
                </a:solidFill>
                <a:latin typeface="Arial"/>
                <a:ea typeface="Arial"/>
              </a:rPr>
              <a:t xml:space="preserve"> 3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629275" y="157162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几何</a:t>
            </a:r>
            <a:r>
              <a:rPr lang="en-US" sz="1650" b="1">
                <a:solidFill>
                  <a:srgbClr val="061F32"/>
                </a:solidFill>
                <a:latin typeface="Arial"/>
                <a:ea typeface="Arial"/>
              </a:rPr>
              <a:t xml:space="preserve"> DRC / LVS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629275" y="1905000"/>
            <a:ext cx="2019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线宽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>/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间隙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/JJ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尺寸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>/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短接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+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多网连通性（段感知，不误判拐角）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629275" y="2486025"/>
            <a:ext cx="2019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>REJECT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14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条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DRC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规则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/ 11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条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LVS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判据</a:t>
            </a:r>
            <a:endParaRPr/>
          </a:p>
        </p:txBody>
      </p:sp>
      <p:pic>
        <p:nvPicPr>
          <p:cNvPr id="256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495675"/>
            <a:ext cx="171450" cy="171450"/>
          </a:xfrm>
          <a:prstGeom prst="rect">
            <a:avLst/>
          </a:prstGeom>
          <a:ln/>
        </p:spPr>
      </p:pic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57250" y="349567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版图合法后进入物理域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533400" y="3781425"/>
            <a:ext cx="2286000" cy="2209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66750" y="393382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Arial"/>
                <a:ea typeface="Arial"/>
              </a:rPr>
              <a:t>工序</a:t>
            </a:r>
            <a:r>
              <a:rPr lang="en-US" sz="1125" b="1">
                <a:solidFill>
                  <a:srgbClr val="001965"/>
                </a:solidFill>
                <a:latin typeface="Arial"/>
                <a:ea typeface="Arial"/>
              </a:rPr>
              <a:t xml:space="preserve"> 4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66750" y="418147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频率避撞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66750" y="4514850"/>
            <a:ext cx="20193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逐比特频率分配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+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显式规避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ZZ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极点（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|‖Δ‖−|α||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下限）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66750" y="5095875"/>
            <a:ext cx="2019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>REJECT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：近邻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>/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相邻失谐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/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共振极点</a:t>
            </a:r>
            <a:endParaRPr/>
          </a:p>
        </p:txBody>
      </p:sp>
      <p:pic>
        <p:nvPicPr>
          <p:cNvPr id="263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838450" y="4810125"/>
            <a:ext cx="152400" cy="152400"/>
          </a:xfrm>
          <a:prstGeom prst="rect">
            <a:avLst/>
          </a:prstGeom>
          <a:ln/>
        </p:spPr>
      </p:pic>
      <p:sp>
        <p:nvSpPr>
          <p:cNvPr id="264" name=""/>
          <p:cNvSpPr/>
          <p:nvPr/>
        </p:nvSpPr>
        <p:spPr>
          <a:xfrm rot="0" flipH="0" flipV="0">
            <a:off x="3009900" y="3781425"/>
            <a:ext cx="2295525" cy="2209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143250" y="3933825"/>
            <a:ext cx="2028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Arial"/>
                <a:ea typeface="Arial"/>
              </a:rPr>
              <a:t>工序</a:t>
            </a:r>
            <a:r>
              <a:rPr lang="en-US" sz="1125" b="1">
                <a:solidFill>
                  <a:srgbClr val="001965"/>
                </a:solidFill>
                <a:latin typeface="Arial"/>
                <a:ea typeface="Arial"/>
              </a:rPr>
              <a:t xml:space="preserve"> 5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3143250" y="4181475"/>
            <a:ext cx="2028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串扰</a:t>
            </a:r>
            <a:r>
              <a:rPr lang="en-US" sz="1650" b="1">
                <a:solidFill>
                  <a:srgbClr val="061F32"/>
                </a:solidFill>
                <a:latin typeface="Arial"/>
                <a:ea typeface="Arial"/>
              </a:rPr>
              <a:t xml:space="preserve"> / </a:t>
            </a:r>
            <a:r>
              <a:rPr lang="zh-CN" sz="1650" b="1">
                <a:solidFill>
                  <a:srgbClr val="061F32"/>
                </a:solidFill>
                <a:latin typeface="Arial"/>
                <a:ea typeface="Arial"/>
              </a:rPr>
              <a:t>损耗预算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143250" y="4514850"/>
            <a:ext cx="20288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全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pair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杂散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ZZ +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参与比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+ Purcell +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封装腔模规避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143250" y="5095875"/>
            <a:ext cx="20288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>REJECT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：杂散超上限</a:t>
            </a:r>
            <a:r>
              <a:rPr lang="en-US" sz="1050">
                <a:solidFill>
                  <a:srgbClr val="001965"/>
                </a:solidFill>
                <a:latin typeface="Arial"/>
                <a:ea typeface="Arial"/>
              </a:rPr>
              <a:t xml:space="preserve"> / T1 </a:t>
            </a:r>
            <a:r>
              <a:rPr lang="zh-CN" sz="1050">
                <a:solidFill>
                  <a:srgbClr val="001965"/>
                </a:solidFill>
                <a:latin typeface="Arial"/>
                <a:ea typeface="Arial"/>
              </a:rPr>
              <a:t>低于目标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24475" y="4810125"/>
            <a:ext cx="152400" cy="152400"/>
          </a:xfrm>
          <a:prstGeom prst="rect">
            <a:avLst/>
          </a:prstGeom>
          <a:ln/>
        </p:spPr>
      </p:pic>
      <p:sp>
        <p:nvSpPr>
          <p:cNvPr id="270" name=""/>
          <p:cNvSpPr/>
          <p:nvPr/>
        </p:nvSpPr>
        <p:spPr>
          <a:xfrm rot="0" flipH="0" flipV="0">
            <a:off x="5495925" y="3781425"/>
            <a:ext cx="2286000" cy="22098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5629275" y="393382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8A6F6"/>
                </a:solidFill>
                <a:latin typeface="Arial"/>
                <a:ea typeface="Arial"/>
              </a:rPr>
              <a:t>工序</a:t>
            </a:r>
            <a:r>
              <a:rPr lang="en-US" sz="1125" b="1">
                <a:solidFill>
                  <a:srgbClr val="08A6F6"/>
                </a:solidFill>
                <a:latin typeface="Arial"/>
                <a:ea typeface="Arial"/>
              </a:rPr>
              <a:t xml:space="preserve"> 6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629275" y="4181475"/>
            <a:ext cx="2019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Arial"/>
                <a:ea typeface="Arial"/>
              </a:rPr>
              <a:t xml:space="preserve">GDS </a:t>
            </a: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导出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629275" y="4514850"/>
            <a:ext cx="201930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E7E6E6"/>
                </a:solidFill>
                <a:latin typeface="Arial"/>
                <a:ea typeface="Arial"/>
              </a:rPr>
              <a:t>平台自写</a:t>
            </a:r>
            <a:r>
              <a:rPr lang="en-US" sz="1125">
                <a:solidFill>
                  <a:srgbClr val="E7E6E6"/>
                </a:solidFill>
                <a:latin typeface="Arial"/>
                <a:ea typeface="Arial"/>
              </a:rPr>
              <a:t xml:space="preserve"> GDSII </a:t>
            </a:r>
            <a:r>
              <a:rPr lang="zh-CN" sz="1125">
                <a:solidFill>
                  <a:srgbClr val="E7E6E6"/>
                </a:solidFill>
                <a:latin typeface="Arial"/>
                <a:ea typeface="Arial"/>
              </a:rPr>
              <a:t>编码器直出（层</a:t>
            </a:r>
            <a:r>
              <a:rPr lang="en-US" sz="1125">
                <a:solidFill>
                  <a:srgbClr val="E7E6E6"/>
                </a:solidFill>
                <a:latin typeface="Arial"/>
                <a:ea typeface="Arial"/>
              </a:rPr>
              <a:t xml:space="preserve"> 10 / 11 / 12</a:t>
            </a:r>
            <a:r>
              <a:rPr lang="zh-CN" sz="1125">
                <a:solidFill>
                  <a:srgbClr val="E7E6E6"/>
                </a:solidFill>
                <a:latin typeface="Arial"/>
                <a:ea typeface="Arial"/>
              </a:rPr>
              <a:t>），零外部依赖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629275" y="5343525"/>
            <a:ext cx="2019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99BDED"/>
                </a:solidFill>
                <a:latin typeface="Arial"/>
                <a:ea typeface="Arial"/>
              </a:rPr>
              <a:t>产出：</a:t>
            </a:r>
            <a:r>
              <a:rPr lang="en-US" sz="1050">
                <a:solidFill>
                  <a:srgbClr val="99BDED"/>
                </a:solidFill>
                <a:latin typeface="Arial"/>
                <a:ea typeface="Arial"/>
              </a:rPr>
              <a:t xml:space="preserve">8 </a:t>
            </a:r>
            <a:r>
              <a:rPr lang="zh-CN" sz="1050">
                <a:solidFill>
                  <a:srgbClr val="99BDED"/>
                </a:solidFill>
                <a:latin typeface="Arial"/>
                <a:ea typeface="Arial"/>
              </a:rPr>
              <a:t>组配置</a:t>
            </a:r>
            <a:r>
              <a:rPr lang="en-US" sz="1050">
                <a:solidFill>
                  <a:srgbClr val="99BDED"/>
                </a:solidFill>
                <a:latin typeface="Arial"/>
                <a:ea typeface="Arial"/>
              </a:rPr>
              <a:t xml:space="preserve"> × .gds / .svg / report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029575" y="1495425"/>
            <a:ext cx="3629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为什么这条链值得看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8029575" y="1847850"/>
            <a:ext cx="419100" cy="2857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029575" y="2009775"/>
            <a:ext cx="36290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很多设计流程只在最后做一次整体检查，中间环节靠人工经验。这里每一道工序都有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自己的拒绝条件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，问题在产生的那一步就被拦下。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029575" y="3048000"/>
            <a:ext cx="362902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工序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1–3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是几何域，工序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4–5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是物理域，工序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6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是交付域。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跨域串联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，是「能设计」和「能交付」的分界。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067675" y="4086225"/>
            <a:ext cx="3629025" cy="5048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8029575" y="4086225"/>
            <a:ext cx="3667125" cy="504825"/>
          </a:xfrm>
          <a:custGeom>
            <a:pathLst>
              <a:path w="385" h="53">
                <a:moveTo>
                  <a:pt x="0" y="0"/>
                </a:moveTo>
                <a:lnTo>
                  <a:pt x="4" y="0"/>
                </a:lnTo>
                <a:lnTo>
                  <a:pt x="4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220075" y="4200525"/>
            <a:ext cx="3286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六道工序全部通过，才允许出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GDS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533400" y="6343650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sc_routing / sc_array / sc_topology_core / sc_freq_alloc / sc_readout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DRC 14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规则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· LVS 11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判据）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33400" y="6505575"/>
            <a:ext cx="6505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Footnote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DRC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限值为平台自建设计规则，未对接任何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foundry PDK deck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2490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85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3, fontWeight: 'bold', color: '#061F32', lineHeight: 1.15 }}&gt;物理内核用两条独立路径互验，一致性落在 0.42% 与 4.60%&lt;/Text&gt;&#10;    &lt;Text style={{ fontSize: 15, color: '#808080', paddingTop: 10 }}&gt;第 2 章 · 结果&lt;/Text&gt;&#10;  &lt;/Box&gt;&#10;  &lt;Box style={{ height: 1, background: '#061F32', marginTop: 8 }} /&gt;&#10;&#10;  &lt;Box style={{ height: 537, marginTop: 12, flexDirection: 'row', gap: 28 }}&gt;&#10;    &lt;Box style={{ flex: 2, flexDirection: 'column' }}&gt;&#10;      &lt;Box style={{ height: 44, flexDirection: 'row', alignItems: 'center', background: '#061F32' }}&gt;&#10;        &lt;Text style={{ width: 168, fontSize: 16, fontWeight: 'bold', color: '#FFFFFF', paddingLeft: 12 }}&gt;物理量&lt;/Text&gt;&#10;        &lt;Text style={{ width: 232, fontSize: 16, fontWeight: 'bold', color: '#FFFFFF' }}&gt;路径 A（闭式 / 解析）&lt;/Text&gt;&#10;        &lt;Text style={{ width: 216, fontSize: 16, fontWeight: 'bold', color: '#FFFFFF' }}&gt;路径 B（数值 / 严格对角化）&lt;/Text&gt;&#10;        &lt;Text style={{ flex: 1, fontSize: 16, fontWeight: 'bold', color: '#08A6F6' }}&gt;一致性&lt;/Text&gt;&#10;      &lt;/Box&gt;&#10;      &lt;Box style={{ height: 76, flexDirection: 'row', alignItems: 'center', borderBottom: '1px solid #E7E6E6' }}&gt;&#10;        &lt;Text style={{ width: 168, fontSize: 18, fontWeight: 'bold', color: '#061F32', paddingLeft: 12 }}&gt;f01 比特频率&lt;/Text&gt;&#10;        &lt;Text style={{ width: 232, fontSize: 16, color: '#44546A', lineHeight: 1.4 }}&gt;Koch 闭式&lt;br /&gt;√(8E_J E_C) − E_C&lt;/Text&gt;&#10;        &lt;Text style={{ width: 216, fontSize: 16, color: '#44546A', lineHeight: 1.4 }}&gt;coupler_solver&lt;br /&gt;严格对角化&lt;/Text&gt;&#10;        &lt;Text style={{ flex: 1, fontSize: 24, fontWeight: 'bold', color: '#061F32' }}&gt;0.42%&lt;/Text&gt;&#10;      &lt;/Box&gt;&#10;      &lt;Box style={{ height: 76, flexDirection: 'row', alignItems: 'center', borderBottom: '1px solid #E7E6E6' }}&gt;&#10;        &lt;Text style={{ width: 168, fontSize: 18, fontWeight: 'bold', color: '#061F32', paddingLeft: 12 }}&gt;耦合强度 J&lt;/Text&gt;&#10;        &lt;Text style={{ width: 232, fontSize: 16, color: '#44546A', lineHeight: 1.4 }}&gt;解析闭式 J_c&lt;br /&gt;（电容网络）&lt;/Text&gt;&#10;        &lt;Text style={{ width: 216, fontSize: 16, color: '#44546A', lineHeight: 1.4 }}&gt;严格对角化&lt;br /&gt;（441 维本征）&lt;/Text&gt;&#10;        &lt;Text style={{ flex: 1, fontSize: 24, fontWeight: 'bold', color: '#061F32' }}&gt;≤ 5%&lt;/Text&gt;&#10;      &lt;/Box&gt;&#10;      &lt;Box style={{ height: 76, flexDirection: 'row', alignItems: 'center', borderBottom: '1px solid #E7E6E6' }}&gt;&#10;        &lt;Text style={{ width: 168, fontSize: 18, fontWeight: 'bold', color: '#061F32', paddingLeft: 12 }}&gt;可调耦合器 E_J(Φ)&lt;/Text&gt;&#10;        &lt;Text style={{ width: 232, fontSize: 16, color: '#44546A', lineHeight: 1.4 }}&gt;SQUID 精确闭式&lt;br /&gt;（含结不对称）&lt;/Text&gt;&#10;        &lt;Text style={{ width: 216, fontSize: 16, color: '#44546A', lineHeight: 1.4 }}&gt;数值提取&lt;br /&gt;（近共振有效区）&lt;/Text&gt;&#10;        &lt;Text style={{ flex: 1, fontSize: 24, fontWeight: 'bold', color: '#061F32' }}&gt;4.60%&lt;/Text&gt;&#10;      &lt;/Box&gt;&#10;&#10;      &lt;Box style={{ height: 132, marginTop: 20, background: '#F5F5F5', borderLeft: '4px solid #08A6F6', padding: '16px 20px', flexDirection: 'column', justifyContent: 'center', gap: 8 }}&gt;&#10;        &lt;Text style={{ fontSize: 19, fontWeight: 'bold', color: '#061F32' }}&gt;判决纪律：死标量比对，LLM 不进判决路径&lt;/Text&gt;&#10;        &lt;Text style={{ fontSize: 16, color: '#44546A', lineHeight: 1.5 }}&gt;判决位由数值比较给出；物理定律（能量守恒、幺正性、λ/4 关系）作红线锚；AI 只负责构造与检查，不负责裁定对错。&lt;/Text&gt;&#10;      &lt;/Box&gt;&#10;&#10;      &lt;Box style={{ flex: 1, flexDirection: 'row', alignItems: 'center' }}&gt;&#10;        &lt;Text style={{ fontSize: 16, color: '#808080', lineHeight: 1.5 }}&gt;关键量：J_on 0.400 MHz / J_off 0.0074 MHz（可关比 54.3×）· g_CR 2.59 MHz · t_CR 1.21 µs · σ_zz 0.21 MHz&lt;/Text&gt;&#10;      &lt;/Box&gt;&#10;    &lt;/Box&gt;&#10;&#10;    &lt;Box style={{ flex: 1, flexDirection: 'column', gap: 14, paddingTop: 6 }}&gt;&#10;      &lt;Text style={{ fontSize: 19, fontWeight: 'bold', color: '#061F32' }}&gt;为什么必须双路径&lt;/Text&gt;&#10;      &lt;Box style={{ width: 44, height: 3, background: '#08A6F6' }} /&gt;&#10;      &lt;Text style={{ fontSize: 17, color: '#44546A', lineHeight: 1.55 }}&gt;单一来源的数值无法自证：公式写错、符号错、单位错，都会得到「看起来很合理」的答案。&lt;/Text&gt;&#10;      &lt;Text style={{ fontSize: 17, color: '#44546A', lineHeight: 1.55 }}&gt;两条&lt;span style={{ fontWeight: 'bold', color: '#061F32' }}&gt;方法学独立&lt;/span&gt;的路径互验到 0.42% 与 4.60%，才说明实现是对的，而不是&quot;看起来像对的&quot;。&lt;/Text&gt;&#10;      &lt;Text style={{ fontSize: 17, color: '#44546A', lineHeight: 1.55 }}&gt;这三条一致性不是抽查，是&lt;span style={{ fontWeight: 'bold', color: '#061F32' }}&gt;常驻门禁&lt;/span&gt;——每次回归都会重跑。&lt;/Text&gt;&#10;    &lt;/Box&gt;&#10;  &lt;/Box&gt;&#10;&#10;  &lt;Box style={{ height: 40, flexDirection: 'row', justifyContent: 'space-between', alignItems: 'flex-end' }}&gt;&#10;    &lt;Box style={{ flexDirection: 'column' }}&gt;&#10;      &lt;Text style={{ fontSize: 14, color: '#808080' }}&gt;Source：run_schip_s1/s2_smoke.py（f01 与 J 双验证）· sc_coupler.tunable_coupler_physics（SQUID 闭式 ↔ 数值）&lt;/Text&gt;&#10;      &lt;Text style={{ fontSize: 14, color: '#808080' }}&gt;Footnote：容差口径 f01 5% / J 5% / SQUID 5%；一致性为实测相对偏差。&lt;/Text&gt;&#10;    &lt;/Box&gt;&#10;    &lt;Text style={{ fontSize: 14, color: '#808080' }}&gt;08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8334375" cy="438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物理内核用两条独立路径互验，一致性落在</a:t>
            </a:r>
            <a:r>
              <a:rPr lang="en-US" sz="2475" b="1">
                <a:solidFill>
                  <a:srgbClr val="061F32"/>
                </a:solidFill>
                <a:latin typeface="Arial"/>
                <a:ea typeface="Arial"/>
              </a:rPr>
              <a:t xml:space="preserve"> 0.42% </a:t>
            </a: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与</a:t>
            </a:r>
            <a:r>
              <a:rPr lang="en-US" sz="2475" b="1">
                <a:solidFill>
                  <a:srgbClr val="061F32"/>
                </a:solidFill>
                <a:latin typeface="Arial"/>
                <a:ea typeface="Arial"/>
              </a:rPr>
              <a:t xml:space="preserve"> 4.60%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791825" y="419100"/>
            <a:ext cx="866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第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2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章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结果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533400" y="1171575"/>
            <a:ext cx="7239000" cy="4191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" y="1285875"/>
            <a:ext cx="1600200" cy="19050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物理量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2133600" y="1285875"/>
            <a:ext cx="2209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路径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 xml:space="preserve"> A</a:t>
            </a: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（闭式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解析）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343400" y="1285875"/>
            <a:ext cx="2057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路径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 xml:space="preserve"> B</a:t>
            </a: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（数值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严格对角化）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400800" y="12858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A6F6"/>
                </a:solidFill>
                <a:latin typeface="Arial"/>
                <a:ea typeface="Arial"/>
              </a:rPr>
              <a:t>一致性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533400" y="1590675"/>
            <a:ext cx="7239000" cy="723900"/>
          </a:xfrm>
          <a:custGeom>
            <a:pathLst>
              <a:path w="760" h="76">
                <a:moveTo>
                  <a:pt x="0" y="75"/>
                </a:moveTo>
                <a:lnTo>
                  <a:pt x="760" y="75"/>
                </a:lnTo>
                <a:lnTo>
                  <a:pt x="76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33400" y="1847850"/>
            <a:ext cx="1600200" cy="20955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Arial"/>
                <a:ea typeface="Arial"/>
              </a:rPr>
              <a:t xml:space="preserve">f01 </a:t>
            </a:r>
            <a:r>
              <a:rPr lang="zh-CN" sz="1350" b="1">
                <a:solidFill>
                  <a:srgbClr val="061F32"/>
                </a:solidFill>
                <a:latin typeface="Arial"/>
                <a:ea typeface="Arial"/>
              </a:rPr>
              <a:t>比特频率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2133600" y="16954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Koch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闭式</a:t>
            </a:r>
            <a:endParaRPr/>
          </a:p>
          <a:p>
            <a:pPr>
              <a:lnSpc>
                <a:spcPct val="14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√(8E_J E_C) − E_C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343400" y="1695450"/>
            <a:ext cx="20574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coupler_solver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严格对角化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400800" y="180975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Arial"/>
                <a:ea typeface="Arial"/>
              </a:rPr>
              <a:t>0.42%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533400" y="2314575"/>
            <a:ext cx="7239000" cy="723900"/>
          </a:xfrm>
          <a:custGeom>
            <a:pathLst>
              <a:path w="760" h="76">
                <a:moveTo>
                  <a:pt x="0" y="75"/>
                </a:moveTo>
                <a:lnTo>
                  <a:pt x="760" y="75"/>
                </a:lnTo>
                <a:lnTo>
                  <a:pt x="76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33400" y="2571750"/>
            <a:ext cx="1600200" cy="20955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Arial"/>
                <a:ea typeface="Arial"/>
              </a:rPr>
              <a:t>耦合强度</a:t>
            </a:r>
            <a:r>
              <a:rPr lang="en-US" sz="1350" b="1">
                <a:solidFill>
                  <a:srgbClr val="061F32"/>
                </a:solidFill>
                <a:latin typeface="Arial"/>
                <a:ea typeface="Arial"/>
              </a:rPr>
              <a:t xml:space="preserve"> J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2133600" y="24193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解析闭式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J_c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（电容网络）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343400" y="2419350"/>
            <a:ext cx="20574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严格对角化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441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维本征）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400800" y="253365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Arial"/>
                <a:ea typeface="Arial"/>
              </a:rPr>
              <a:t>≤ 5%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533400" y="3038475"/>
            <a:ext cx="7239000" cy="723900"/>
          </a:xfrm>
          <a:custGeom>
            <a:pathLst>
              <a:path w="760" h="76">
                <a:moveTo>
                  <a:pt x="0" y="75"/>
                </a:moveTo>
                <a:lnTo>
                  <a:pt x="760" y="75"/>
                </a:lnTo>
                <a:lnTo>
                  <a:pt x="76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33400" y="3295650"/>
            <a:ext cx="1600200" cy="20955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Arial"/>
                <a:ea typeface="Arial"/>
              </a:rPr>
              <a:t>可调耦合器</a:t>
            </a:r>
            <a:r>
              <a:rPr lang="en-US" sz="1350" b="1">
                <a:solidFill>
                  <a:srgbClr val="061F32"/>
                </a:solidFill>
                <a:latin typeface="Arial"/>
                <a:ea typeface="Arial"/>
              </a:rPr>
              <a:t xml:space="preserve"> E_J(Φ)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2133600" y="3143250"/>
            <a:ext cx="22098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SQUID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精确闭式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（含结不对称）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343400" y="3143250"/>
            <a:ext cx="20574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数值提取</a:t>
            </a:r>
            <a:endParaRPr/>
          </a:p>
          <a:p>
            <a:pPr>
              <a:lnSpc>
                <a:spcPct val="14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（近共振有效区）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400800" y="325755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Arial"/>
                <a:ea typeface="Arial"/>
              </a:rPr>
              <a:t>4.60%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571500" y="3952875"/>
            <a:ext cx="7239000" cy="12573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533400" y="3952875"/>
            <a:ext cx="7277100" cy="1257300"/>
          </a:xfrm>
          <a:custGeom>
            <a:pathLst>
              <a:path w="764" h="132">
                <a:moveTo>
                  <a:pt x="0" y="0"/>
                </a:moveTo>
                <a:lnTo>
                  <a:pt x="4" y="0"/>
                </a:lnTo>
                <a:lnTo>
                  <a:pt x="4" y="132"/>
                </a:lnTo>
                <a:lnTo>
                  <a:pt x="0" y="132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62000" y="4162425"/>
            <a:ext cx="681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判决纪律：死标量比对，</a:t>
            </a: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 xml:space="preserve">LLM 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不进判决路径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62000" y="4457700"/>
            <a:ext cx="6819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判决位由数值比较给出；物理定律（能量守恒、幺正性、λ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/4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关系）作红线锚；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AI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只负责构造与检查，不负责裁定对错。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33400" y="5476875"/>
            <a:ext cx="7239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关键量：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J_on 0.400 MHz / J_off 0.0074 MHz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（可关比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 xml:space="preserve"> 54.3×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）·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 xml:space="preserve"> g_CR 2.59 MHz · t_CR 1.21 µs · σ_zz 0.21 MHz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039100" y="1228725"/>
            <a:ext cx="3619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为什么必须双路径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8039100" y="1581150"/>
            <a:ext cx="419100" cy="2857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039100" y="1743075"/>
            <a:ext cx="3619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单一来源的数值无法自证：公式写错、符号错、单位错，都会得到「看起来很合理」的答案。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039100" y="2486025"/>
            <a:ext cx="3619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两条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方法学独立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的路径互验到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0.42%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与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4.60%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，才说明实现是对的，而不是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看起来像对的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>"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039100" y="3228975"/>
            <a:ext cx="3619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这三条一致性不是抽查，是</a:t>
            </a: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常驻门禁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——每次回归都会重跑。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33400" y="6343650"/>
            <a:ext cx="702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run_schip_s1/s2_smoke.py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f01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与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J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双验证）·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sc_coupler.tunable_coupler_physics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SQUID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闭式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↔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数值）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33400" y="6505575"/>
            <a:ext cx="702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Footnote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：容差口径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f01 5% / J 5% / SQUID 5%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；一致性为实测相对偏差。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2490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23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3, fontWeight: 'bold', color: '#061F32', lineHeight: 1.15 }}&gt;我们不与产业界比比特数，比的是「可验证的设计链路」&lt;/Text&gt;&#10;    &lt;Text style={{ fontSize: 15, color: '#808080', paddingTop: 10 }}&gt;第 2 章 · 定位&lt;/Text&gt;&#10;  &lt;/Box&gt;&#10;  &lt;Box style={{ height: 1, background: '#061F32', marginTop: 8 }} /&gt;&#10;&#10;  &lt;Box style={{ height: 537, marginTop: 12, flexDirection: 'column', gap: 16 }}&gt;&#10;    &lt;Box style={{ height: 92, flexDirection: 'row', alignItems: 'center', background: '#F5F5F5', padding: '12px 18px', gap: 24 }}&gt;&#10;      &lt;Text style={{ fontSize: 16, fontWeight: 'bold', color: '#061F32', width: 132, lineHeight: 1.4 }}&gt;公开坐标&lt;br /&gt;（已交付芯片）&lt;/Text&gt;&#10;      &lt;Text style={{ fontSize: 17, color: '#44546A', lineHeight: 1.5, flex: 1 }}&gt;&#10;        IBM Heron 156 qubit · Condor 1,121（缩放里程碑）· Nighthawk 120 qubit 方格 4-度；Google Willow 105 qubit · 2024 首次 below-threshold 纠错；中国祖冲之 3.2 107 qubit；Fujitsu+RIKEN 256 qubit；Rigetti/IQM 84–150 qubit。&lt;br /&gt;&#10;        &lt;span style={{ color: '#808080' }}&gt;以上为 2026 年公开报道数字，仅作背景坐标。&lt;/span&gt;&#10;      &lt;/Text&gt;&#10;    &lt;/Box&gt;&#10;&#10;    &lt;Box style={{ flexDirection: 'column', height: 312 }}&gt;&#10;      &lt;Box style={{ height: 42, flexDirection: 'row', alignItems: 'center', background: '#061F32' }}&gt;&#10;        &lt;Text style={{ width: 150, fontSize: 16, fontWeight: 'bold', color: '#FFFFFF', paddingLeft: 12 }}&gt;维度&lt;/Text&gt;&#10;        &lt;Text style={{ flex: 1, fontSize: 16, fontWeight: 'bold', color: '#99BDED' }}&gt;产业界&lt;/Text&gt;&#10;        &lt;Text style={{ flex: 1, fontSize: 16, fontWeight: 'bold', color: '#08A6F6' }}&gt;本案例（LDA-S）&lt;/Text&gt;&#10;      &lt;/Box&gt;&#10;      &lt;Box style={{ height: 54, flexDirection: 'row', alignItems: 'center', borderBottom: '1px solid #E7E6E6' }}&gt;&#10;        &lt;Text style={{ width: 150, fontSize: 17, fontWeight: 'bold', color: '#061F32', paddingLeft: 12 }}&gt;交付物&lt;/Text&gt;&#10;        &lt;Text style={{ flex: 1, fontSize: 16, color: '#44546A' }}&gt;已制备芯片 + 云访问&lt;/Text&gt;&#10;        &lt;Text style={{ flex: 1, fontSize: 16, color: '#061F32' }}&gt;真 GDSII + DRC/LVS + 预算，可复现、可审计&lt;/Text&gt;&#10;      &lt;/Box&gt;&#10;      &lt;Box style={{ height: 54, flexDirection: 'row', alignItems: 'center', borderBottom: '1px solid #E7E6E6' }}&gt;&#10;        &lt;Text style={{ width: 150, fontSize: 17, fontWeight: 'bold', color: '#061F32', paddingLeft: 12 }}&gt;工具链&lt;/Text&gt;&#10;        &lt;Text style={{ flex: 1, fontSize: 16, color: '#44546A' }}&gt;各自闭源 CAD/PDK + Qiskit 等 SDK&lt;/Text&gt;&#10;        &lt;Text style={{ flex: 1, fontSize: 16, color: '#061F32' }}&gt;开源（MIT）· Agent-native · 零量子 SDK&lt;/Text&gt;&#10;      &lt;/Box&gt;&#10;      &lt;Box style={{ height: 54, flexDirection: 'row', alignItems: 'center', borderBottom: '1px solid #E7E6E6' }}&gt;&#10;        &lt;Text style={{ width: 150, fontSize: 17, fontWeight: 'bold', color: '#061F32', paddingLeft: 12 }}&gt;判决路径&lt;/Text&gt;&#10;        &lt;Text style={{ flex: 1, fontSize: 16, color: '#44546A' }}&gt;实验标定 + 数值仿真混合&lt;/Text&gt;&#10;        &lt;Text style={{ flex: 1, fontSize: 16, color: '#061F32' }}&gt;死标量比对 · LLM 不进判决路径&lt;/Text&gt;&#10;      &lt;/Box&gt;&#10;      &lt;Box style={{ height: 54, flexDirection: 'row', alignItems: 'center', borderBottom: '1px solid #E7E6E6' }}&gt;&#10;        &lt;Text style={{ width: 150, fontSize: 17, fontWeight: 'bold', color: '#061F32', paddingLeft: 12 }}&gt;拓扑&lt;/Text&gt;&#10;        &lt;Text style={{ flex: 1, fontSize: 16, color: '#44546A' }}&gt;heavy-hex（Heron）→ Nighthawk 改方格 4-度&lt;/Text&gt;&#10;        &lt;Text style={{ flex: 1, fontSize: 16, color: '#061F32' }}&gt;方阵与 heavy-hex 共用一份 DRC/LVS 引擎&lt;/Text&gt;&#10;      &lt;/Box&gt;&#10;      &lt;Box style={{ height: 54, flexDirection: 'row', alignItems: 'center', borderBottom: '1px solid #E7E6E6' }}&gt;&#10;        &lt;Text style={{ width: 150, fontSize: 17, fontWeight: 'bold', color: '#061F32', paddingLeft: 12 }}&gt;规模口径&lt;/Text&gt;&#10;        &lt;Text style={{ flex: 1, fontSize: 16, color: '#44546A' }}&gt;已交付比特数 156 / 105 / 107&lt;/Text&gt;&#10;        &lt;Text style={{ flex: 1, fontSize: 16, color: '#061F32' }}&gt;版图容量 1024（可排布且可签核）&lt;/Text&gt;&#10;      &lt;/Box&gt;&#10;    &lt;/Box&gt;&#10;&#10;    &lt;Box style={{ flex: 1, flexDirection: 'row', alignItems: 'center', background: '#E7E6E6', borderLeft: '4px solid #061F32', padding: '12px 20px' }}&gt;&#10;      &lt;Text style={{ fontSize: 19, color: '#061F32', lineHeight: 1.5 }}&gt;&#10;        判断：两边口径不同，&lt;span style={{ fontWeight: 'bold' }}&gt;不能直接比数字&lt;/span&gt;。把 1024 读成「已制备 1024 比特芯片」即为失真——我们交付的是设计能力，不是成品器件。&#10;      &lt;/Text&gt;&#10;    &lt;/Box&gt;&#10;  &lt;/Box&gt;&#10;&#10;  &lt;Box style={{ height: 40, flexDirection: 'row', justifyContent: 'space-between', alignItems: 'flex-end' }}&gt;&#10;    &lt;Box style={{ flexDirection: 'column' }}&gt;&#10;      &lt;Text style={{ fontSize: 14, color: '#808080' }}&gt;Source：产业界数字为 2026 年公开报道（IBM / Google / 中国 / Fujitsu+RIKEN / Rigetti / IQM）；本案例数字来自平台门禁&lt;/Text&gt;&#10;      &lt;Text style={{ fontSize: 14, color: '#808080' }}&gt;Footnote：本案例为设计期签核，未流片；不宣称门保真度或相干时间优于任何厂商。&lt;/Text&gt;&#10;    &lt;/Box&gt;&#10;    &lt;Text style={{ fontSize: 14, color: '#808080' }}&gt;09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7858125" cy="438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我们不与产业界比比特数，比的是「可验证的设计链路」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0791825" y="419100"/>
            <a:ext cx="866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第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2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章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定位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533400" y="1171575"/>
            <a:ext cx="11125200" cy="8763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04850" y="1352550"/>
            <a:ext cx="1257300" cy="5143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公开坐标</a:t>
            </a:r>
            <a:endParaRPr/>
          </a:p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（已交付芯片）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2190750" y="1171575"/>
            <a:ext cx="9296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>IBM Heron 156 qubit · Condor 1,121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（缩放里程碑）·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Nighthawk 120 qubit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方格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4-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度；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Google Willow 105 qubit · 2024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首次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below-threshold 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纠错；中国祖冲之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 xml:space="preserve"> 3.2 107 qubit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；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>Fujitsu+RIKEN 256 qubit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；</a:t>
            </a:r>
            <a:r>
              <a:rPr lang="en-US" sz="1275">
                <a:solidFill>
                  <a:srgbClr val="44546A"/>
                </a:solidFill>
                <a:latin typeface="Arial"/>
                <a:ea typeface="Arial"/>
              </a:rPr>
              <a:t>Rigetti/IQM 84–150 qubit</a:t>
            </a:r>
            <a:r>
              <a:rPr lang="zh-CN" sz="1275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  <a:p>
            <a:pPr>
              <a:lnSpc>
                <a:spcPct val="150000"/>
              </a:lnSpc>
            </a:pPr>
            <a:r>
              <a:rPr lang="zh-CN" sz="1275">
                <a:solidFill>
                  <a:srgbClr val="808080"/>
                </a:solidFill>
                <a:latin typeface="Arial"/>
                <a:ea typeface="Arial"/>
              </a:rPr>
              <a:t>以上为</a:t>
            </a:r>
            <a:r>
              <a:rPr lang="en-US" sz="1275">
                <a:solidFill>
                  <a:srgbClr val="808080"/>
                </a:solidFill>
                <a:latin typeface="Arial"/>
                <a:ea typeface="Arial"/>
              </a:rPr>
              <a:t xml:space="preserve"> 2026 </a:t>
            </a:r>
            <a:r>
              <a:rPr lang="zh-CN" sz="1275">
                <a:solidFill>
                  <a:srgbClr val="808080"/>
                </a:solidFill>
                <a:latin typeface="Arial"/>
                <a:ea typeface="Arial"/>
              </a:rPr>
              <a:t>年公开报道数字，仅作背景坐标。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33400" y="2200275"/>
            <a:ext cx="11125200" cy="40005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33400" y="2305050"/>
            <a:ext cx="1428750" cy="190500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维度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962150" y="23050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9BDED"/>
                </a:solidFill>
                <a:latin typeface="Arial"/>
                <a:ea typeface="Arial"/>
              </a:rPr>
              <a:t>产业界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810375" y="23050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8A6F6"/>
                </a:solidFill>
                <a:latin typeface="Arial"/>
                <a:ea typeface="Arial"/>
              </a:rPr>
              <a:t>本案例（</a:t>
            </a:r>
            <a:r>
              <a:rPr lang="en-US" sz="1200" b="1">
                <a:solidFill>
                  <a:srgbClr val="08A6F6"/>
                </a:solidFill>
                <a:latin typeface="Arial"/>
                <a:ea typeface="Arial"/>
              </a:rPr>
              <a:t>LDA-S</a:t>
            </a:r>
            <a:r>
              <a:rPr lang="zh-CN" sz="1200" b="1">
                <a:solidFill>
                  <a:srgbClr val="08A6F6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533400" y="2600325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33400" y="2752725"/>
            <a:ext cx="1428750" cy="2000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交付物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962150" y="27622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已制备芯片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+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云访问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810375" y="27622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真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GDSII + DRC/LVS + 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预算，可复现、可审计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533400" y="3114675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33400" y="3267075"/>
            <a:ext cx="1428750" cy="2000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工具链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962150" y="327660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各自闭源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CAD/PDK + Qiskit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等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SDK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810375" y="327660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开源（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>MIT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）·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Agent-native · 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零量子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SDK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533400" y="3629025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33400" y="3781425"/>
            <a:ext cx="1428750" cy="2000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判决路径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962150" y="37909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实验标定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+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数值仿真混合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810375" y="37909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死标量比对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· LLM 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不进判决路径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533400" y="4143375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33400" y="4295775"/>
            <a:ext cx="1428750" cy="2000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拓扑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962150" y="430530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heavy-hex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Heron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）→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Nighthawk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改方格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4-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度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810375" y="430530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方阵与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heavy-hex 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共用一份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DRC/LVS 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引擎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533400" y="4657725"/>
            <a:ext cx="11125200" cy="514350"/>
          </a:xfrm>
          <a:custGeom>
            <a:pathLst>
              <a:path w="1168" h="54">
                <a:moveTo>
                  <a:pt x="0" y="53"/>
                </a:moveTo>
                <a:lnTo>
                  <a:pt x="1168" y="53"/>
                </a:lnTo>
                <a:lnTo>
                  <a:pt x="1168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7E6E6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33400" y="4810125"/>
            <a:ext cx="1428750" cy="200025"/>
          </a:xfrm>
          <a:prstGeom prst="rect"/>
        </p:spPr>
        <p:txBody>
          <a:bodyPr wrap="none" lIns="85725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Arial"/>
                <a:ea typeface="Arial"/>
              </a:rPr>
              <a:t>规模口径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962150" y="48196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已交付比特数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156 / 105 / 107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810375" y="48196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版图容量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1024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（可排布且可签核）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571500" y="5324475"/>
            <a:ext cx="11125200" cy="9620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533400" y="5324475"/>
            <a:ext cx="11163300" cy="962025"/>
          </a:xfrm>
          <a:custGeom>
            <a:pathLst>
              <a:path w="1172" h="101">
                <a:moveTo>
                  <a:pt x="0" y="0"/>
                </a:moveTo>
                <a:lnTo>
                  <a:pt x="4" y="0"/>
                </a:lnTo>
                <a:lnTo>
                  <a:pt x="4" y="101"/>
                </a:lnTo>
                <a:lnTo>
                  <a:pt x="0" y="101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762000" y="5476875"/>
            <a:ext cx="107061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061F32"/>
                </a:solidFill>
                <a:latin typeface="Arial"/>
                <a:ea typeface="Arial"/>
              </a:rPr>
              <a:t>判断：两边口径不同，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不能直接比数字</a:t>
            </a:r>
            <a:r>
              <a:rPr lang="zh-CN" sz="1425">
                <a:solidFill>
                  <a:srgbClr val="061F32"/>
                </a:solidFill>
                <a:latin typeface="Arial"/>
                <a:ea typeface="Arial"/>
              </a:rPr>
              <a:t>。把</a:t>
            </a:r>
            <a:r>
              <a:rPr lang="en-US" sz="1425">
                <a:solidFill>
                  <a:srgbClr val="061F32"/>
                </a:solidFill>
                <a:latin typeface="Arial"/>
                <a:ea typeface="Arial"/>
              </a:rPr>
              <a:t xml:space="preserve"> 1024 </a:t>
            </a:r>
            <a:r>
              <a:rPr lang="zh-CN" sz="1425">
                <a:solidFill>
                  <a:srgbClr val="061F32"/>
                </a:solidFill>
                <a:latin typeface="Arial"/>
                <a:ea typeface="Arial"/>
              </a:rPr>
              <a:t>读成「已制备</a:t>
            </a:r>
            <a:r>
              <a:rPr lang="en-US" sz="1425">
                <a:solidFill>
                  <a:srgbClr val="061F32"/>
                </a:solidFill>
                <a:latin typeface="Arial"/>
                <a:ea typeface="Arial"/>
              </a:rPr>
              <a:t xml:space="preserve"> 1024 </a:t>
            </a:r>
            <a:r>
              <a:rPr lang="zh-CN" sz="1425">
                <a:solidFill>
                  <a:srgbClr val="061F32"/>
                </a:solidFill>
                <a:latin typeface="Arial"/>
                <a:ea typeface="Arial"/>
              </a:rPr>
              <a:t>比特芯片」即为失真——我们交付的是设计能力，不是成品器件。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33400" y="6343650"/>
            <a:ext cx="7258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：产业界数字为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2026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年公开报道（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IBM / Google /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中国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/ Fujitsu+RIKEN / Rigetti / IQM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）；本案例数字来自平台门禁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33400" y="6505575"/>
            <a:ext cx="7258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Footnote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：本案例为设计期签核，未流片；不宣称门保真度或相干时间优于任何厂商。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2490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padding: '82px 96px', background: '#062032', fontFamily: 'Arial, &quot;PingFang SC&quot;, &quot;Microsoft YaHei&quot;, &quot;Noto Sans SC&quot;, sans-serif', flexDirection: 'row', alignItems: 'center', gap: 60 }}&gt;&#10;  &lt;Text style={{ fontSize: 264, fontWeight: 'bold', color: 'rgba(255,255,255,0.10)', lineHeight: 0.9 }}&gt;03&lt;/Text&gt;&#10;  &lt;Box style={{ flexDirection: 'column', gap: 22 }}&gt;&#10;    &lt;Text style={{ fontSize: 46, fontWeight: 'bold', color: '#FFFFFF', lineHeight: 1.2 }}&gt;案例化与合作路径&lt;/Text&gt;&#10;    &lt;Text style={{ fontSize: 21, color: '#99BDED', letterSpacing: 3 }}&gt;CASE &amp;amp; ACCESS&lt;/Text&gt;&#10;    &lt;Box style={{ width: 96, height: 3, background: '#44546A', marginTop: 8 }} /&gt;&#10;    &lt;Text style={{ fontSize: 19, color: '#99BDED', lineHeight: 1.6 }}&gt;能力已可访问、可复现、可审计——三条路径，任何人都能自己验一遍。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14400" y="2066925"/>
            <a:ext cx="2800350" cy="2724150"/>
          </a:xfrm>
          <a:prstGeom prst="rect"/>
        </p:spPr>
        <p:txBody>
          <a:bodyPr wrap="none" lIns="0" tIns="0" rIns="0" bIns="0"/>
          <a:p>
            <a:pPr>
              <a:lnSpc>
                <a:spcPct val="90000"/>
              </a:lnSpc>
            </a:pPr>
            <a:r>
              <a:rPr lang="en-US" sz="19800" b="1">
                <a:solidFill>
                  <a:srgbClr val="FFFFFF">
                    <a:alpha val="10000"/>
                  </a:srgbClr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286250" y="2447925"/>
            <a:ext cx="5791200" cy="6381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450" b="1">
                <a:solidFill>
                  <a:srgbClr val="FFFFFF"/>
                </a:solidFill>
                <a:latin typeface="Arial"/>
                <a:ea typeface="Arial"/>
              </a:rPr>
              <a:t>案例化与合作路径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286250" y="3295650"/>
            <a:ext cx="5791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spc="225">
                <a:solidFill>
                  <a:srgbClr val="99BDED"/>
                </a:solidFill>
                <a:latin typeface="Arial"/>
                <a:ea typeface="Arial"/>
              </a:rPr>
              <a:t>CASE &amp; ACCESS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4286250" y="3829050"/>
            <a:ext cx="914400" cy="2857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286250" y="4067175"/>
            <a:ext cx="57912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99BDED"/>
                </a:solidFill>
                <a:latin typeface="Arial"/>
                <a:ea typeface="Arial"/>
              </a:rPr>
              <a:t>能力已可访问、可复现、可审计——三条路径，任何人都能自己验一遍。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3, fontWeight: 'bold', color: '#061F32', lineHeight: 1.15 }}&gt;版图不是示意图，是平台自写 GDSII 编码器的直出几何&lt;/Text&gt;&#10;    &lt;Text style={{ fontSize: 15, color: '#808080', paddingTop: 10 }}&gt;第 3 章 · 产出&lt;/Text&gt;&#10;  &lt;/Box&gt;&#10;  &lt;Box style={{ height: 1, background: '#061F32', marginTop: 8 }} /&gt;&#10;&#10;  &lt;Box style={{ height: 537, marginTop: 12, flexDirection: 'row', gap: 26 }}&gt;&#10;    &lt;Box style={{ flex: 16, flexDirection: 'column', gap: 16 }}&gt;&#10;      &lt;Box style={{ height: 340, flexDirection: 'row', gap: 18 }}&gt;&#10;        &lt;Box style={{ flex: 1, border: '1px solid #E7E6E6', borderRadius: 4, padding: 12, flexDirection: 'column', alignItems: 'center', gap: 8 }}&gt;&#10;          &lt;svg width={252} height={252} viewBox='0 0 680 680'&gt;&lt;polygon points=&quot;123.2,342.5 126.9,342.5 126.9,337.5 123.2,337.5&quot; fill=&quot;#2563eb&quot; fill-opacity=&quot;0.7&quot;/&gt;&lt;polygon points=&quot;127.1,342.5 130.8,342.5 130.8,337.5 127.1,337.5&quot; fill=&quot;#2563eb&quot; fill-opacity=&quot;0.7&quot;/&gt;&lt;polygon points=&quot;126.8,340.2 127.3,340.2 127.3,339.8 126.8,339.8&quot; fill=&quot;#e11d48&quot; fill-opacity=&quot;0.7&quot;/&gt;&lt;polyline points=&quot;123.2,340.0 115.6,340.0&quot; fill=&quot;none&quot; stroke=&quot;#2563eb&quot; stroke-width=&quot;2.0&quot;/&gt;&lt;polyline points=&quot;130.8,340.0 138.4,340.0&quot; fill=&quot;none&quot; stroke=&quot;#2563eb&quot; stroke-width=&quot;2.0&quot;/&gt;&lt;polygon points=&quot;229.7,404.0 233.4,404.0 233.4,398.9 229.7,398.9&quot; fill=&quot;#2563eb&quot; fill-opacity=&quot;0.7&quot;/&gt;&lt;polygon points=&quot;233.6,404.0 237.3,404.0 237.3,398.9 233.6,398.9&quot; fill=&quot;#2563eb&quot; fill-opacity=&quot;0.7&quot;/&gt;&lt;polygon points=&quot;233.3,401.7 233.8,401.7 233.8,401.3 233.3,401.3&quot; fill=&quot;#e11d48&quot; fill-opacity=&quot;0.7&quot;/&gt;&lt;polyline points=&quot;229.7,401.5 222.1,401.5&quot; fill=&quot;none&quot; stroke=&quot;#2563eb&quot; stroke-width=&quot;2.0&quot;/&gt;&lt;polyline points=&quot;237.3,401.5 244.9,401.5&quot; fill=&quot;none&quot; stroke=&quot;#2563eb&quot; stroke-width=&quot;2.0&quot;/&gt;&lt;polygon points=&quot;336.2,465.5 339.9,465.5 339.9,460.4 336.2,460.4&quot; fill=&quot;#2563eb&quot; fill-opacity=&quot;0.7&quot;/&gt;&lt;polygon points=&quot;340.1,465.5 343.8,465.5 343.8,460.4 340.1,460.4&quot; fill=&quot;#2563eb&quot; fill-opacity=&quot;0.7&quot;/&gt;&lt;polygon points=&quot;339.7,463.2 340.3,463.2 340.3,462.8 339.7,462.8&quot; fill=&quot;#e11d48&quot; fill-opacity=&quot;0.7&quot;/&gt;&lt;polyline points=&quot;336.2,463.0 328.6,463.0&quot; fill=&quot;none&quot; stroke=&quot;#2563eb&quot; stroke-width=&quot;2.0&quot;/&gt;&lt;polyline points=&quot;343.8,463.0 351.4,463.0&quot; fill=&quot;none&quot; stroke=&quot;#2563eb&quot; stroke-width=&quot;2.0&quot;/&gt;&lt;polygon points=&quot;229.7,281.1 233.4,281.1 233.4,276.0 229.7,276.0&quot; fill=&quot;#2563eb&quot; fill-opacity=&quot;0.7&quot;/&gt;&lt;polygon points=&quot;233.6,281.1 237.3,281.1 237.3,276.0 233.6,276.0&quot; fill=&quot;#2563eb&quot; fill-opacity=&quot;0.7&quot;/&gt;&lt;polygon points=&quot;233.3,278.7 233.8,278.7 233.8,278.3 233.3,278.3&quot; fill=&quot;#e11d48&quot; fill-opacity=&quot;0.7&quot;/&gt;&lt;polyline points=&quot;229.7,278.5 222.1,278.5&quot; fill=&quot;none&quot; stroke=&quot;#2563eb&quot; stroke-width=&quot;2.0&quot;/&gt;&lt;polyline points=&quot;237.3,278.5 244.9,278.5&quot; fill=&quot;none&quot; stroke=&quot;#2563eb&quot; stroke-width=&quot;2.0&quot;/&gt;&lt;polygon points=&quot;336.2,342.5 339.9,342.5 339.9,337.5 336.2,337.5&quot; fill=&quot;#2563eb&quot; fill-opacity=&quot;0.7&quot;/&gt;&lt;polygon points=&quot;340.1,342.5 343.8,342.5 343.8,337.5 340.1,337.5&quot; fill=&quot;#2563eb&quot; fill-opacity=&quot;0.7&quot;/&gt;&lt;polygon points=&quot;339.7,340.2 340.3,340.2 340.3,339.8 339.7,339.8&quot; fill=&quot;#e11d48&quot; fill-opacity=&quot;0.7&quot;/&gt;&lt;polyline points=&quot;336.2,340.0 328.6,340.0&quot; fill=&quot;none&quot; stroke=&quot;#2563eb&quot; stroke-width=&quot;2.0&quot;/&gt;&lt;polyline points=&quot;343.8,340.0 351.4,340.0&quot; fill=&quot;none&quot; stroke=&quot;#2563eb&quot; stroke-width=&quot;2.0&quot;/&gt;&lt;polygon points=&quot;442.7,404.0 446.4,404.0 446.4,398.9 442.7,398.9&quot; fill=&quot;#2563eb&quot; fill-opacity=&quot;0.7&quot;/&gt;&lt;polygon points=&quot;446.6,404.0 450.3,404.0 450.3,398.9 446.6,398.9&quot; fill=&quot;#2563eb&quot; fill-opacity=&quot;0.7&quot;/&gt;&lt;polygon points=&quot;446.2,401.7 446.7,401.7 446.7,401.3 446.2,401.3&quot; fill=&quot;#e11d48&quot; fill-opacity=&quot;0.7&quot;/&gt;&lt;polyline points=&quot;442.7,401.5 435.1,401.5&quot; fill=&quot;none&quot; stroke=&quot;#2563eb&quot; stroke-width=&quot;2.0&quot;/&gt;&lt;polyline points=&quot;450.3,401.5 457.9,401.5&quot; fill=&quot;none&quot; stroke=&quot;#2563eb&quot; stroke-width=&quot;2.0&quot;/&gt;&lt;polygon points=&quot;336.2,219.6 339.9,219.6 339.9,214.5 336.2,214.5&quot; fill=&quot;#2563eb&quot; fill-opacity=&quot;0.7&quot;/&gt;&lt;polygon points=&quot;340.1,219.6 343.8,219.6 343.8,214.5 340.1,214.5&quot; fill=&quot;#2563eb&quot; fill-opacity=&quot;0.7&quot;/&gt;&lt;polygon points=&quot;339.7,217.2 340.3,217.2 340.3,216.8 339.7,216.8&quot; fill=&quot;#e11d48&quot; fill-opacity=&quot;0.7&quot;/&gt;&lt;polyline points=&quot;336.2,217.0 328.6,217.0&quot; fill=&quot;none&quot; stroke=&quot;#2563eb&quot; stroke-width=&quot;2.0&quot;/&gt;&lt;polyline points=&quot;343.8,217.0 351.4,217.0&quot; fill=&quot;none&quot; stroke=&quot;#2563eb&quot; stroke-width=&quot;2.0&quot;/&gt;&lt;polygon points=&quot;442.7,281.1 446.4,281.1 446.4,276.0 442.7,276.0&quot; fill=&quot;#2563eb&quot; fill-opacity=&quot;0.7&quot;/&gt;&lt;polygon points=&quot;446.6,281.1 450.3,281.1 450.3,276.0 446.6,276.0&quot; fill=&quot;#2563eb&quot; fill-opacity=&quot;0.7&quot;/&gt;&lt;polygon points=&quot;446.2,278.7 446.7,278.7 446.7,278.3 446.2,278.3&quot; fill=&quot;#e11d48&quot; fill-opacity=&quot;0.7&quot;/&gt;&lt;polyline points=&quot;442.7,278.5 435.1,278.5&quot; fill=&quot;none&quot; stroke=&quot;#2563eb&quot; stroke-width=&quot;2.0&quot;/&gt;&lt;polyline points=&quot;450.3,278.5 457.9,278.5&quot; fill=&quot;none&quot; stroke=&quot;#2563eb&quot; stroke-width=&quot;2.0&quot;/&gt;&lt;polygon points=&quot;549.2,342.5 552.9,342.5 552.9,337.5 549.2,337.5&quot; fill=&quot;#2563eb&quot; fill-opacity=&quot;0.7&quot;/&gt;&lt;polygon points=&quot;553.1,342.5 556.8,342.5 556.8,337.5 553.1,337.5&quot; fill=&quot;#2563eb&quot; fill-opacity=&quot;0.7&quot;/&gt;&lt;polygon points=&quot;552.7,340.2 553.2,340.2 553.2,339.8 552.7,339.8&quot; fill=&quot;#e11d48&quot; fill-opacity=&quot;0.7&quot;/&gt;&lt;polyline points=&quot;549.2,340.0 541.6,340.0&quot; fill=&quot;none&quot; stroke=&quot;#2563eb&quot; stroke-width=&quot;2.0&quot;/&gt;&lt;polyline points=&quot;556.8,340.0 564.4,340.0&quot; fill=&quot;none&quot; stroke=&quot;#2563eb&quot; stroke-width=&quot;2.0&quot;/&gt;&lt;polygon points=&quot;194.2,342.5 197.9,342.5 197.9,337.5 194.2,337.5&quot; fill=&quot;#2563eb&quot; fill-opacity=&quot;0.7&quot;/&gt;&lt;polygon points=&quot;198.1,342.5 201.8,342.5 201.8,337.5 198.1,337.5&quot; fill=&quot;#2563eb&quot; fill-opacity=&quot;0.7&quot;/&gt;&lt;polygon points=&quot;197.8,340.2 198.3,340.2 198.3,339.8 197.8,339.8&quot; fill=&quot;#e11d48&quot; fill-opacity=&quot;0.7&quot;/&gt;&lt;polyline points=&quot;194.2,340.0 186.6,340.0&quot; fill=&quot;none&quot; stroke=&quot;#2563eb&quot; stroke-width=&quot;2.0&quot;/&gt;&lt;polyline points=&quot;201.8,340.0 209.4,340.0&quot; fill=&quot;none&quot; stroke=&quot;#2563eb&quot; stroke-width=&quot;2.0&quot;/&gt;&lt;polygon points=&quot;300.7,404.0 304.4,404.0 304.4,398.9 300.7,398.9&quot; fill=&quot;#2563eb&quot; fill-opacity=&quot;0.7&quot;/&gt;&lt;polygon points=&quot;304.6,404.0 308.3,404.0 308.3,398.9 304.6,398.9&quot; fill=&quot;#2563eb&quot; fill-opacity=&quot;0.7&quot;/&gt;&lt;polygon points=&quot;304.2,401.7 304.8,401.7 304.8,401.3 304.2,401.3&quot; fill=&quot;#e11d48&quot; fill-opacity=&quot;0.7&quot;/&gt;&lt;polyline points=&quot;300.7,401.5 293.1,401.5&quot; fill=&quot;none&quot; stroke=&quot;#2563eb&quot; stroke-width=&quot;2.0&quot;/&gt;&lt;polyline points=&quot;308.3,401.5 315.9,401.5&quot; fill=&quot;none&quot; stroke=&quot;#2563eb&quot; stroke-width=&quot;2.0&quot;/&gt;&lt;polygon points=&quot;407.2,465.5 410.9,465.5 410.9,460.4 407.2,460.4&quot; fill=&quot;#2563eb&quot; fill-opacity=&quot;0.7&quot;/&gt;&lt;polygon points=&quot;411.1,465.5 414.8,465.5 414.8,460.4 411.1,460.4&quot; fill=&quot;#2563eb&quot; fill-opacity=&quot;0.7&quot;/&gt;&lt;polygon points=&quot;410.7,463.2 411.3,463.2 411.3,462.8 410.7,462.8&quot; fill=&quot;#e11d48&quot; fill-opacity=&quot;0.7&quot;/&gt;&lt;polyline points=&quot;407.2,463.0 399.6,463.0&quot; fill=&quot;none&quot; stroke=&quot;#2563eb&quot; stroke-width=&quot;2.0&quot;/&gt;&lt;polyline points=&quot;414.8,463.0 422.4,463.0&quot; fill=&quot;none&quot; stroke=&quot;#2563eb&quot; stroke-width=&quot;2.0&quot;/&gt;&lt;polygon points=&quot;300.7,281.1 304.4,281.1 304.4,276.0 300.7,276.0&quot; fill=&quot;#2563eb&quot; fill-opacity=&quot;0.7&quot;/&gt;&lt;polygon points=&quot;304.6,281.1 308.3,281.1 308.3,276.0 304.6,276.0&quot; fill=&quot;#2563eb&quot; fill-opacity=&quot;0.7&quot;/&gt;&lt;polygon points=&quot;304.2,278.7 304.8,278.7 304.8,278.3 304.2,278.3&quot; fill=&quot;#e11d48&quot; fill-opacity=&quot;0.7&quot;/&gt;&lt;polyline points=&quot;300.7,278.5 293.1,278.5&quot; fill=&quot;none&quot; stroke=&quot;#2563eb&quot; stroke-width=&quot;2.0&quot;/&gt;&lt;polyline points=&quot;308.3,278.5 315.9,278.5&quot; fill=&quot;none&quot; stroke=&quot;#2563eb&quot; stroke-width=&quot;2.0&quot;/&gt;&lt;polygon points=&quot;407.2,342.5 410.9,342.5 410.9,337.5 407.2,337.5&quot; fill=&quot;#2563eb&quot; fill-opacity=&quot;0.7&quot;/&gt;&lt;polygon points=&quot;411.1,342.5 414.8,342.5 414.8,337.5 411.1,337.5&quot; fill=&quot;#2563eb&quot; fill-opacity=&quot;0.7&quot;/&gt;&lt;polygon points=&quot;410.7,340.2 411.3,340.2 411.3,339.8 410.7,339.8&quot; fill=&quot;#e11d48&quot; fill-opacity=&quot;0.7&quot;/&gt;&lt;polyline points=&quot;407.2,340.0 399.6,340.0&quot; fill=&quot;none&quot; stroke=&quot;#2563eb&quot; stroke-width=&quot;2.0&quot;/&gt;&lt;polyline points=&quot;414.8,340.0 422.4,340.0&quot; fill=&quot;none&quot; stroke=&quot;#2563eb&quot; stroke-width=&quot;2.0&quot;/&gt;&lt;polygon points=&quot;513.7,404.0 517.4,404.0 517.4,398.9 513.7,398.9&quot; fill=&quot;#2563eb&quot; fill-opacity=&quot;0.7&quot;/&gt;&lt;polygon points=&quot;517.6,404.0 521.3,404.0 521.3,398.9 517.6,398.9&quot; fill=&quot;#2563eb&quot; fill-opacity=&quot;0.7&quot;/&gt;&lt;polygon points=&quot;517.2,401.7 517.7,401.7 517.7,401.3 517.2,401.3&quot; fill=&quot;#e11d48&quot; fill-opacity=&quot;0.7&quot;/&gt;&lt;polyline points=&quot;513.7,401.5 506.1,401.5&quot; fill=&quot;none&quot; stroke=&quot;#2563eb&quot; stroke-width=&quot;2.0&quot;/&gt;&lt;polyline points=&quot;521.3,401.5 528.9,401.5&quot; fill=&quot;none&quot; stroke=&quot;#2563eb&quot; stroke-width=&quot;2.0&quot;/&gt;&lt;polygon points=&quot;407.2,219.6 410.9,219.6 410.9,214.5 407.2,214.5&quot; fill=&quot;#2563eb&quot; fill-opacity=&quot;0.7&quot;/&gt;&lt;polygon points=&quot;411.1,219.6 414.8,219.6 414.8,214.5 411.1,214.5&quot; fill=&quot;#2563eb&quot; fill-opacity=&quot;0.7&quot;/&gt;&lt;polygon points=&quot;410.7,217.2 411.3,217.2 411.3,216.8 410.7,216.8&quot; fill=&quot;#e11d48&quot; fill-opacity=&quot;0.7&quot;/&gt;&lt;polyline points=&quot;407.2,217.0 399.6,217.0&quot; fill=&quot;none&quot; stroke=&quot;#2563eb&quot; stroke-width=&quot;2.0&quot;/&gt;&lt;polyline points=&quot;414.8,217.0 422.4,217.0&quot; fill=&quot;none&quot; stroke=&quot;#2563eb&quot; stroke-width=&quot;2.0&quot;/&gt;&lt;polygon points=&quot;513.7,281.1 517.4,281.1 517.4,276.0 513.7,276.0&quot; fill=&quot;#2563eb&quot; fill-opacity=&quot;0.7&quot;/&gt;&lt;polygon points=&quot;517.6,281.1 521.3,281.1 521.3,276.0 517.6,276.0&quot; fill=&quot;#2563eb&quot; fill-opacity=&quot;0.7&quot;/&gt;&lt;polygon points=&quot;517.2,278.7 517.7,278.7 517.7,278.3 517.2,278.3&quot; fill=&quot;#e11d48&quot; fill-opacity=&quot;0.7&quot;/&gt;&lt;polyline points=&quot;513.7,278.5 506.1,278.5&quot; fill=&quot;none&quot; stroke=&quot;#2563eb&quot; stroke-width=&quot;2.0&quot;/&gt;&lt;polyline points=&quot;521.3,278.5 528.9,278.5&quot; fill=&quot;none&quot; stroke=&quot;#2563eb&quot; stroke-width=&quot;2.0&quot;/&gt;&lt;polygon points=&quot;620.2,342.5 623.9,342.5 623.9,337.5 620.2,337.5&quot; fill=&quot;#2563eb&quot; fill-opacity=&quot;0.7&quot;/&gt;&lt;polygon points=&quot;624.1,342.5 627.8,342.5 627.8,337.5 624.1,337.5&quot; fill=&quot;#2563eb&quot; fill-opacity=&quot;0.7&quot;/&gt;&lt;polygon points=&quot;623.7,340.2 624.2,340.2 624.2,339.8 623.7,339.8&quot; fill=&quot;#e11d48&quot; fill-opacity=&quot;0.7&quot;/&gt;&lt;polyline points=&quot;620.2,340.0 612.6,340.0&quot; fill=&quot;none&quot; stroke=&quot;#2563eb&quot; stroke-width=&quot;2.0&quot;/&gt;&lt;polyline points=&quot;627.8,340.0 635.4,340.0&quot; fill=&quot;none&quot; stroke=&quot;#2563eb&quot; stroke-width=&quot;2.0&quot;/&gt;&lt;polygon points=&quot;158.7,342.5 162.4,342.5 162.4,337.5 158.7,337.5&quot; fill=&quot;#2563eb&quot; fill-opacity=&quot;0.7&quot;/&gt;&lt;polygon points=&quot;162.6,342.5 166.3,342.5 166.3,337.5 162.6,337.5&quot; fill=&quot;#2563eb&quot; fill-opacity=&quot;0.7&quot;/&gt;&lt;polygon points=&quot;162.3,340.2 162.8,340.2 162.8,339.8 162.3,339.8&quot; fill=&quot;#e11d48&quot; fill-opacity=&quot;0.7&quot;/&gt;&lt;polyline points=&quot;158.7,340.0 151.1,340.0&quot; fill=&quot;none&quot; stroke=&quot;#2563eb&quot; stroke-width=&quot;2.0&quot;/&gt;&lt;polyline points=&quot;166.3,340.0 173.9,340.0&quot; fill=&quot;none&quot; stroke=&quot;#2563eb&quot; stroke-width=&quot;2.0&quot;/&gt;&lt;polygon points=&quot;265.2,404.0 268.9,404.0 268.9,398.9 265.2,398.9&quot; fill=&quot;#2563eb&quot; fill-opacity=&quot;0.7&quot;/&gt;&lt;polygon points=&quot;269.1,404.0 272.8,404.0 272.8,398.9 269.1,398.9&quot; fill=&quot;#2563eb&quot; fill-opacity=&quot;0.7&quot;/&gt;&lt;polygon points=&quot;268.7,401.7 269.3,401.7 269.3,401.3 268.7,401.3&quot; fill=&quot;#e11d48&quot; fill-opacity=&quot;0.7&quot;/&gt;&lt;polyline points=&quot;265.2,401.5 257.6,401.5&quot; fill=&quot;none&quot; stroke=&quot;#2563eb&quot; stroke-width=&quot;2.0&quot;/&gt;&lt;polyline points=&quot;272.8,401.5 280.4,401.5&quot; fill=&quot;none&quot; stroke=&quot;#2563eb&quot; stroke-width=&quot;2.0&quot;/&gt;&lt;polygon points=&quot;212.0,373.3 215.6,373.3 215.6,368.2 212.0,368.2&quot; fill=&quot;#2563eb&quot; fill-opacity=&quot;0.7&quot;/&gt;&lt;polygon points=&quot;215.9,373.3 219.6,373.3 219.6,368.2 215.9,368.2&quot; fill=&quot;#2563eb&quot; fill-opacity=&quot;0.7&quot;/&gt;&lt;polygon points=&quot;215.5,370.9 216.0,370.9 216.0,370.6 215.5,370.6&quot; fill=&quot;#e11d48&quot; fill-opacity=&quot;0.7&quot;/&gt;&lt;polyline points=&quot;212.0,370.7 204.3,370.7&quot; fill=&quot;none&quot; stroke=&quot;#2563eb&quot; stroke-width=&quot;2.0&quot;/&gt;&lt;polyline points=&quot;219.6,370.7 227.2,370.7&quot; fill=&quot;none&quot; stroke=&quot;#2563eb&quot; stroke-width=&quot;2.0&quot;/&gt;&lt;polygon points=&quot;371.7,465.5 375.4,465.5 375.4,460.4 371.7,460.4&quot; fill=&quot;#2563eb&quot; fill-opacity=&quot;0.7&quot;/&gt;&lt;polygon points=&quot;375.6,465.5 379.3,465.5 379.3,460.4 375.6,460.4&quot; fill=&quot;#2563eb&quot; fill-opacity=&quot;0.7&quot;/&gt;&lt;polygon points=&quot;375.2,463.2 375.8,463.2 375.8,462.8 375.2,462.8&quot; fill=&quot;#e11d48&quot; fill-opacity=&quot;0.7&quot;/&gt;&lt;polyline points=&quot;371.7,463.0 364.1,463.0&quot; fill=&quot;none&quot; stroke=&quot;#2563eb&quot; stroke-width=&quot;2.0&quot;/&gt;&lt;polyline points=&quot;379.3,463.0 386.9,463.0&quot; fill=&quot;none&quot; stroke=&quot;#2563eb&quot; stroke-width=&quot;2.0&quot;/&gt;&lt;polygon points=&quot;318.4,434.8 322.1,434.8 322.1,429.7 318.4,429.7&quot; fill=&quot;#2563eb&quot; fill-opacity=&quot;0.7&quot;/&gt;&lt;polygon points=&quot;322.4,434.8 326.1,434.8 326.1,429.7 322.4,429.7&quot; fill=&quot;#2563eb&quot; fill-opacity=&quot;0.7&quot;/&gt;&lt;polygon points=&quot;322.0,432.4 322.5,432.4 322.5,432.0 322.0,432.0&quot; fill=&quot;#e11d48&quot; fill-opacity=&quot;0.7&quot;/&gt;&lt;polyline points=&quot;318.4,432.2 310.8,432.2&quot; fill=&quot;none&quot; stroke=&quot;#2563eb&quot; stroke-width=&quot;2.0&quot;/&gt;&lt;polyline points=&quot;326.1,432.2 333.7,432.2&quot; fill=&quot;none&quot; stroke=&quot;#2563eb&quot; stroke-width=&quot;2.0&quot;/&gt;&lt;polygon points=&quot;265.2,281.1 268.9,281.1 268.9,276.0 265.2,276.0&quot; fill=&quot;#2563eb&quot; fill-opacity=&quot;0.7&quot;/&gt;&lt;polygon points=&quot;269.1,281.1 272.8,281.1 272.8,276.0 269.1,276.0&quot; fill=&quot;#2563eb&quot; fill-opacity=&quot;0.7&quot;/&gt;&lt;polygon points=&quot;268.7,278.7 269.3,278.7 269.3,278.3 268.7,278.3&quot; fill=&quot;#e11d48&quot; fill-opacity=&quot;0.7&quot;/&gt;&lt;polyline points=&quot;265.2,278.5 257.6,278.5&quot; fill=&quot;none&quot; stroke=&quot;#2563eb&quot; stroke-width=&quot;2.0&quot;/&gt;&lt;polyline points=&quot;272.8,278.5 280.4,278.5&quot; fill=&quot;none&quot; stroke=&quot;#2563eb&quot; stroke-width=&quot;2.0&quot;/&gt;&lt;polygon points=&quot;212.0,311.8 215.6,311.8 215.6,306.7 212.0,306.7&quot; fill=&quot;#2563eb&quot; fill-opacity=&quot;0.7&quot;/&gt;&lt;polygon points=&quot;215.9,311.8 219.6,311.8 219.6,306.7 215.9,306.7&quot; fill=&quot;#2563eb&quot; fill-opacity=&quot;0.7&quot;/&gt;&lt;polygon points=&quot;215.5,309.4 216.0,309.4 216.0,309.1 215.5,309.1&quot; fill=&quot;#e11d48&quot; fill-opacity=&quot;0.7&quot;/&gt;&lt;polyline points=&quot;212.0,309.3 204.3,309.3&quot; fill=&quot;none&quot; stroke=&quot;#2563eb&quot; stroke-width=&quot;2.0&quot;/&gt;&lt;polyline points=&quot;219.6,309.3 227.2,309.3&quot; fill=&quot;none&quot; stroke=&quot;#2563eb&quot; stroke-width=&quot;2.0&quot;/&gt;&lt;polygon points=&quot;371.7,342.5 375.4,342.5 375.4,337.5 371.7,337.5&quot; fill=&quot;#2563eb&quot; fill-opacity=&quot;0.7&quot;/&gt;&lt;polygon points=&quot;375.6,342.5 379.3,342.5 379.3,337.5 375.6,337.5&quot; fill=&quot;#2563eb&quot; fill-opacity=&quot;0.7&quot;/&gt;&lt;polygon points=&quot;375.2,340.2 375.8,340.2 375.8,339.8 375.2,339.8&quot; fill=&quot;#e11d48&quot; fill-opacity=&quot;0.7&quot;/&gt;&lt;polyline points=&quot;371.7,340.0 364.1,340.0&quot; fill=&quot;none&quot; stroke=&quot;#2563eb&quot; stroke-width=&quot;2.0&quot;/&gt;&lt;polyline points=&quot;379.3,340.0 386.9,340.0&quot; fill=&quot;none&quot; stroke=&quot;#2563eb&quot; stroke-width=&quot;2.0&quot;/&gt;&lt;polygon points=&quot;318.4,373.3 322.1,373.3 322.1,368.2 318.4,368.2&quot; fill=&quot;#2563eb&quot; fill-opacity=&quot;0.7&quot;/&gt;&lt;polygon points=&quot;322.4,373.3 326.1,373.3 326.1,368.2 322.4,368.2&quot; fill=&quot;#2563eb&quot; fill-opacity=&quot;0.7&quot;/&gt;&lt;polygon points=&quot;322.0,370.9 322.5,370.9 322.5,370.6 322.0,370.6&quot; fill=&quot;#e11d48&quot; fill-opacity=&quot;0.7&quot;/&gt;&lt;polyline points=&quot;318.4,370.7 310.8,370.7&quot; fill=&quot;none&quot; stroke=&quot;#2563eb&quot; stroke-width=&quot;2.0&quot;/&gt;&lt;polyline points=&quot;326.1,370.7 333.7,370.7&quot; fill=&quot;none&quot; stroke=&quot;#2563eb&quot; stroke-width=&quot;2.0&quot;/&gt;&lt;polygon points=&quot;318.4,311.8 322.1,311.8 322.1,306.7 318.4,306.7&quot; fill=&quot;#2563eb&quot; fill-opacity=&quot;0.7&quot;/&gt;&lt;polygon points=&quot;322.4,311.8 326.1,311.8 326.1,306.7 322.4,306.7&quot; fill=&quot;#2563eb&quot; fill-opacity=&quot;0.7&quot;/&gt;&lt;polygon points=&quot;322.0,309.4 322.5,309.4 322.5,309.1 322.0,309.1&quot; fill=&quot;#e11d48&quot; fill-opacity=&quot;0.7&quot;/&gt;&lt;polyline points=&quot;318.4,309.3 310.8,309.3&quot; fill=&quot;none&quot; stroke=&quot;#2563eb&quot; stroke-width=&quot;2.0&quot;/&gt;&lt;polyline points=&quot;326.1,309.3 333.7,309.3&quot; fill=&quot;none&quot; stroke=&quot;#2563eb&quot; stroke-width=&quot;2.0&quot;/&gt;&lt;polygon points=&quot;478.2,404.0 481.9,404.0 481.9,398.9 478.2,398.9&quot; fill=&quot;#2563eb&quot; fill-opacity=&quot;0.7&quot;/&gt;&lt;polygon points=&quot;482.1,404.0 485.8,404.0 485.8,398.9 482.1,398.9&quot; fill=&quot;#2563eb&quot; fill-opacity=&quot;0.7&quot;/&gt;&lt;polygon points=&quot;481.7,401.7 482.2,401.7 482.2,401.3 481.7,401.3&quot; fill=&quot;#e11d48&quot; fill-opacity=&quot;0.7&quot;/&gt;&lt;polyline points=&quot;478.2,401.5 470.6,401.5&quot; fill=&quot;none&quot; stroke=&quot;#2563eb&quot; stroke-width=&quot;2.0&quot;/&gt;&lt;polyline points=&quot;485.8,401.5 493.4,401.5&quot; fill=&quot;none&quot; stroke=&quot;#2563eb&quot; stroke-width=&quot;2.0&quot;/&gt;&lt;polygon points=&quot;424.9,434.8 428.6,434.8 428.6,429.7 424.9,429.7&quot; fill=&quot;#2563eb&quot; fill-opacity=&quot;0.7&quot;/&gt;&lt;polygon points=&quot;428.9,434.8 432.5,434.8 432.5,429.7 428.9,429.7&quot; fill=&quot;#2563eb&quot; fill-opacity=&quot;0.7&quot;/&gt;&lt;polygon points=&quot;428.5,432.4 429.0,432.4 429.0,432.0 428.5,432.0&quot; fill=&quot;#e11d48&quot; fill-opacity=&quot;0.7&quot;/&gt;&lt;polyline points=&quot;424.9,432.2 417.3,432.2&quot; fill=&quot;none&quot; stroke=&quot;#2563eb&quot; stroke-width=&quot;2.0&quot;/&gt;&lt;polyline points=&quot;432.5,432.2 440.2,432.2&quot; fill=&quot;none&quot; stroke=&quot;#2563eb&quot; stroke-width=&quot;2.0&quot;/&gt;&lt;polygon points=&quot;424.9,373.3 428.6,373.3 428.6,368.2 424.9,368.2&quot; fill=&quot;#2563eb&quot; fill-opacity=&quot;0.7&quot;/&gt;&lt;polygon points=&quot;428.9,373.3 432.5,373.3 432.5,368.2 428.9,368.2&quot; fill=&quot;#2563eb&quot; fill-opacity=&quot;0.7&quot;/&gt;&lt;polygon points=&quot;428.5,370.9 429.0,370.9 429.0,370.6 428.5,370.6&quot; fill=&quot;#e11d48&quot; fill-opacity=&quot;0.7&quot;/&gt;&lt;polyline points=&quot;424.9,370.7 417.3,370.7&quot; fill=&quot;none&quot; stroke=&quot;#2563eb&quot; stroke-width=&quot;2.0&quot;/&gt;&lt;polyline points=&quot;432.5,370.7 440.2,370.7&quot; fill=&quot;none&quot; stroke=&quot;#2563eb&quot; stroke-width=&quot;2.0&quot;/&gt;&lt;polygon points=&quot;371.7,219.6 375.4,219.6 375.4,214.5 371.7,214.5&quot; fill=&quot;#2563eb&quot; fill-opacity=&quot;0.7&quot;/&gt;&lt;polygon points=&quot;375.6,219.6 379.3,219.6 379.3,214.5 375.6,214.5&quot; fill=&quot;#2563eb&quot; fill-opacity=&quot;0.7&quot;/&gt;&lt;polygon points=&quot;375.2,217.2 375.8,217.2 375.8,216.8 375.2,216.8&quot; fill=&quot;#e11d48&quot; fill-opacity=&quot;0.7&quot;/&gt;&lt;polyline points=&quot;371.7,217.0 364.1,217.0&quot; fill=&quot;none&quot; stroke=&quot;#2563eb&quot; stroke-width=&quot;2.0&quot;/&gt;&lt;polyline points=&quot;379.3,217.0 386.9,217.0&quot; fill=&quot;none&quot; stroke=&quot;#2563eb&quot; stroke-width=&quot;2.0&quot;/&gt;&lt;polygon points=&quot;318.4,250.3 322.1,250.3 322.1,245.2 318.4,245.2&quot; fill=&quot;#2563eb&quot; fill-opacity=&quot;0.7&quot;/&gt;&lt;polygon points=&quot;322.4,250.3 326.1,250.3 326.1,245.2 322.4,245.2&quot; fill=&quot;#2563eb&quot; fill-opacity=&quot;0.7&quot;/&gt;&lt;polygon points=&quot;322.0,248.0 322.5,248.0 322.5,247.6 322.0,247.6&quot; fill=&quot;#e11d48&quot; fill-opacity=&quot;0.7&quot;/&gt;&lt;polyline points=&quot;318.4,247.8 310.8,247.8&quot; fill=&quot;none&quot; stroke=&quot;#2563eb&quot; stroke-width=&quot;2.0&quot;/&gt;&lt;polyline points=&quot;326.1,247.8 333.7,247.8&quot; fill=&quot;none&quot; stroke=&quot;#2563eb&quot; stroke-width=&quot;2.0&quot;/&gt;&lt;polygon points=&quot;478.2,281.1 481.9,281.1 481.9,276.0 478.2,276.0&quot; fill=&quot;#2563eb&quot; fill-opacity=&quot;0.7&quot;/&gt;&lt;polygon points=&quot;482.1,281.1 485.8,281.1 485.8,276.0 482.1,276.0&quot; fill=&quot;#2563eb&quot; fill-opacity=&quot;0.7&quot;/&gt;&lt;polygon points=&quot;481.7,278.7 482.2,278.7 482.2,278.3 481.7,278.3&quot; fill=&quot;#e11d48&quot; fill-opacity=&quot;0.7&quot;/&gt;&lt;polyline points=&quot;478.2,278.5 470.6,278.5&quot; fill=&quot;none&quot; stroke=&quot;#2563eb&quot; stroke-width=&quot;2.0&quot;/&gt;&lt;polyline points=&quot;485.8,278.5 493.4,278.5&quot; fill=&quot;none&quot; stroke=&quot;#2563eb&quot; stroke-width=&quot;2.0&quot;/&gt;&lt;polygon points=&quot;424.9,311.8 428.6,311.8 428.6,306.7 424.9,306.7&quot; fill=&quot;#2563eb&quot; fill-opacity=&quot;0.7&quot;/&gt;&lt;polygon points=&quot;428.9,311.8 432.5,311.8 432.5,306.7 428.9,306.7&quot; fill=&quot;#2563eb&quot; fill-opacity=&quot;0.7&quot;/&gt;&lt;polygon points=&quot;428.5,309.4 429.0,309.4 429.0,309.1 428.5,309.1&quot; fill=&quot;#e11d48&quot; fill-opacity=&quot;0.7&quot;/&gt;&lt;polyline points=&quot;424.9,309.3 417.3,309.3&quot; fill=&quot;none&quot; stroke=&quot;#2563eb&quot; stroke-width=&quot;2.0&quot;/&gt;&lt;polyline points=&quot;432.5,309.3 440.2,309.3&quot; fill=&quot;none&quot; stroke=&quot;#2563eb&quot; stroke-width=&quot;2.0&quot;/&gt;&lt;polygon points=&quot;424.9,250.3 428.6,250.3 428.6,245.2 424.9,245.2&quot; fill=&quot;#2563eb&quot; fill-opacity=&quot;0.7&quot;/&gt;&lt;polygon points=&quot;428.9,250.3 432.5,250.3 432.5,245.2 428.9,245.2&quot; fill=&quot;#2563eb&quot; fill-opacity=&quot;0.7&quot;/&gt;&lt;polygon points=&quot;428.5,248.0 429.0,248.0 429.0,247.6 428.5,247.6&quot; fill=&quot;#e11d48&quot; fill-opacity=&quot;0.7&quot;/&gt;&lt;polyline points=&quot;424.9,247.8 417.3,247.8&quot; fill=&quot;none&quot; stroke=&quot;#2563eb&quot; stroke-width=&quot;2.0&quot;/&gt;&lt;polyline points=&quot;432.5,247.8 440.2,247.8&quot; fill=&quot;none&quot; stroke=&quot;#2563eb&quot; stroke-width=&quot;2.0&quot;/&gt;&lt;polygon points=&quot;584.7,342.5 588.4,342.5 588.4,337.5 584.7,337.5&quot; fill=&quot;#2563eb&quot; fill-opacity=&quot;0.7&quot;/&gt;&lt;polygon points=&quot;588.6,342.5 592.3,342.5 592.3,337.5 588.6,337.5&quot; fill=&quot;#2563eb&quot; fill-opacity=&quot;0.7&quot;/&gt;&lt;polygon points=&quot;588.2,340.2 588.7,340.2 588.7,339.8 588.2,339.8&quot; fill=&quot;#e11d48&quot; fill-opacity=&quot;0.7&quot;/&gt;&lt;polyline points=&quot;584.7,340.0 577.1,340.0&quot; fill=&quot;none&quot; stroke=&quot;#2563eb&quot; stroke-width=&quot;2.0&quot;/&gt;&lt;polyline points=&quot;592.3,340.0 599.9,340.0&quot; fill=&quot;none&quot; stroke=&quot;#2563eb&quot; stroke-width=&quot;2.0&quot;/&gt;&lt;polygon points=&quot;531.4,373.3 535.1,373.3 535.1,368.2 531.4,368.2&quot; fill=&quot;#2563eb&quot; fill-opacity=&quot;0.7&quot;/&gt;&lt;polygon points=&quot;535.4,373.3 539.0,373.3 539.0,368.2 535.4,368.2&quot; fill=&quot;#2563eb&quot; fill-opacity=&quot;0.7&quot;/&gt;&lt;polygon points=&quot;535.0,370.9 535.5,370.9 535.5,370.6 535.0,370.6&quot; fill=&quot;#e11d48&quot; fill-opacity=&quot;0.7&quot;/&gt;&lt;polyline points=&quot;531.4,370.7 523.8,370.7&quot; fill=&quot;none&quot; stroke=&quot;#2563eb&quot; stroke-width=&quot;2.0&quot;/&gt;&lt;polyline points=&quot;539.0,370.7 546.7,370.7&quot; fill=&quot;none&quot; stroke=&quot;#2563eb&quot; stroke-width=&quot;2.0&quot;/&gt;&lt;polygon points=&quot;531.4,311.8 535.1,311.8 535.1,306.7 531.4,306.7&quot; fill=&quot;#2563eb&quot; fill-opacity=&quot;0.7&quot;/&gt;&lt;polygon points=&quot;535.4,311.8 539.0,311.8 539.0,306.7 535.4,306.7&quot; fill=&quot;#2563eb&quot; fill-opacity=&quot;0.7&quot;/&gt;&lt;polygon points=&quot;535.0,309.4 535.5,309.4 535.5,309.1 535.0,309.1&quot; fill=&quot;#e11d48&quot; fill-opacity=&quot;0.7&quot;/&gt;&lt;polyline points=&quot;531.4,309.3 523.8,309.3&quot; fill=&quot;none&quot; stroke=&quot;#2563eb&quot; stroke-width=&quot;2.0&quot;/&gt;&lt;polyline points=&quot;539.0,309.3 546.7,309.3&quot; fill=&quot;none&quot; stroke=&quot;#2563eb&quot; stroke-width=&quot;2.0&quot;/&gt;&lt;polygon points=&quot;127.0,339.7 162.5,339.7 162.5,340.3 127.0,340.3&quot; fill=&quot;#f59e0b&quot; fill-opacity=&quot;0.7&quot;/&gt;&lt;polygon points=&quot;198.0,340.3 162.5,340.3 162.5,339.7 198.0,339.7&quot; fill=&quot;#f59e0b&quot; fill-opacity=&quot;0.7&quot;/&gt;&lt;polygon points=&quot;233.5,401.2 269.0,401.2 269.0,401.8 233.5,401.8&quot; fill=&quot;#f59e0b&quot; fill-opacity=&quot;0.7&quot;/&gt;&lt;polygon points=&quot;304.5,401.8 269.0,401.8 269.0,401.2 304.5,401.2&quot; fill=&quot;#f59e0b&quot; fill-opacity=&quot;0.7&quot;/&gt;&lt;polygon points=&quot;233.2,401.6 215.5,370.9 216.0,370.6 233.8,401.3&quot; fill=&quot;#f59e0b&quot; fill-opacity=&quot;0.7&quot;/&gt;&lt;polygon points=&quot;198.3,339.8 216.0,370.6 215.5,370.9 197.7,340.2&quot; fill=&quot;#f59e0b&quot; fill-opacity=&quot;0.7&quot;/&gt;&lt;polygon points=&quot;340.0,462.7 375.5,462.7 375.5,463.3 340.0,463.3&quot; fill=&quot;#f59e0b&quot; fill-opacity=&quot;0.7&quot;/&gt;&lt;polygon points=&quot;411.0,463.3 375.5,463.3 375.5,462.7 411.0,462.7&quot; fill=&quot;#f59e0b&quot; fill-opacity=&quot;0.7&quot;/&gt;&lt;polygon points=&quot;339.7,463.1 322.0,432.4 322.5,432.1 340.3,462.8&quot; fill=&quot;#f59e0b&quot; fill-opacity=&quot;0.7&quot;/&gt;&lt;polygon points=&quot;304.8,401.3 322.5,432.1 322.0,432.4 304.2,401.6&quot; fill=&quot;#f59e0b&quot; fill-opacity=&quot;0.7&quot;/&gt;&lt;polygon points=&quot;233.5,278.2 269.0,278.2 269.0,278.8 233.5,278.8&quot; fill=&quot;#f59e0b&quot; fill-opacity=&quot;0.7&quot;/&gt;&lt;polygon points=&quot;304.5,278.8 269.0,278.8 269.0,278.2 304.5,278.2&quot; fill=&quot;#f59e0b&quot; fill-opacity=&quot;0.7&quot;/&gt;&lt;polygon points=&quot;233.8,278.7 216.0,309.4 215.5,309.1 233.2,278.4&quot; fill=&quot;#f59e0b&quot; fill-opacity=&quot;0.7&quot;/&gt;&lt;polygon points=&quot;197.7,339.8 215.5,309.1 216.0,309.4 198.3,340.2&quot; fill=&quot;#f59e0b&quot; fill-opacity=&quot;0.7&quot;/&gt;&lt;polygon points=&quot;340.0,339.7 375.5,339.7 375.5,340.3 340.0,340.3&quot; fill=&quot;#f59e0b&quot; fill-opacity=&quot;0.7&quot;/&gt;&lt;polygon points=&quot;411.0,340.3 375.5,340.3 375.5,339.7 411.0,339.7&quot; fill=&quot;#f59e0b&quot; fill-opacity=&quot;0.7&quot;/&gt;&lt;polygon points=&quot;340.3,340.2 322.5,370.9 322.0,370.6 339.7,339.8&quot; fill=&quot;#f59e0b&quot; fill-opacity=&quot;0.7&quot;/&gt;&lt;polygon points=&quot;304.2,401.3 322.0,370.6 322.5,370.9 304.8,401.6&quot; fill=&quot;#f59e0b&quot; fill-opacity=&quot;0.7&quot;/&gt;&lt;polygon points=&quot;339.7,340.2 322.0,309.4 322.5,309.1 340.3,339.8&quot; fill=&quot;#f59e0b&quot; fill-opacity=&quot;0.7&quot;/&gt;&lt;polygon points=&quot;304.8,278.4 322.5,309.1 322.0,309.4 304.2,278.7&quot; fill=&quot;#f59e0b&quot; fill-opacity=&quot;0.7&quot;/&gt;&lt;polygon points=&quot;446.5,401.2 482.0,401.2 482.0,401.8 446.5,401.8&quot; fill=&quot;#f59e0b&quot; fill-opacity=&quot;0.7&quot;/&gt;&lt;polygon points=&quot;517.5,401.8 482.0,401.8 482.0,401.2 517.5,401.2&quot; fill=&quot;#f59e0b&quot; fill-opacity=&quot;0.7&quot;/&gt;&lt;polygon points=&quot;446.8,401.6 429.0,432.4 428.5,432.1 446.2,401.3&quot; fill=&quot;#f59e0b&quot; fill-opacity=&quot;0.7&quot;/&gt;&lt;polygon points=&quot;410.7,462.8 428.5,432.1 429.0,432.4 411.3,463.1&quot; fill=&quot;#f59e0b&quot; fill-opacity=&quot;0.7&quot;/&gt;&lt;polygon points=&quot;446.2,401.6 428.5,370.9 429.0,370.6 446.8,401.3&quot; fill=&quot;#f59e0b&quot; fill-opacity=&quot;0.7&quot;/&gt;&lt;polygon points=&quot;411.3,339.8 429.0,370.6 428.5,370.9 410.7,340.2&quot; fill=&quot;#f59e0b&quot; fill-opacity=&quot;0.7&quot;/&gt;&lt;polygon points=&quot;340.0,216.7 375.5,216.7 375.5,217.3 340.0,217.3&quot; fill=&quot;#f59e0b&quot; fill-opacity=&quot;0.7&quot;/&gt;&lt;polygon points=&quot;411.0,217.3 375.5,217.3 375.5,216.7 411.0,216.7&quot; fill=&quot;#f59e0b&quot; fill-opacity=&quot;0.7&quot;/&gt;&lt;polygon points=&quot;340.3,217.2 322.5,247.9 322.0,247.6 339.7,216.9&quot; fill=&quot;#f59e0b&quot; fill-opacity=&quot;0.7&quot;/&gt;&lt;polygon points=&quot;304.2,278.4 322.0,247.6 322.5,247.9 304.8,278.7&quot; fill=&quot;#f59e0b&quot; fill-opacity=&quot;0.7&quot;/&gt;&lt;polygon points=&quot;446.5,278.2 482.0,278.2 482.0,278.8 446.5,278.8&quot; fill=&quot;#f59e0b&quot; fill-opacity=&quot;0.7&quot;/&gt;&lt;polygon points=&quot;517.5,278.8 482.0,278.8 482.0,278.2 517.5,278.2&quot; fill=&quot;#f59e0b&quot; fill-opacity=&quot;0.7&quot;/&gt;&lt;polygon points=&quot;446.8,278.7 429.0,309.4 428.5,309.1 446.2,278.4&quot; fill=&quot;#f59e0b&quot; fill-opacity=&quot;0.7&quot;/&gt;&lt;polygon points=&quot;410.7,339.8 428.5,309.1 429.0,309.4 411.3,340.2&quot; fill=&quot;#f59e0b&quot; fill-opacity=&quot;0.7&quot;/&gt;&lt;polygon points=&quot;446.2,278.7 428.5,247.9 429.0,247.6 446.8,278.4&quot; fill=&quot;#f59e0b&quot; fill-opacity=&quot;0.7&quot;/&gt;&lt;polygon points=&quot;411.3,216.9 429.0,247.6 428.5,247.9 410.7,217.2&quot; fill=&quot;#f59e0b&quot; fill-opacity=&quot;0.7&quot;/&gt;&lt;polygon points=&quot;553.0,339.7 588.5,339.7 588.5,340.3 553.0,340.3&quot; fill=&quot;#f59e0b&quot; fill-opacity=&quot;0.7&quot;/&gt;&lt;polygon points=&quot;624.0,340.3 588.5,340.3 588.5,339.7 624.0,339.7&quot; fill=&quot;#f59e0b&quot; fill-opacity=&quot;0.7&quot;/&gt;&lt;polygon points=&quot;553.3,340.2 535.5,370.9 535.0,370.6 552.7,339.8&quot; fill=&quot;#f59e0b&quot; fill-opacity=&quot;0.7&quot;/&gt;&lt;polygon points=&quot;517.2,401.3 535.0,370.6 535.5,370.9 517.8,401.6&quot; fill=&quot;#f59e0b&quot; fill-opacity=&quot;0.7&quot;/&gt;&lt;polygon points=&quot;552.7,340.2 535.0,309.4 535.5,309.1 553.3,339.8&quot; fill=&quot;#f59e0b&quot; fill-opacity=&quot;0.7&quot;/&gt;&lt;polygon points=&quot;517.8,278.4 535.5,309.1 535.0,309.4 517.2,278.7&quot; fill=&quot;#f59e0b&quot; fill-opacity=&quot;0.7&quot;/&gt;&lt;polygon points=&quot;24.0,213.2 656.0,213.2 656.0,24.0 24.0,24.0&quot; fill=&quot;#e2e8f0&quot; fill-opacity=&quot;0.7&quot;/&gt;&lt;polygon points=&quot;24.0,466.8 656.0,466.8 656.0,656.0 24.0,656.0&quot; fill=&quot;#e2e8f0&quot; fill-opacity=&quot;0.7&quot;/&gt;&lt;polygon points=&quot;24.0,466.8 43.0,466.8 43.0,213.2 24.0,213.2&quot; fill=&quot;#e2e8f0&quot; fill-opacity=&quot;0.7&quot;/&gt;&lt;polygon points=&quot;637.0,466.8 656.0,466.8 656.0,213.2 637.0,213.2&quot; fill=&quot;#e2e8f0&quot; fill-opacity=&quot;0.7&quot;/&gt;&lt;/svg&gt;&#10;          &lt;Text style={{ fontSize: 16, fontWeight: 'bold', color: '#061F32' }}&gt;heavy-hex 3×3 · 39 比特（最大度 3 · 对标 IBM）&lt;/Text&gt;&#10;        &lt;/Box&gt;&#10;        &lt;Box style={{ flex: 1, border: '1px solid #E7E6E6', borderRadius: 4, padding: 12, flexDirection: 'column', alignItems: 'center', gap: 8 }}&gt;&#10;          &lt;svg width={252} height={252} viewBox='0 0 680 680'&gt;&lt;polygon points=&quot;224.3,331.7 248.3,331.7 248.3,298.7 224.3,298.7&quot; fill=&quot;#2563eb&quot; fill-opacity=&quot;0.75&quot;/&gt;&lt;polygon points=&quot;250.0,331.7 273.9,331.7 273.9,298.7 250.0,298.7&quot; fill=&quot;#2563eb&quot; fill-opacity=&quot;0.75&quot;/&gt;&lt;polygon points=&quot;247.5,316.5 250.8,316.5 250.8,314.0 247.5,314.0&quot; fill=&quot;#e11d48&quot; fill-opacity=&quot;0.75&quot;/&gt;&lt;polyline points=&quot;224.3,315.2 174.8,315.2&quot; fill=&quot;none&quot; stroke=&quot;#2563eb&quot; stroke-width=&quot;4.1&quot;/&gt;&lt;polyline points=&quot;273.9,315.2 323.5,315.2&quot; fill=&quot;none&quot; stroke=&quot;#2563eb&quot; stroke-width=&quot;4.1&quot;/&gt;&lt;polygon points=&quot;406.1,331.7 430.0,331.7 430.0,298.7 406.1,298.7&quot; fill=&quot;#2563eb&quot; fill-opacity=&quot;0.75&quot;/&gt;&lt;polygon points=&quot;431.7,331.7 455.7,331.7 455.7,298.7 431.7,298.7&quot; fill=&quot;#2563eb&quot; fill-opacity=&quot;0.75&quot;/&gt;&lt;polygon points=&quot;429.2,316.5 432.5,316.5 432.5,314.0 429.2,314.0&quot; fill=&quot;#e11d48&quot; fill-opacity=&quot;0.75&quot;/&gt;&lt;polyline points=&quot;406.1,315.2 356.5,315.2&quot; fill=&quot;none&quot; stroke=&quot;#2563eb&quot; stroke-width=&quot;4.1&quot;/&gt;&lt;polyline points=&quot;455.7,315.2 505.2,315.2&quot; fill=&quot;none&quot; stroke=&quot;#2563eb&quot; stroke-width=&quot;4.1&quot;/&gt;&lt;polygon points=&quot;224.3,158.2 248.3,158.2 248.3,125.2 224.3,125.2&quot; fill=&quot;#2563eb&quot; fill-opacity=&quot;0.75&quot;/&gt;&lt;polygon points=&quot;250.0,158.2 273.9,158.2 273.9,125.2 250.0,125.2&quot; fill=&quot;#2563eb&quot; fill-opacity=&quot;0.75&quot;/&gt;&lt;polygon points=&quot;247.5,143.0 250.8,143.0 250.8,140.5 247.5,140.5&quot; fill=&quot;#e11d48&quot; fill-opacity=&quot;0.75&quot;/&gt;&lt;polyline points=&quot;224.3,141.7 174.8,141.7&quot; fill=&quot;none&quot; stroke=&quot;#2563eb&quot; stroke-width=&quot;4.1&quot;/&gt;&lt;polyline points=&quot;273.9,141.7 323.5,141.7&quot; fill=&quot;none&quot; stroke=&quot;#2563eb&quot; stroke-width=&quot;4.1&quot;/&gt;&lt;polygon points=&quot;406.1,158.2 430.0,158.2 430.0,125.2 406.1,125.2&quot; fill=&quot;#2563eb&quot; fill-opacity=&quot;0.75&quot;/&gt;&lt;polygon points=&quot;431.7,158.2 455.7,158.2 455.7,125.2 431.7,125.2&quot; fill=&quot;#2563eb&quot; fill-opacity=&quot;0.75&quot;/&gt;&lt;polygon points=&quot;429.2,143.0 432.5,143.0 432.5,140.5 429.2,140.5&quot; fill=&quot;#e11d48&quot; fill-opacity=&quot;0.75&quot;/&gt;&lt;polyline points=&quot;406.1,141.7 356.5,141.7&quot; fill=&quot;none&quot; stroke=&quot;#2563eb&quot; stroke-width=&quot;4.1&quot;/&gt;&lt;polyline points=&quot;455.7,141.7 505.2,141.7&quot; fill=&quot;none&quot; stroke=&quot;#2563eb&quot; stroke-width=&quot;4.1&quot;/&gt;&lt;polygon points=&quot;319.3,317.3 360.7,317.3 360.7,313.2 319.3,313.2&quot; fill=&quot;#f59e0b&quot; fill-opacity=&quot;0.75&quot;/&gt;&lt;polygon points=&quot;319.3,143.8 360.7,143.8 360.7,139.7 319.3,139.7&quot; fill=&quot;#f59e0b&quot; fill-opacity=&quot;0.75&quot;/&gt;&lt;polygon points=&quot;247.1,302.8 251.2,302.8 251.2,154.1 247.1,154.1&quot; fill=&quot;#f59e0b&quot; fill-opacity=&quot;0.75&quot;/&gt;&lt;polygon points=&quot;428.8,302.8 432.9,302.8 432.9,154.1 428.8,154.1&quot; fill=&quot;#f59e0b&quot; fill-opacity=&quot;0.75&quot;/&gt;&lt;polyline points=&quot;98.4,265.6 139.7,265.6 540.3,265.6&quot; fill=&quot;none&quot; stroke=&quot;#0891b2&quot; stroke-width=&quot;16.5&quot;/&gt;&lt;polyline points=&quot;98.4,92.2 139.7,92.2 540.3,92.2&quot; fill=&quot;none&quot; stroke=&quot;#0891b2&quot; stroke-width=&quot;16.5&quot;/&gt;&lt;polygon points=&quot;240.9,302.8 257.4,302.8 257.4,278.0 240.9,278.0&quot; fill=&quot;#16a34a&quot; fill-opacity=&quot;0.75&quot;/&gt;&lt;polygon points=&quot;422.6,302.8 439.1,302.8 439.1,278.0 422.6,278.0&quot; fill=&quot;#16a34a&quot; fill-opacity=&quot;0.75&quot;/&gt;&lt;polygon points=&quot;240.9,129.3 257.4,129.3 257.4,104.5 240.9,104.5&quot; fill=&quot;#16a34a&quot; fill-opacity=&quot;0.75&quot;/&gt;&lt;polygon points=&quot;422.6,129.3 439.1,129.3 439.1,104.5 422.6,104.5&quot; fill=&quot;#16a34a&quot; fill-opacity=&quot;0.75&quot;/&gt;&lt;polyline points=&quot;249.1,315.2 249.1,397.8 581.6,397.8&quot; fill=&quot;none&quot; stroke=&quot;#7c3aed&quot; stroke-width=&quot;8.3&quot;/&gt;&lt;polygon points=&quot;565.1,408.2 598.2,408.2 598.2,387.5 565.1,387.5&quot; fill=&quot;#0f172a&quot; fill-opacity=&quot;0.75&quot;/&gt;&lt;polyline points=&quot;430.9,315.2 430.9,364.8 581.6,364.8&quot; fill=&quot;none&quot; stroke=&quot;#7c3aed&quot; stroke-width=&quot;8.3&quot;/&gt;&lt;polygon points=&quot;565.1,375.1 598.2,375.1 598.2,354.5 565.1,354.5&quot; fill=&quot;#0f172a&quot; fill-opacity=&quot;0.75&quot;/&gt;&lt;polyline points=&quot;249.1,141.7 249.1,224.3 581.6,224.3&quot; fill=&quot;none&quot; stroke=&quot;#7c3aed&quot; stroke-width=&quot;8.3&quot;/&gt;&lt;polygon points=&quot;565.1,234.7 598.2,234.7 598.2,214.0 565.1,214.0&quot; fill=&quot;#0f172a&quot; fill-opacity=&quot;0.75&quot;/&gt;&lt;polyline points=&quot;430.9,141.7 430.9,191.3 581.6,191.3&quot; fill=&quot;none&quot; stroke=&quot;#7c3aed&quot; stroke-width=&quot;8.3&quot;/&gt;&lt;polygon points=&quot;565.1,201.6 598.2,201.6 598.2,181.0 565.1,181.0&quot; fill=&quot;#0f172a&quot; fill-opacity=&quot;0.75&quot;/&gt;&lt;polygon points=&quot;81.8,276.0 114.9,276.0 114.9,255.3 81.8,255.3&quot; fill=&quot;#0f172a&quot; fill-opacity=&quot;0.75&quot;/&gt;&lt;polygon points=&quot;81.8,102.5 114.9,102.5 114.9,81.8 81.8,81.8&quot; fill=&quot;#0f172a&quot; fill-opacity=&quot;0.75&quot;/&gt;&lt;polygon points=&quot;24.0,65.3 656.0,65.3 656.0,24.0 24.0,24.0&quot; fill=&quot;#94a3b8&quot; fill-opacity=&quot;0.75&quot;/&gt;&lt;polygon points=&quot;24.0,466.0 656.0,466.0 656.0,424.7 24.0,424.7&quot; fill=&quot;#94a3b8&quot; fill-opacity=&quot;0.75&quot;/&gt;&lt;polygon points=&quot;24.0,466.0 65.3,466.0 65.3,24.0 24.0,24.0&quot; fill=&quot;#94a3b8&quot; fill-opacity=&quot;0.75&quot;/&gt;&lt;polygon points=&quot;614.7,466.0 656.0,466.0 656.0,24.0 614.7,24.0&quot; fill=&quot;#94a3b8&quot; fill-opacity=&quot;0.75&quot;/&gt;&lt;/svg&gt;&#10;          &lt;Text style={{ fontSize: 16, fontWeight: 'bold', color: '#061F32' }}&gt;方阵 2×2 · 4 比特（读出 + 控制 + 布线焊盘）&lt;/Text&gt;&#10;        &lt;/Box&gt;&#10;      &lt;/Box&gt;&#10;      &lt;Box style={{ flex: 1, flexDirection: 'row', alignItems: 'center', background: '#E7E6E6', borderLeft: '4px solid #061F32', padding: '12px 18px' }}&gt;&#10;        &lt;Text style={{ fontSize: 18, color: '#061F32', lineHeight: 1.5 }}&gt;&#10;          判断：这些是多边形几何，不是渲染效果图——同一份 &lt;span style={{ fontWeight: 'bold' }}&gt;.gds&lt;/span&gt; 可下载、可复核、可送下游工具链。&#10;        &lt;/Text&gt;&#10;      &lt;/Box&gt;&#10;    &lt;/Box&gt;&#10;&#10;    &lt;Box style={{ flex: 9, flexDirection: 'column', gap: 14, paddingTop: 4 }}&gt;&#10;      &lt;Text style={{ fontSize: 19, fontWeight: 'bold', color: '#061F32' }}&gt;三层版图 · 一套编码器&lt;/Text&gt;&#10;      &lt;Box style={{ width: 44, height: 3, background: '#08A6F6' }} /&gt;&#10;      &lt;Text style={{ fontSize: 16, color: '#44546A', lineHeight: 1.5 }}&gt;&#10;        &lt;span style={{ fontWeight: 'bold', color: '#061F32' }}&gt;层 10 超导膜&lt;/span&gt;：比特十字岛、耦合器、读出腔、控制线与焊盘&#10;      &lt;/Text&gt;&#10;      &lt;Text style={{ fontSize: 16, color: '#44546A', lineHeight: 1.5 }}&gt;&#10;        &lt;span style={{ fontWeight: 'bold', color: '#061F32' }}&gt;层 11 Josephson 结&lt;/span&gt;：SQUID 环与单结，位置与尺寸参与几何签核&#10;      &lt;/Text&gt;&#10;      &lt;Text style={{ fontSize: 16, color: '#44546A', lineHeight: 1.5 }}&gt;&#10;        &lt;span style={{ fontWeight: 'bold', color: '#061F32' }}&gt;层 12 地&lt;/span&gt;：整框地与沟道隔断，防串扰与短路&#10;      &lt;/Text&gt;&#10;      &lt;Box style={{ height: 1, background: '#E7E6E6', marginTop: 4 }} /&gt;&#10;      &lt;Text style={{ fontSize: 16, color: '#44546A', lineHeight: 1.5 }}&gt;产出规模：8 组配置 · 共 &lt;span style={{ fontWeight: 'bold', color: '#061F32' }}&gt;29 件&lt;/span&gt; .gds / .svg / report.json&lt;/Text&gt;&#10;      &lt;Text style={{ fontSize: 16, color: '#44546A', lineHeight: 1.5 }}&gt;旗舰档 32×32 版图：&lt;span style={{ fontWeight: 'bold', color: '#061F32' }}&gt;10244&lt;/span&gt; 个元素 · 1056 条控制信号线&lt;/Text&gt;&#10;      &lt;Text style={{ fontSize: 16, color: '#44546A', lineHeight: 1.5 }}&gt;编码器：平台自写 GDSII 输出，&lt;span style={{ fontWeight: 'bold', color: '#061F32' }}&gt;零外部依赖&lt;/span&gt;（不用 gdsfactory 等）&lt;/Text&gt;&#10;    &lt;/Box&gt;&#10;  &lt;/Box&gt;&#10;&#10;  &lt;Box style={{ height: 40, flexDirection: 'row', justifyContent: 'space-between', alignItems: 'flex-end' }}&gt;&#10;    &lt;Box style={{ flexDirection: 'column' }}&gt;&#10;      &lt;Text style={{ fontSize: 14, color: '#808080' }}&gt;Source：examples/lda_schip_s5.py 批量签核产出（lda_schip_s5_hh3x3 / _2x2 / _7x8 / _13x13 / _tunable 等）&lt;/Text&gt;&#10;      &lt;Text style={{ fontSize: 14, color: '#808080' }}&gt;Footnote：图形为 GDS 几何的 SVG 预览；本页不含任何示意性插图或生成图。&lt;/Text&gt;&#10;    &lt;/Box&gt;&#10;    &lt;Text style={{ fontSize: 14, color: '#808080' }}&gt;11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7639050" cy="438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版图不是示意图，是平台自写</a:t>
            </a:r>
            <a:r>
              <a:rPr lang="en-US" sz="2475" b="1">
                <a:solidFill>
                  <a:srgbClr val="061F32"/>
                </a:solidFill>
                <a:latin typeface="Arial"/>
                <a:ea typeface="Arial"/>
              </a:rPr>
              <a:t xml:space="preserve"> GDSII </a:t>
            </a: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编码器的直出几何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791825" y="419100"/>
            <a:ext cx="866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第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3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章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产出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533400" y="1171575"/>
            <a:ext cx="3400425" cy="3238500"/>
          </a:xfrm>
          <a:prstGeom prst="roundRect">
            <a:avLst>
              <a:gd name="adj" fmla="val 1176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pic>
        <p:nvPicPr>
          <p:cNvPr id="25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285875"/>
            <a:ext cx="2400300" cy="240030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47700" y="3762375"/>
            <a:ext cx="3171825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heavy-hex 3×3 · 39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比特（最大度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3 ·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对标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IBM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105275" y="1171575"/>
            <a:ext cx="3390900" cy="3238500"/>
          </a:xfrm>
          <a:prstGeom prst="roundRect">
            <a:avLst>
              <a:gd name="adj" fmla="val 1176"/>
            </a:avLst>
          </a:prstGeom>
          <a:ln w="12700">
            <a:solidFill>
              <a:srgbClr val="E7E6E6"/>
            </a:solidFill>
            <a:prstDash val="solid"/>
          </a:ln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00575" y="1285875"/>
            <a:ext cx="2400300" cy="240030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276725" y="376237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方阵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2×2 · 4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比特（读出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+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控制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+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布线焊盘）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71500" y="4562475"/>
            <a:ext cx="6962775" cy="17240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533400" y="4562475"/>
            <a:ext cx="7000875" cy="1724025"/>
          </a:xfrm>
          <a:custGeom>
            <a:pathLst>
              <a:path w="735" h="181">
                <a:moveTo>
                  <a:pt x="0" y="0"/>
                </a:moveTo>
                <a:lnTo>
                  <a:pt x="4" y="0"/>
                </a:lnTo>
                <a:lnTo>
                  <a:pt x="4" y="181"/>
                </a:lnTo>
                <a:lnTo>
                  <a:pt x="0" y="181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42950" y="5114925"/>
            <a:ext cx="65817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判断：这些是多边形几何，不是渲染效果图——同一份</a:t>
            </a: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 xml:space="preserve"> </a:t>
            </a:r>
            <a:r>
              <a:rPr lang="en-US" sz="1350" b="1">
                <a:solidFill>
                  <a:srgbClr val="061F32"/>
                </a:solidFill>
                <a:latin typeface="Arial"/>
                <a:ea typeface="Arial"/>
              </a:rPr>
              <a:t>.gds</a:t>
            </a:r>
            <a:r>
              <a:rPr lang="en-US" sz="1350">
                <a:solidFill>
                  <a:srgbClr val="061F32"/>
                </a:solidFill>
                <a:latin typeface="Arial"/>
                <a:ea typeface="Arial"/>
              </a:rPr>
              <a:t xml:space="preserve"> </a:t>
            </a:r>
            <a:r>
              <a:rPr lang="zh-CN" sz="1350">
                <a:solidFill>
                  <a:srgbClr val="061F32"/>
                </a:solidFill>
                <a:latin typeface="Arial"/>
                <a:ea typeface="Arial"/>
              </a:rPr>
              <a:t>可下载、可复核、可送下游工具链。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743825" y="1209675"/>
            <a:ext cx="3914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三层版图</a:t>
            </a:r>
            <a:r>
              <a:rPr lang="en-US" sz="1425" b="1">
                <a:solidFill>
                  <a:srgbClr val="061F32"/>
                </a:solidFill>
                <a:latin typeface="Arial"/>
                <a:ea typeface="Arial"/>
              </a:rPr>
              <a:t xml:space="preserve"> · </a:t>
            </a: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一套编码器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743825" y="1562100"/>
            <a:ext cx="419100" cy="2857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743825" y="1724025"/>
            <a:ext cx="3914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层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10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超导膜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：比特十字岛、耦合器、读出腔、控制线与焊盘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743825" y="2409825"/>
            <a:ext cx="3914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层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11 Josephson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结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：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SQUID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环与单结，位置与尺寸参与几何签核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743825" y="3095625"/>
            <a:ext cx="39147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层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 12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地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：整框地与沟道隔断，防串扰与短路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7743825" y="3543300"/>
            <a:ext cx="3914775" cy="95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743825" y="3686175"/>
            <a:ext cx="39147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产出规模：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8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组配置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·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共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 xml:space="preserve">29 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件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.gds / .svg / report.json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39147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旗舰档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32×32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版图：</a:t>
            </a:r>
            <a:r>
              <a:rPr lang="en-US" sz="1200" b="1">
                <a:solidFill>
                  <a:srgbClr val="061F32"/>
                </a:solidFill>
                <a:latin typeface="Arial"/>
                <a:ea typeface="Arial"/>
              </a:rPr>
              <a:t>10244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个元素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· 1056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条控制信号线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743825" y="4505325"/>
            <a:ext cx="39147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编码器：平台自写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GDSII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输出，</a:t>
            </a:r>
            <a:r>
              <a:rPr lang="zh-CN" sz="1200" b="1">
                <a:solidFill>
                  <a:srgbClr val="061F32"/>
                </a:solidFill>
                <a:latin typeface="Arial"/>
                <a:ea typeface="Arial"/>
              </a:rPr>
              <a:t>零外部依赖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（不用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gdsfactory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等）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33400" y="6343650"/>
            <a:ext cx="659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examples/lda_schip_s5.py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批量签核产出（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lda_schip_s5_hh3x3 / _2x2 / _7x8 / _13x13 / _tunable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等）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33400" y="6505575"/>
            <a:ext cx="659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Footnote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：图形为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GDS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几何的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SVG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预览；本页不含任何示意性插图或生成图。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258550" y="65055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5" name="" descr="&lt;Slide style={{ width: 1280, height: 720, padding: '44px 56px 20px 56px', background: '#FFFFFF', fontFamily: 'Arial, &quot;PingFang SC&quot;, &quot;Microsoft YaHei&quot;, &quot;Noto Sans SC&quot;, sans-serif', flexDirection: 'column' }}&gt;&#10;  &lt;Box style={{ height: 58, flexDirection: 'row', justifyContent: 'space-between', alignItems: 'flex-start' }}&gt;&#10;    &lt;Text style={{ fontSize: 33, fontWeight: 'bold', color: '#061F32', lineHeight: 1.15 }}&gt;案例卡已接线，三条路径都能在 30 秒内自己验一遍&lt;/Text&gt;&#10;    &lt;Text style={{ fontSize: 15, color: '#808080', paddingTop: 10 }}&gt;第 3 章 · 路径&lt;/Text&gt;&#10;  &lt;/Box&gt;&#10;  &lt;Box style={{ height: 1, background: '#061F32', marginTop: 8 }} /&gt;&#10;&#10;  &lt;Box style={{ height: 537, marginTop: 12, flexDirection: 'row', gap: 26 }}&gt;&#10;    &lt;Box style={{ flex: 2, flexDirection: 'column', gap: 14 }}&gt;&#10;      &lt;Text style={{ fontSize: 19, fontWeight: 'bold', color: '#061F32' }}&gt;三条获取路径（任选一条即可独立验证）&lt;/Text&gt;&#10;&#10;      &lt;Box style={{ height: 132, background: '#061F32', padding: '16px 18px', flexDirection: 'column', gap: 6 }}&gt;&#10;        &lt;Text style={{ fontSize: 17, fontWeight: 'bold', color: '#08A6F6' }}&gt;路径 A · UI 案例卡（零门槛）&lt;/Text&gt;&#10;        &lt;Box style={{ flexDirection: 'row', alignItems: 'center', gap: 8, flexWrap: 'wrap', marginTop: 4 }}&gt;&#10;          &lt;Text style={{ fontSize: 16, color: '#E7E6E6' }}&gt;lda.weomnitech.com.cn&lt;/Text&gt;&#10;          &lt;Text style={{ fontSize: 16, color: '#808080' }}&gt;›&lt;/Text&gt;&#10;          &lt;Text style={{ fontSize: 16, color: '#E7E6E6' }}&gt;免登录&lt;/Text&gt;&#10;          &lt;Text style={{ fontSize: 16, color: '#808080' }}&gt;›&lt;/Text&gt;&#10;          &lt;Text style={{ fontSize: 16, color: '#E7E6E6' }}&gt;验证实力&lt;/Text&gt;&#10;          &lt;Text style={{ fontSize: 16, color: '#808080' }}&gt;›&lt;/Text&gt;&#10;          &lt;Text style={{ fontSize: 16, fontWeight: 'bold', color: '#FFFFFF' }}&gt;★ 超导量子计算芯片案例&lt;/Text&gt;&#10;          &lt;Text style={{ fontSize: 16, color: '#808080' }}&gt;›&lt;/Text&gt;&#10;          &lt;Text style={{ fontSize: 16, color: '#08A6F6' }}&gt;运行超导芯片案例&lt;/Text&gt;&#10;        &lt;/Box&gt;&#10;        &lt;Text style={{ fontSize: 15, color: '#99BDED', lineHeight: 1.45 }}&gt;卡片呈现：五段征程 · 旗舰规模 · 双验证表 · 规模档 · 关键结论 · 先进性 · 诚实限制 · 未闭合项 · 产出物&lt;/Text&gt;&#10;      &lt;/Box&gt;&#10;&#10;      &lt;Box style={{ height: 140, background: '#F5F5F5', padding: '16px 18px', flexDirection: 'column', gap: 6 }}&gt;&#10;        &lt;Text style={{ fontSize: 17, fontWeight: 'bold', color: '#001965' }}&gt;路径 B · 只读端点（可直接集成）&lt;/Text&gt;&#10;        &lt;Text style={{ fontSize: 17, color: '#061F32', marginTop: 4 }}&gt;GET /api/schip_demo&lt;/Text&gt;&#10;        &lt;Text style={{ fontSize: 15, color: '#44546A', lineHeight: 1.45 }}&gt;公开只读 · 免登录 · 零重计算（不跑 P&amp;amp;R、不 import 求解器）· 微秒级响应；返回体自带 verdict 与 honest_note。&lt;/Text&gt;&#10;      &lt;/Box&gt;&#10;&#10;      &lt;Box style={{ height: 140, background: '#F5F5F5', padding: '16px 18px', flexDirection: 'column', gap: 6 }}&gt;&#10;        &lt;Text style={{ fontSize: 17, fontWeight: 'bold', color: '#001965' }}&gt;路径 C · 源码复现（最硬）&lt;/Text&gt;&#10;        &lt;Text style={{ fontSize: 16, color: '#061F32', marginTop: 4, lineHeight: 1.45 }}&gt;python run_schip_s5_smoke.py（96 判据） · python examples/lda_schip_s5.py（一键出 GDS/SVG/report）&lt;/Text&gt;&#10;        &lt;Text style={{ fontSize: 15, color: '#44546A', lineHeight: 1.45 }}&gt;开源仓库可克隆；同一份代码在两台机器上给出逐位一致的结果。&lt;/Text&gt;&#10;      &lt;/Box&gt;&#10;    &lt;/Box&gt;&#10;&#10;    &lt;Box style={{ flex: 1, flexDirection: 'column', gap: 12, paddingTop: 34 }}&gt;&#10;      &lt;Text style={{ fontSize: 19, fontWeight: 'bold', color: '#061F32' }}&gt;够不够格当案例：五条判据&lt;/Text&gt;&#10;      &lt;Box style={{ width: 44, height: 3, background: '#08A6F6' }} /&gt;&#10;      &lt;Text style={{ fontSize: 16, color: '#44546A', lineHeight: 1.5 }}&gt;① 有独立可访问入口&lt;/Text&gt;&#10;      &lt;Text style={{ fontSize: 16, color: '#44546A', lineHeight: 1.5 }}&gt;② 有真产出物（29 件 .gds / .svg / report）&lt;/Text&gt;&#10;      &lt;Text style={{ fontSize: 16, color: '#44546A', lineHeight: 1.5 }}&gt;③ 有机器可判门禁（200 判据 + 18 组探针）&lt;/Text&gt;&#10;      &lt;Text style={{ fontSize: 16, color: '#44546A', lineHeight: 1.5 }}&gt;④ 有一键复现脚本&lt;/Text&gt;&#10;      &lt;Text style={{ fontSize: 16, color: '#44546A', lineHeight: 1.5 }}&gt;⑤ 有逐条写明的诚实边界&lt;/Text&gt;&#10;      &lt;Box style={{ background: '#E7E6E6', borderLeft: '4px solid #061F32', padding: '12px 14px', marginTop: 6 }}&gt;&#10;        &lt;Text style={{ fontSize: 16, color: '#061F32', lineHeight: 1.5 }}&gt;五条齐备，才算「案例」，而不是「演示」。&lt;/Text&gt;&#10;      &lt;/Box&gt;&#10;      &lt;Text style={{ fontSize: 16, color: '#44546A', lineHeight: 1.5, marginTop: 4 }}&gt;与光量子案例卡（/api/qchip_demo）并列呈现——同一条链路，两种物理。&lt;/Text&gt;&#10;    &lt;/Box&gt;&#10;  &lt;/Box&gt;&#10;&#10;  &lt;Box style={{ height: 40, flexDirection: 'row', justifyContent: 'space-between', alignItems: 'flex-end' }}&gt;&#10;    &lt;Box style={{ flexDirection: 'column' }}&gt;&#10;      &lt;Text style={{ fontSize: 14, color: '#808080' }}&gt;Source：lda_webui/schip_case.py（案例卡数据源 · 12 项自检）· routes.py h_schip_demo · docs/API_REFERENCE.md（端点 140）&lt;/Text&gt;&#10;      &lt;Text style={{ fontSize: 14, color: '#808080' }}&gt;Footnote：端点为零重计算只读，不进登录闸门；返回体明标 DESIGN_SIGNOFF（设计期签核）。&lt;/Text&gt;&#10;    &lt;/Box&gt;&#10;    &lt;Text style={{ fontSize: 14, color: '#808080' }}&gt;12 / 13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33400" y="419100"/>
            <a:ext cx="7134225" cy="438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案例卡已接线，三条路径都能在</a:t>
            </a:r>
            <a:r>
              <a:rPr lang="en-US" sz="2475" b="1">
                <a:solidFill>
                  <a:srgbClr val="061F32"/>
                </a:solidFill>
                <a:latin typeface="Arial"/>
                <a:ea typeface="Arial"/>
              </a:rPr>
              <a:t xml:space="preserve"> 30 </a:t>
            </a:r>
            <a:r>
              <a:rPr lang="zh-CN" sz="2475" b="1">
                <a:solidFill>
                  <a:srgbClr val="061F32"/>
                </a:solidFill>
                <a:latin typeface="Arial"/>
                <a:ea typeface="Arial"/>
              </a:rPr>
              <a:t>秒内自己验一遍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791825" y="419100"/>
            <a:ext cx="866775" cy="26670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第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3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章</a:t>
            </a:r>
            <a:r>
              <a:rPr lang="en-US" sz="1125">
                <a:solidFill>
                  <a:srgbClr val="808080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808080"/>
                </a:solidFill>
                <a:latin typeface="Arial"/>
                <a:ea typeface="Arial"/>
              </a:rPr>
              <a:t>路径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33400" y="104775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33400" y="1171575"/>
            <a:ext cx="724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三条获取路径（任选一条即可独立验证）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33400" y="1524000"/>
            <a:ext cx="7248525" cy="12573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04850" y="1676400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8A6F6"/>
                </a:solidFill>
                <a:latin typeface="Arial"/>
                <a:ea typeface="Arial"/>
              </a:rPr>
              <a:t>路径</a:t>
            </a:r>
            <a:r>
              <a:rPr lang="en-US" sz="1275" b="1">
                <a:solidFill>
                  <a:srgbClr val="08A6F6"/>
                </a:solidFill>
                <a:latin typeface="Arial"/>
                <a:ea typeface="Arial"/>
              </a:rPr>
              <a:t xml:space="preserve"> A · UI </a:t>
            </a:r>
            <a:r>
              <a:rPr lang="zh-CN" sz="1275" b="1">
                <a:solidFill>
                  <a:srgbClr val="08A6F6"/>
                </a:solidFill>
                <a:latin typeface="Arial"/>
                <a:ea typeface="Arial"/>
              </a:rPr>
              <a:t>案例卡（零门槛）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04850" y="1971675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>lda.weomnitech.com.cn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381250" y="19716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808080"/>
                </a:solidFill>
                <a:latin typeface="Arial"/>
                <a:ea typeface="Arial"/>
              </a:rPr>
              <a:t>›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2514600" y="197167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免登录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3048000" y="19716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808080"/>
                </a:solidFill>
                <a:latin typeface="Arial"/>
                <a:ea typeface="Arial"/>
              </a:rPr>
              <a:t>›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181350" y="19716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验证实力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867150" y="19716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808080"/>
                </a:solidFill>
                <a:latin typeface="Arial"/>
                <a:ea typeface="Arial"/>
              </a:rPr>
              <a:t>›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000500" y="1971675"/>
            <a:ext cx="1695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 xml:space="preserve">★ </a:t>
            </a:r>
            <a:r>
              <a:rPr lang="zh-CN" sz="1200" b="1">
                <a:solidFill>
                  <a:srgbClr val="FFFFFF"/>
                </a:solidFill>
                <a:latin typeface="Arial"/>
                <a:ea typeface="Arial"/>
              </a:rPr>
              <a:t>超导量子计算芯片案例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772150" y="1971675"/>
            <a:ext cx="57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808080"/>
                </a:solidFill>
                <a:latin typeface="Arial"/>
                <a:ea typeface="Arial"/>
              </a:rPr>
              <a:t>›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905500" y="19716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8A6F6"/>
                </a:solidFill>
                <a:latin typeface="Arial"/>
                <a:ea typeface="Arial"/>
              </a:rPr>
              <a:t>运行超导芯片案例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04850" y="2219325"/>
            <a:ext cx="69056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卡片呈现：五段征程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旗舰规模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双验证表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规模档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关键结论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先进性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诚实限制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未闭合项</a:t>
            </a:r>
            <a:r>
              <a:rPr lang="en-US" sz="1125">
                <a:solidFill>
                  <a:srgbClr val="99BDED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99BDED"/>
                </a:solidFill>
                <a:latin typeface="Arial"/>
                <a:ea typeface="Arial"/>
              </a:rPr>
              <a:t>产出物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33400" y="2914650"/>
            <a:ext cx="7248525" cy="1333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04850" y="3067050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01965"/>
                </a:solidFill>
                <a:latin typeface="Arial"/>
                <a:ea typeface="Arial"/>
              </a:rPr>
              <a:t>路径</a:t>
            </a:r>
            <a:r>
              <a:rPr lang="en-US" sz="1275" b="1">
                <a:solidFill>
                  <a:srgbClr val="001965"/>
                </a:solidFill>
                <a:latin typeface="Arial"/>
                <a:ea typeface="Arial"/>
              </a:rPr>
              <a:t xml:space="preserve"> B · </a:t>
            </a:r>
            <a:r>
              <a:rPr lang="zh-CN" sz="1275" b="1">
                <a:solidFill>
                  <a:srgbClr val="001965"/>
                </a:solidFill>
                <a:latin typeface="Arial"/>
                <a:ea typeface="Arial"/>
              </a:rPr>
              <a:t>只读端点（可直接集成）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04850" y="3362325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61F32"/>
                </a:solidFill>
                <a:latin typeface="Arial"/>
                <a:ea typeface="Arial"/>
              </a:rPr>
              <a:t>GET /api/schip_demo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04850" y="3619500"/>
            <a:ext cx="6905625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公开只读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免登录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·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零重计算（不跑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P&amp;R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、不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import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求解器）·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微秒级响应；返回体自带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verdict 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与</a:t>
            </a:r>
            <a:r>
              <a:rPr lang="en-US" sz="1125">
                <a:solidFill>
                  <a:srgbClr val="44546A"/>
                </a:solidFill>
                <a:latin typeface="Arial"/>
                <a:ea typeface="Arial"/>
              </a:rPr>
              <a:t xml:space="preserve"> honest_note</a:t>
            </a: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533400" y="4381500"/>
            <a:ext cx="7248525" cy="13335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04850" y="4533900"/>
            <a:ext cx="690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01965"/>
                </a:solidFill>
                <a:latin typeface="Arial"/>
                <a:ea typeface="Arial"/>
              </a:rPr>
              <a:t>路径</a:t>
            </a:r>
            <a:r>
              <a:rPr lang="en-US" sz="1275" b="1">
                <a:solidFill>
                  <a:srgbClr val="001965"/>
                </a:solidFill>
                <a:latin typeface="Arial"/>
                <a:ea typeface="Arial"/>
              </a:rPr>
              <a:t xml:space="preserve"> C · </a:t>
            </a:r>
            <a:r>
              <a:rPr lang="zh-CN" sz="1275" b="1">
                <a:solidFill>
                  <a:srgbClr val="001965"/>
                </a:solidFill>
                <a:latin typeface="Arial"/>
                <a:ea typeface="Arial"/>
              </a:rPr>
              <a:t>源码复现（最硬）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04850" y="4829175"/>
            <a:ext cx="69056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>python run_schip_s5_smoke.py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（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96 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判据）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· python examples/lda_schip_s5.py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（一键出</a:t>
            </a:r>
            <a:r>
              <a:rPr lang="en-US" sz="1200">
                <a:solidFill>
                  <a:srgbClr val="061F32"/>
                </a:solidFill>
                <a:latin typeface="Arial"/>
                <a:ea typeface="Arial"/>
              </a:rPr>
              <a:t xml:space="preserve"> GDS/SVG/report</a:t>
            </a: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04850" y="5419725"/>
            <a:ext cx="690562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44546A"/>
                </a:solidFill>
                <a:latin typeface="Arial"/>
                <a:ea typeface="Arial"/>
              </a:rPr>
              <a:t>开源仓库可克隆；同一份代码在两台机器上给出逐位一致的结果。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029575" y="1495425"/>
            <a:ext cx="3629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61F32"/>
                </a:solidFill>
                <a:latin typeface="Arial"/>
                <a:ea typeface="Arial"/>
              </a:rPr>
              <a:t>够不够格当案例：五条判据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029575" y="1828800"/>
            <a:ext cx="419100" cy="28575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029575" y="1971675"/>
            <a:ext cx="36290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①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有独立可访问入口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029575" y="2362200"/>
            <a:ext cx="36290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②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有真产出物（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29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件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.gds / .svg / report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029575" y="2752725"/>
            <a:ext cx="36290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③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有机器可判门禁（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200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判据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 + 18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组探针）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029575" y="3143250"/>
            <a:ext cx="36290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④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有一键复现脚本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029575" y="3533775"/>
            <a:ext cx="36290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 xml:space="preserve">⑤ 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有逐条写明的诚实边界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067675" y="3981450"/>
            <a:ext cx="3629025" cy="504825"/>
          </a:xfrm>
          <a:prstGeom prst="rect">
            <a:avLst/>
          </a:prstGeom>
          <a:solidFill>
            <a:srgbClr val="E7E6E6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8029575" y="3981450"/>
            <a:ext cx="3667125" cy="504825"/>
          </a:xfrm>
          <a:custGeom>
            <a:pathLst>
              <a:path w="385" h="53">
                <a:moveTo>
                  <a:pt x="0" y="0"/>
                </a:moveTo>
                <a:lnTo>
                  <a:pt x="4" y="0"/>
                </a:lnTo>
                <a:lnTo>
                  <a:pt x="4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01025" y="4095750"/>
            <a:ext cx="33242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061F32"/>
                </a:solidFill>
                <a:latin typeface="Arial"/>
                <a:ea typeface="Arial"/>
              </a:rPr>
              <a:t>五条齐备，才算「案例」，而不是「演示」。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029575" y="4638675"/>
            <a:ext cx="36290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与光量子案例卡（</a:t>
            </a:r>
            <a:r>
              <a:rPr lang="en-US" sz="1200">
                <a:solidFill>
                  <a:srgbClr val="44546A"/>
                </a:solidFill>
                <a:latin typeface="Arial"/>
                <a:ea typeface="Arial"/>
              </a:rPr>
              <a:t>/api/qchip_demo</a:t>
            </a:r>
            <a:r>
              <a:rPr lang="zh-CN" sz="1200">
                <a:solidFill>
                  <a:srgbClr val="44546A"/>
                </a:solidFill>
                <a:latin typeface="Arial"/>
                <a:ea typeface="Arial"/>
              </a:rPr>
              <a:t>）并列呈现——同一条链路，两种物理。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33400" y="6343650"/>
            <a:ext cx="7915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Source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lda_webui/schip_case.py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（案例卡数据源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· 12 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项自检）·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routes.py h_schip_demo · docs/API_REFERENCE.md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（端点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140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33400" y="6505575"/>
            <a:ext cx="7915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Footnote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：端点为零重计算只读，不进登录闸门；返回体明标</a:t>
            </a: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 xml:space="preserve"> DESIGN_SIGNOFF</a:t>
            </a:r>
            <a:r>
              <a:rPr lang="zh-CN" sz="1050">
                <a:solidFill>
                  <a:srgbClr val="808080"/>
                </a:solidFill>
                <a:latin typeface="Arial"/>
                <a:ea typeface="Arial"/>
              </a:rPr>
              <a:t>（设计期签核）。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2490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Arial"/>
                <a:ea typeface="Arial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5" name="" descr="&lt;Slide style={{ width: 1280, height: 720, padding: '72px 72px 56px 72px', background: '#061F32', fontFamily: 'Arial, &quot;PingFang SC&quot;, &quot;Microsoft YaHei&quot;, &quot;Noto Sans SC&quot;, sans-serif', flexDirection: 'column', justifyContent: 'space-between' }}&gt;&#10;  &lt;Box style={{ flexDirection: 'column', gap: 16 }}&gt;&#10;    &lt;Text style={{ fontSize: 17, color: '#99BDED', letterSpacing: 2, fontWeight: 'bold' }}&gt;边界与合作&lt;/Text&gt;&#10;    &lt;Text style={{ fontSize: 52, fontWeight: 'bold', color: '#FFFFFF', lineHeight: 1.2 }}&gt;边界写清楚，合作才能谈得实&lt;/Text&gt;&#10;    &lt;Box style={{ width: 120, height: 4, background: '#08A6F6' }} /&gt;&#10;  &lt;/Box&gt;&#10;&#10;  &lt;Box style={{ flexDirection: 'row', gap: 40 }}&gt;&#10;    &lt;Box style={{ flex: 1, flexDirection: 'column', gap: 10 }}&gt;&#10;      &lt;Text style={{ fontSize: 19, fontWeight: 'bold', color: '#FFFFFF' }}&gt;六条边界（逐条写明，不含糊）&lt;/Text&gt;&#10;      &lt;Text style={{ fontSize: 16, color: '#E7E6E6', lineHeight: 1.5 }}&gt;① 非流片后实测：无低温实测 T1/T2、无实测保真度、无回片&lt;/Text&gt;&#10;      &lt;Text style={{ fontSize: 16, color: '#E7E6E6', lineHeight: 1.5 }}&gt;② 非 foundry PDK：DRC 为自建设计规则，未对接工艺厂 deck&lt;/Text&gt;&#10;      &lt;Text style={{ fontSize: 16, color: '#E7E6E6', lineHeight: 1.5 }}&gt;③ 规模 = 版图容量，不等于已制备器件数&lt;/Text&gt;&#10;      &lt;Text style={{ fontSize: 16, color: '#E7E6E6', lineHeight: 1.5 }}&gt;④ 不含纠错码层：无 surface code / qLDPC 逻辑比特验证&lt;/Text&gt;&#10;      &lt;Text style={{ fontSize: 16, color: '#E7E6E6', lineHeight: 1.5 }}&gt;⑤ 不含线路级能力：无脉冲标定、无噪声仿真、无门保真实测&lt;/Text&gt;&#10;      &lt;Text style={{ fontSize: 16, color: '#E7E6E6', lineHeight: 1.5 }}&gt;⑥ 封装 / 低温布线未落地：只做到腔模规避与参与比预算&lt;/Text&gt;&#10;    &lt;/Box&gt;&#10;&#10;    &lt;Box style={{ width: 1, background: '#44546A' }} /&gt;&#10;&#10;    &lt;Box style={{ flex: 1, flexDirection: 'column', gap: 14, justifyContent: 'center' }}&gt;&#10;      &lt;Text style={{ fontSize: 22, fontWeight: 'bold', color: '#FFFFFF', lineHeight: 1.4 }}&gt;在明确边界内，这是一条可复现、可审计的设计链路。&lt;/Text&gt;&#10;      &lt;Text style={{ fontSize: 17, color: '#99BDED', lineHeight: 1.6 }}&gt;我们欢迎三类合作：&lt;br /&gt;技术评审（一起看代码与判据）&lt;br /&gt;工艺对接（把设计规则换成真实 PDK）&lt;br /&gt;生态共建（开源仓库 · MIT）&lt;/Text&gt;&#10;      &lt;Text style={{ fontSize: 16, color: '#E7E6E6', lineHeight: 1.6 }}&gt;下一步：先看 &lt;span style={{ fontWeight: 'bold', color: '#FFFFFF' }}&gt;/api/schip_demo&lt;/span&gt;，再决定要不要一起把某个环节做实。&lt;/Text&gt;&#10;    &lt;/Box&gt;&#10;  &lt;/Box&gt;&#10;&#10;  &lt;Box style={{ flexDirection: 'column', gap: 12 }}&gt;&#10;    &lt;Box style={{ height: 1, background: '#44546A' }} /&gt;&#10;    &lt;Box style={{ flexDirection: 'row', justifyContent: 'space-between', alignItems: 'center' }}&gt;&#10;      &lt;Text style={{ fontSize: 16, color: '#808080' }}&gt;LDA · 开源 Agent-native EDA（MIT）· 超导量子计算芯片 LDA-S · 2026-09-30&lt;/Text&gt;&#10;      &lt;Text style={{ fontSize: 16, color: '#808080' }}&gt;13 / 13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85800" y="685800"/>
            <a:ext cx="1082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150">
                <a:solidFill>
                  <a:srgbClr val="99BDED"/>
                </a:solidFill>
                <a:latin typeface="Arial"/>
                <a:ea typeface="Arial"/>
              </a:rPr>
              <a:t>边界与合作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85800" y="1038225"/>
            <a:ext cx="108204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Arial"/>
                <a:ea typeface="Arial"/>
              </a:rPr>
              <a:t>边界写清楚，合作才能谈得实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85800" y="1905000"/>
            <a:ext cx="1143000" cy="38100"/>
          </a:xfrm>
          <a:prstGeom prst="rect">
            <a:avLst/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85800" y="2724150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Arial"/>
                <a:ea typeface="Arial"/>
              </a:rPr>
              <a:t>六条边界（逐条写明，不含糊）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" y="30384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①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非流片后实测：无低温实测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T1/T2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、无实测保真度、无回片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85800" y="340995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②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非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foundry PDK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：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DRC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为自建设计规则，未对接工艺厂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deck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85800" y="378142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③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规模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=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版图容量，不等于已制备器件数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④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不含纠错码层：无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surface code / qLDPC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逻辑比特验证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85800" y="4524375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⑤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不含线路级能力：无脉冲标定、无噪声仿真、无门保真实测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85800" y="489585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⑥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封装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/ 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低温布线未落地：只做到腔模规避与参与比预算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0" y="2724150"/>
            <a:ext cx="9525" cy="2514600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486525" y="2724150"/>
            <a:ext cx="501967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Arial"/>
                <a:ea typeface="Arial"/>
              </a:rPr>
              <a:t>在明确边界内，这是一条可复现、可审计的设计链路。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486525" y="3562350"/>
            <a:ext cx="5019675" cy="12477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我们欢迎三类合作：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技术评审（一起看代码与判据）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工艺对接（把设计规则换成真实</a:t>
            </a:r>
            <a:r>
              <a:rPr lang="en-US" sz="1275">
                <a:solidFill>
                  <a:srgbClr val="99BDED"/>
                </a:solidFill>
                <a:latin typeface="Arial"/>
                <a:ea typeface="Arial"/>
              </a:rPr>
              <a:t xml:space="preserve"> PDK</a:t>
            </a: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）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生态共建（开源仓库</a:t>
            </a:r>
            <a:r>
              <a:rPr lang="en-US" sz="1275">
                <a:solidFill>
                  <a:srgbClr val="99BDED"/>
                </a:solidFill>
                <a:latin typeface="Arial"/>
                <a:ea typeface="Arial"/>
              </a:rPr>
              <a:t xml:space="preserve"> · MIT</a:t>
            </a:r>
            <a:r>
              <a:rPr lang="zh-CN" sz="1275">
                <a:solidFill>
                  <a:srgbClr val="99BDED"/>
                </a:solidFill>
                <a:latin typeface="Arial"/>
                <a:ea typeface="Arial"/>
              </a:rPr>
              <a:t>）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486525" y="4943475"/>
            <a:ext cx="50196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下一步：先看</a:t>
            </a:r>
            <a:r>
              <a:rPr lang="en-US" sz="1200">
                <a:solidFill>
                  <a:srgbClr val="E7E6E6"/>
                </a:solidFill>
                <a:latin typeface="Arial"/>
                <a:ea typeface="Arial"/>
              </a:rPr>
              <a:t xml:space="preserve"> </a:t>
            </a:r>
            <a:r>
              <a:rPr lang="en-US" sz="1200" b="1">
                <a:solidFill>
                  <a:srgbClr val="FFFFFF"/>
                </a:solidFill>
                <a:latin typeface="Arial"/>
                <a:ea typeface="Arial"/>
              </a:rPr>
              <a:t>/api/schip_demo</a:t>
            </a:r>
            <a:r>
              <a:rPr lang="zh-CN" sz="1200">
                <a:solidFill>
                  <a:srgbClr val="E7E6E6"/>
                </a:solidFill>
                <a:latin typeface="Arial"/>
                <a:ea typeface="Arial"/>
              </a:rPr>
              <a:t>，再决定要不要一起把某个环节做实。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85800" y="6010275"/>
            <a:ext cx="10820400" cy="9525"/>
          </a:xfrm>
          <a:prstGeom prst="rect">
            <a:avLst/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85800" y="6134100"/>
            <a:ext cx="5276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 xml:space="preserve">LDA · 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开源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 xml:space="preserve"> Agent-native EDA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（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MIT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）·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 xml:space="preserve"> </a:t>
            </a:r>
            <a:r>
              <a:rPr lang="zh-CN" sz="1200">
                <a:solidFill>
                  <a:srgbClr val="808080"/>
                </a:solidFill>
                <a:latin typeface="Arial"/>
                <a:ea typeface="Arial"/>
              </a:rPr>
              <a:t>超导量子计算芯片</a:t>
            </a: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 xml:space="preserve"> LDA-S · 2026-09-30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039475" y="6134100"/>
            <a:ext cx="466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08080"/>
                </a:solidFill>
                <a:latin typeface="Arial"/>
                <a:ea typeface="Arial"/>
              </a:rPr>
              <a:t>13 / 13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2026-09-30T09:12:08Z</dcterms:created>
  <dcterms:modified xsi:type="dcterms:W3CDTF">2026-09-30T09:12:08Z</dcterms:modified>
</cp:coreProperties>
</file>