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21" Type="http://schemas.openxmlformats.org/officeDocument/2006/relationships/viewProps" Target="view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7" Type="http://schemas.openxmlformats.org/officeDocument/2006/relationships/slide" Target="slides/slide17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8" Type="http://schemas.openxmlformats.org/officeDocument/2006/relationships/notesMaster" Target="notesMasters/notesMaster1.xml" /><Relationship Id="rId19" Type="http://schemas.openxmlformats.org/officeDocument/2006/relationships/presProps" Target="presProps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20" Type="http://schemas.openxmlformats.org/officeDocument/2006/relationships/tableStyles" Target="tableStyles.xml" /><Relationship Id="rId3" Type="http://schemas.openxmlformats.org/officeDocument/2006/relationships/slide" Target="slides/slide3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61F32"/>
                </a:solidFill>
              </a:defRPr>
            </a:pPr>
            <a:r>
              <a:rPr sz="1350">
                <a:solidFill>
                  <a:srgbClr val="061F32"/>
                </a:solidFill>
              </a:rPr>
              <a:t>光子 EDA 与 CPO 模块市场规模（十亿美元）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61F32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光子 EDA</c:v>
                </c:pt>
              </c:strCache>
            </c:strRef>
          </c:tx>
          <c:spPr>
            <a:solidFill>
              <a:srgbClr val="001965"/>
            </a:solidFill>
          </c:spPr>
          <c:dLbls>
            <c:txPr>
              <a:bodyPr/>
              <a:p>
                <a:pPr>
                  <a:defRPr sz="750">
                    <a:solidFill>
                      <a:srgbClr val="1F2A37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2025</c:v>
                </c:pt>
                <c:pt idx="1">
                  <c:v>2030</c:v>
                </c:pt>
                <c:pt idx="2">
                  <c:v>2032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18</c:v>
                </c:pt>
                <c:pt idx="1">
                  <c:v>34</c:v>
                </c:pt>
                <c:pt idx="2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CPO 模块</c:v>
                </c:pt>
              </c:strCache>
            </c:strRef>
          </c:tx>
          <c:spPr>
            <a:solidFill>
              <a:srgbClr val="08A6F6"/>
            </a:solidFill>
          </c:spPr>
          <c:dLbls>
            <c:txPr>
              <a:bodyPr/>
              <a:p>
                <a:pPr>
                  <a:defRPr sz="750">
                    <a:solidFill>
                      <a:srgbClr val="1F2A37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2025</c:v>
                </c:pt>
                <c:pt idx="1">
                  <c:v>2030</c:v>
                </c:pt>
                <c:pt idx="2">
                  <c:v>2032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5.6</c:v>
                </c:pt>
                <c:pt idx="1">
                  <c:v>80</c:v>
                </c:pt>
                <c:pt idx="2">
                  <c:v>326.8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44546A"/>
              </a:solidFill>
            </a:defRPr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'1280px', height: '720px', background: '#061F32', position: 'relative', overflow: 'hidden' }}&gt;&#10;  {/* 左侧光子波导装饰 */}&#10;  &lt;svg style={{ position: 'absolute', left: 0, top: 0 }} width={440} height={720} viewBox='0 0 440 720'&gt;&#10;    &lt;path d='M30 110 Q 150 50 260 110 T 420 110' stroke='#08A6F6' strokeWidth='2' fill='none' opacity='0.45' /&gt;&#10;    &lt;path d='M30 200 Q 150 140 260 200 T 420 200' stroke='#08A6F6' strokeWidth='2' fill='none' opacity='0.35' /&gt;&#10;    &lt;path d='M30 560 Q 150 500 260 560 T 420 560' stroke='#99BDED' strokeWidth='2' fill='none' opacity='0.3' /&gt;&#10;    &lt;path d='M30 640 Q 150 580 260 640 T 420 640' stroke='#99BDED' strokeWidth='2' fill='none' opacity='0.25' /&gt;&#10;    &lt;circle cx='260' cy='110' r='7' fill='#08A6F6' /&gt;&#10;    &lt;circle cx='260' cy='200' r='7' fill='#08A6F6' /&gt;&#10;    &lt;circle cx='260' cy='560' r='6' fill='#99BDED' /&gt;&#10;    &lt;circle cx='260' cy='640' r='6' fill='#99BDED' /&gt;&#10;    &lt;line x1='260' y1='117' x2='260' y2='193' stroke='#08A6F6' strokeWidth='1.5' opacity='0.4' /&gt;&#10;    &lt;line x1='260' y1='567' x2='260' y2='633' stroke='#99BDED' strokeWidth='1.5' opacity='0.35' /&gt;&#10;  &lt;/svg&gt;&#10;&#10;  {/* 右上角标 */}&#10;  &lt;Text style={{ position: 'absolute', right: 64, top: 56, fontSize: 22, color: '#08A6F6', fontWeight: 'bold', letterSpacing: 2 }}&gt;LDA&lt;/Text&gt;&#10;&#10;  {/* 主内容 */}&#10;  &lt;Box style={{ position: 'absolute', left: 96, top: 188, width: 980 }}&gt;&#10;    &lt;Text style={{ fontSize: 76, fontWeight: 'bold', color: '#FFFFFF', lineHeight: 1.12 }}&gt;&#10;      开源、Agent 原生的&lt;br/&gt;光子与量子芯片设计平台&#10;    &lt;/Text&gt;&#10;    &lt;Box style={{ width: 120, height: 4, background: '#08A6F6', margin: '28px 0 26px' }} /&gt;&#10;    &lt;Text style={{ fontSize: 28, color: '#99BDED', lineHeight: 1.5 }}&gt;&#10;      验证可证伪 · 主权自主 —— 对标 EDA 的下一代设计基础设施&#10;    &lt;/Text&gt;&#10;  &lt;/Box&gt;&#10;&#10;  {/* 落款 */}&#10;  &lt;Box style={{ position: 'absolute', left: 96, bottom: 60, flexDirection: 'row', alignItems: 'center', gap: 16 }}&gt;&#10;    &lt;Box style={{ width: 8, height: 8, background: '#08A6F6', borderRadius: 2 }} /&gt;&#10;    &lt;Text style={{ fontSize: 18, color: '#808080' }}&gt;上海杜特企业管理咨询有限公司 · 杜玉河 · 产品版本 v0.9.4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4191000" cy="6858000"/>
          </a:xfrm>
          <a:prstGeom prst="rect">
            <a:avLst/>
          </a:prstGeom>
          <a:ln/>
        </p:spPr>
      </p:pic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1087100" y="533400"/>
            <a:ext cx="495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150">
                <a:solidFill>
                  <a:srgbClr val="08A6F6"/>
                </a:solidFill>
                <a:latin typeface="Microsoft YaHei"/>
                <a:ea typeface="Microsoft YaHei"/>
              </a:rPr>
              <a:t>LDA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1790700"/>
            <a:ext cx="9334500" cy="19526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开源、</a:t>
            </a:r>
            <a:r>
              <a:rPr lang="en-US" sz="5700" b="1">
                <a:solidFill>
                  <a:srgbClr val="FFFFFF"/>
                </a:solidFill>
                <a:latin typeface="Microsoft YaHei"/>
                <a:ea typeface="Microsoft YaHei"/>
              </a:rPr>
              <a:t>Agent </a:t>
            </a: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原生的</a:t>
            </a:r>
            <a:endParaRPr/>
          </a:p>
          <a:p>
            <a:pPr>
              <a:lnSpc>
                <a:spcPct val="112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光子与量子芯片设计平台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914400" y="4010025"/>
            <a:ext cx="114300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4295775"/>
            <a:ext cx="933450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100">
                <a:solidFill>
                  <a:srgbClr val="99BDED"/>
                </a:solidFill>
                <a:latin typeface="Microsoft YaHei"/>
                <a:ea typeface="Microsoft YaHei"/>
              </a:rPr>
              <a:t>验证可证伪</a:t>
            </a:r>
            <a:r>
              <a:rPr lang="en-US" sz="2100">
                <a:solidFill>
                  <a:srgbClr val="99BDED"/>
                </a:solidFill>
                <a:latin typeface="Microsoft YaHei"/>
                <a:ea typeface="Microsoft YaHei"/>
              </a:rPr>
              <a:t> · </a:t>
            </a:r>
            <a:r>
              <a:rPr lang="zh-CN" sz="2100">
                <a:solidFill>
                  <a:srgbClr val="99BDED"/>
                </a:solidFill>
                <a:latin typeface="Microsoft YaHei"/>
                <a:ea typeface="Microsoft YaHei"/>
              </a:rPr>
              <a:t>主权自主</a:t>
            </a:r>
            <a:r>
              <a:rPr lang="en-US" sz="2100">
                <a:solidFill>
                  <a:srgbClr val="99BDED"/>
                </a:solidFill>
                <a:latin typeface="Microsoft YaHei"/>
                <a:ea typeface="Microsoft YaHei"/>
              </a:rPr>
              <a:t> —— </a:t>
            </a:r>
            <a:r>
              <a:rPr lang="zh-CN" sz="2100">
                <a:solidFill>
                  <a:srgbClr val="99BDED"/>
                </a:solidFill>
                <a:latin typeface="Microsoft YaHei"/>
                <a:ea typeface="Microsoft YaHei"/>
              </a:rPr>
              <a:t>对标</a:t>
            </a:r>
            <a:r>
              <a:rPr lang="en-US" sz="2100">
                <a:solidFill>
                  <a:srgbClr val="99BDED"/>
                </a:solidFill>
                <a:latin typeface="Microsoft YaHei"/>
                <a:ea typeface="Microsoft YaHei"/>
              </a:rPr>
              <a:t> EDA </a:t>
            </a:r>
            <a:r>
              <a:rPr lang="zh-CN" sz="2100">
                <a:solidFill>
                  <a:srgbClr val="99BDED"/>
                </a:solidFill>
                <a:latin typeface="Microsoft YaHei"/>
                <a:ea typeface="Microsoft YaHei"/>
              </a:rPr>
              <a:t>的下一代设计基础设施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914400" y="61436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143000" y="6076950"/>
            <a:ext cx="451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上海杜特企业管理咨询有限公司</a:t>
            </a:r>
            <a:r>
              <a:rPr lang="en-US" sz="1350">
                <a:solidFill>
                  <a:srgbClr val="80808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杜玉河</a:t>
            </a:r>
            <a:r>
              <a:rPr lang="en-US" sz="1350">
                <a:solidFill>
                  <a:srgbClr val="80808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产品版本</a:t>
            </a:r>
            <a:r>
              <a:rPr lang="en-US" sz="1350">
                <a:solidFill>
                  <a:srgbClr val="808080"/>
                </a:solidFill>
                <a:latin typeface="Microsoft YaHei"/>
                <a:ea typeface="Microsoft YaHei"/>
              </a:rPr>
              <a:t> v0.9.40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30" name="" descr="&lt;Slide style={{ width: '1280px', height: '720px', background: '#FFFFFF', padding: '44px 56px 40px 56px', position: 'relative' }}&gt;&#10;  {/* B 标题块 */}&#10;  &lt;Box style={{ paddingBottom: 12, borderBottom: '1px solid #000000' }}&gt;&#10;    &lt;Text style={{ fontSize: 32, fontWeight: 'bold', color: '#061F32' }}&gt;本次汇报的四个部分&lt;/Text&gt;&#10;  &lt;/Box&gt;&#10;&#10;  {/* C 内容区：4 章节条目 */}&#10;  &lt;Box style={{ marginTop: 16, flexDirection: 'column', gap: 18 }}&gt;&#10;    &lt;Box style={{ flexDirection: 'row', alignItems: 'center', gap: 28, height: 116, borderBottom: '1px solid #E7E6E6' }}&gt;&#10;      &lt;Text style={{ fontSize: 44, fontWeight: 'bold', color: '#08A6F6', width: 64 }}&gt;01&lt;/Text&gt;&#10;      &lt;Box style={{ flex: 1 }}&gt;&#10;        &lt;Text style={{ fontSize: 28, fontWeight: 'bold', color: '#061F32' }}&gt;机会与痛点（Why Now）&lt;/Text&gt;&#10;        &lt;Text style={{ fontSize: 22, color: '#44546A', marginTop: 6 }}&gt;光子与量子设计的范式拐点，现有工具的三道结构性空白&lt;/Text&gt;&#10;      &lt;/Box&gt;&#10;    &lt;/Box&gt;&#10;    &lt;Box style={{ flexDirection: 'row', alignItems: 'center', gap: 28, height: 116, borderBottom: '1px solid #E7E6E6' }}&gt;&#10;      &lt;Text style={{ fontSize: 44, fontWeight: 'bold', color: '#08A6F6', width: 64 }}&gt;02&lt;/Text&gt;&#10;      &lt;Box style={{ flex: 1 }}&gt;&#10;        &lt;Text style={{ fontSize: 28, fontWeight: 'bold', color: '#061F32' }}&gt;LDA 是什么（产品与技术）&lt;/Text&gt;&#10;        &lt;Text style={{ fontSize: 22, color: '#44546A', marginTop: 6 }}&gt;开源、Agent 原生的光子 + 量子设计平台，验证可证伪的设计闭环&lt;/Text&gt;&#10;      &lt;/Box&gt;&#10;    &lt;/Box&gt;&#10;    &lt;Box style={{ flexDirection: 'row', alignItems: 'center', gap: 28, height: 116, borderBottom: '1px solid #E7E6E6' }}&gt;&#10;      &lt;Text style={{ fontSize: 44, fontWeight: 'bold', color: '#08A6F6', width: 64 }}&gt;03&lt;/Text&gt;&#10;      &lt;Box style={{ flex: 1 }}&gt;&#10;        &lt;Text style={{ fontSize: 28, fontWeight: 'bold', color: '#061F32' }}&gt;为什么是我们（差异化与可信）&lt;/Text&gt;&#10;        &lt;Text style={{ fontSize: 22, color: '#44546A', marginTop: 6 }}&gt;全球对比差异化、主权自主、可审计账本构成信任底座&lt;/Text&gt;&#10;      &lt;/Box&gt;&#10;    &lt;/Box&gt;&#10;    &lt;Box style={{ flexDirection: 'row', alignItems: 'center', gap: 28, height: 116 }}&gt;&#10;      &lt;Text style={{ fontSize: 44, fontWeight: 'bold', color: '#08A6F6', width: 64 }}&gt;04&lt;/Text&gt;&#10;      &lt;Box style={{ flex: 1 }}&gt;&#10;        &lt;Text style={{ fontSize: 28, fontWeight: 'bold', color: '#061F32' }}&gt;市场 · 商业 · 团队&lt;/Text&gt;&#10;        &lt;Text style={{ fontSize: 22, color: '#44546A', marginTop: 6 }}&gt;指数级市场机会、开源商业模式与路线图、团队与联系方式&lt;/Text&gt;&#10;      &lt;/Box&gt;&#10;    &lt;/Box&gt;&#10;  &lt;/Box&gt;&#10;&#10;  {/* D 页脚页码 */}&#10;  &lt;Text style={{ position: 'absolute', right: 56, bottom: 24, fontSize: 14, color: '#808080' }}&gt;0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533400" y="419100"/>
            <a:ext cx="11125200" cy="504825"/>
          </a:xfrm>
          <a:custGeom>
            <a:pathLst>
              <a:path w="1168" h="53">
                <a:moveTo>
                  <a:pt x="0" y="52"/>
                </a:moveTo>
                <a:lnTo>
                  <a:pt x="1168" y="52"/>
                </a:lnTo>
                <a:lnTo>
                  <a:pt x="1168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本次汇报的四个部分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33400" y="1066800"/>
            <a:ext cx="11125200" cy="1104900"/>
          </a:xfrm>
          <a:custGeom>
            <a:pathLst>
              <a:path w="1168" h="116">
                <a:moveTo>
                  <a:pt x="0" y="115"/>
                </a:moveTo>
                <a:lnTo>
                  <a:pt x="1168" y="115"/>
                </a:lnTo>
                <a:lnTo>
                  <a:pt x="1168" y="116"/>
                </a:lnTo>
                <a:lnTo>
                  <a:pt x="0" y="116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33400" y="1362075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8A6F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409700" y="1295400"/>
            <a:ext cx="10248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机会与痛点（</a:t>
            </a:r>
            <a:r>
              <a:rPr lang="en-US" sz="2100" b="1">
                <a:solidFill>
                  <a:srgbClr val="061F32"/>
                </a:solidFill>
                <a:latin typeface="Microsoft YaHei"/>
                <a:ea typeface="Microsoft YaHei"/>
              </a:rPr>
              <a:t>Why Now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409700" y="1676400"/>
            <a:ext cx="10248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4546A"/>
                </a:solidFill>
                <a:latin typeface="Microsoft YaHei"/>
                <a:ea typeface="Microsoft YaHei"/>
              </a:rPr>
              <a:t>光子与量子设计的范式拐点，现有工具的三道结构性空白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33400" y="2343150"/>
            <a:ext cx="11125200" cy="1104900"/>
          </a:xfrm>
          <a:custGeom>
            <a:pathLst>
              <a:path w="1168" h="116">
                <a:moveTo>
                  <a:pt x="0" y="115"/>
                </a:moveTo>
                <a:lnTo>
                  <a:pt x="1168" y="115"/>
                </a:lnTo>
                <a:lnTo>
                  <a:pt x="1168" y="116"/>
                </a:lnTo>
                <a:lnTo>
                  <a:pt x="0" y="116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33400" y="2638425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8A6F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409700" y="2571750"/>
            <a:ext cx="10248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1F32"/>
                </a:solidFill>
                <a:latin typeface="Microsoft YaHei"/>
                <a:ea typeface="Microsoft YaHei"/>
              </a:rPr>
              <a:t>LDA 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是什么（产品与技术）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409700" y="2952750"/>
            <a:ext cx="10248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4546A"/>
                </a:solidFill>
                <a:latin typeface="Microsoft YaHei"/>
                <a:ea typeface="Microsoft YaHei"/>
              </a:rPr>
              <a:t>开源、</a:t>
            </a:r>
            <a:r>
              <a:rPr lang="en-US" sz="1650">
                <a:solidFill>
                  <a:srgbClr val="44546A"/>
                </a:solidFill>
                <a:latin typeface="Microsoft YaHei"/>
                <a:ea typeface="Microsoft YaHei"/>
              </a:rPr>
              <a:t>Agent </a:t>
            </a:r>
            <a:r>
              <a:rPr lang="zh-CN" sz="1650">
                <a:solidFill>
                  <a:srgbClr val="44546A"/>
                </a:solidFill>
                <a:latin typeface="Microsoft YaHei"/>
                <a:ea typeface="Microsoft YaHei"/>
              </a:rPr>
              <a:t>原生的光子</a:t>
            </a:r>
            <a:r>
              <a:rPr lang="en-US" sz="1650">
                <a:solidFill>
                  <a:srgbClr val="44546A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44546A"/>
                </a:solidFill>
                <a:latin typeface="Microsoft YaHei"/>
                <a:ea typeface="Microsoft YaHei"/>
              </a:rPr>
              <a:t>量子设计平台，验证可证伪的设计闭环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533400" y="3619500"/>
            <a:ext cx="11125200" cy="1104900"/>
          </a:xfrm>
          <a:custGeom>
            <a:pathLst>
              <a:path w="1168" h="116">
                <a:moveTo>
                  <a:pt x="0" y="115"/>
                </a:moveTo>
                <a:lnTo>
                  <a:pt x="1168" y="115"/>
                </a:lnTo>
                <a:lnTo>
                  <a:pt x="1168" y="116"/>
                </a:lnTo>
                <a:lnTo>
                  <a:pt x="0" y="116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33400" y="3914775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8A6F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409700" y="3848100"/>
            <a:ext cx="10248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为什么是我们（差异化与可信）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409700" y="4229100"/>
            <a:ext cx="10248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4546A"/>
                </a:solidFill>
                <a:latin typeface="Microsoft YaHei"/>
                <a:ea typeface="Microsoft YaHei"/>
              </a:rPr>
              <a:t>全球对比差异化、主权自主、可审计账本构成信任底座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33400" y="5200650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8A6F6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409700" y="5133975"/>
            <a:ext cx="10248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市场</a:t>
            </a:r>
            <a:r>
              <a:rPr lang="en-US" sz="2100" b="1">
                <a:solidFill>
                  <a:srgbClr val="061F32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商业</a:t>
            </a:r>
            <a:r>
              <a:rPr lang="en-US" sz="2100" b="1">
                <a:solidFill>
                  <a:srgbClr val="061F32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团队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409700" y="5514975"/>
            <a:ext cx="10248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4546A"/>
                </a:solidFill>
                <a:latin typeface="Microsoft YaHei"/>
                <a:ea typeface="Microsoft YaHei"/>
              </a:rPr>
              <a:t>指数级市场机会、开源商业模式与路线图、团队与联系方式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496675" y="64674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50" name="" descr="&lt;Slide style={{ width: '1280px', height: '720px', background: '#062032', position: 'relative', overflow: 'hidden' }}&gt;&#10;  {/* 左侧巨字编号 */}&#10;  &lt;Text style={{ position: 'absolute', left: 56, top: 200, fontSize: 300, fontWeight: 'bold', color: '#FFFFFF', opacity: 0.16, lineHeight: 1 }}&gt;01&lt;/Text&gt;&#10;&#10;  {/* 右侧章节标题 */}&#10;  &lt;Box style={{ position: 'absolute', right: 80, top: 0, bottom: 0, width: 620, justifyContent: 'center', alignItems: 'flex-start' }}&gt;&#10;    &lt;Box style={{ width: 90, height: 4, background: '#08A6F6', marginBottom: 28 }} /&gt;&#10;    &lt;Text style={{ fontSize: 48, fontWeight: 'bold', color: '#FFFFFF' }}&gt;机会与痛点&lt;/Text&gt;&#10;    &lt;Text style={{ fontSize: 22, color: '#99BDED', marginTop: 18, lineHeight: 1.5 }}&gt;Why Now —— 光子与量子设计的范式拐点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33400" y="190500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16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5524500" y="2724150"/>
            <a:ext cx="85725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524500" y="3028950"/>
            <a:ext cx="2286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机会与痛点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524500" y="3752850"/>
            <a:ext cx="40767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99BDED"/>
                </a:solidFill>
                <a:latin typeface="Microsoft YaHei"/>
                <a:ea typeface="Microsoft YaHei"/>
              </a:rPr>
              <a:t>Why Now —— </a:t>
            </a:r>
            <a:r>
              <a:rPr lang="zh-CN" sz="1650">
                <a:solidFill>
                  <a:srgbClr val="99BDED"/>
                </a:solidFill>
                <a:latin typeface="Microsoft YaHei"/>
                <a:ea typeface="Microsoft YaHei"/>
              </a:rPr>
              <a:t>光子与量子设计的范式拐点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56" name="" descr="&lt;Slide style={{ width: '1280px', height: '720px', background: '#FFFFFF', padding: '44px 56px 40px 56px', position: 'relative' }}&gt;&#10;  {/* B 标题块 */}&#10;  &lt;Box style={{ paddingBottom: 12, borderBottom: '1px solid #000000' }}&gt;&#10;    &lt;Text style={{ fontSize: 33, fontWeight: 'bold', color: '#061F32' }}&gt;AI 算力把光子与量子设计推上指数曲线，工具链却仍是旧范式&lt;/Text&gt;&#10;  &lt;/Box&gt;&#10;&#10;  {/* C 内容区：左巨型数字 + 右洞察 */}&#10;  &lt;Box style={{ marginTop: 14, flexDirection: 'row', gap: 48, height: 510 }}&gt;&#10;    {/* 左：数字锚点 */}&#10;    &lt;Box style={{ width: '46%', justifyContent: 'center', gap: 18 }}&gt;&#10;      &lt;Text style={{ fontSize: 90, fontWeight: 'bold', color: '#001965', lineHeight: 1 }}&gt;76.5%&lt;/Text&gt;&#10;      &lt;Text style={{ fontSize: 22, color: '#44546A', marginTop: 4 }}&gt;CPO 共封装光学模块市场 CAGR（2025 → 2032）&lt;/Text&gt;&#10;      &lt;Box style={{ width: 220, height: 2, background: '#E7E6E6', margin: '14px 0' }} /&gt;&#10;      &lt;Box style={{ flexDirection: 'row', gap: 36, alignItems: 'baseline' }}&gt;&#10;        &lt;Box&gt;&#10;          &lt;Text style={{ fontSize: 46, fontWeight: 'bold', color: '#08A6F6', lineHeight: 1 }}&gt;13.5%&lt;/Text&gt;&#10;          &lt;Text style={{ fontSize: 18, color: '#44546A' }}&gt;光子 EDA CAGR&lt;/Text&gt;&#10;        &lt;/Box&gt;&#10;        &lt;Box&gt;&#10;          &lt;Text style={{ fontSize: 46, fontWeight: 'bold', color: '#08A6F6', lineHeight: 1 }}&gt;22.4%&lt;/Text&gt;&#10;          &lt;Text style={{ fontSize: 18, color: '#44546A' }}&gt;量子应用子段（最快）&lt;/Text&gt;&#10;        &lt;/Box&gt;&#10;      &lt;/Box&gt;&#10;    &lt;/Box&gt;&#10;&#10;    {/* 右：洞察 */}&#10;    &lt;Box style={{ width: '54%', justifyContent: 'center' }}&gt;&#10;      &lt;Text style={{ fontSize: 26, fontWeight: 'bold', color: '#061F32', marginBottom: 16 }}&gt;不是线性增长，是范式切换&lt;/Text&gt;&#10;      &lt;Text style={{ fontSize: 23, color: '#1f2a37', lineHeight: 1.5 }}&gt;&#10;        光子 EDA 软件 2025 年约 &lt;span style={{ fontWeight: 'bold', color: '#001965' }}&gt;18 亿美元&lt;/span&gt;，量子计算应用子段以 &lt;span style={{ fontWeight: 'bold', color: '#001965' }}&gt;22.4%&lt;/span&gt; 领跑；CPO 模块更从 2025 年 5.6 亿美元冲向 2032 年 326.8 亿美元。&lt;br/&gt;&lt;br/&gt;&#10;        算力需求驱动的，是设计工具链的同步爆发——但现有工具仍是「专家手写脚本 + 商业求解器黑盒」的旧范式，&lt;span style={{ fontWeight: 'bold' }}&gt;供给与需求出现结构性错配&lt;/span&gt;。&#10;      &lt;/Text&gt;&#10;    &lt;/Box&gt;&#10;  &lt;/Box&gt;&#10;&#10;  {/* D 页脚 */}&#10;  &lt;Text style={{ position: 'absolute', left: 56, bottom: 22, fontSize: 14, color: '#808080' }}&gt;Source：Dataintelo / PMarketResearch / 中研普华 2026&lt;/Text&gt;&#10;  &lt;Text style={{ position: 'absolute', right: 56, bottom: 22, fontSize: 14, color: '#808080' }}&gt;04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533400" y="419100"/>
            <a:ext cx="11125200" cy="514350"/>
          </a:xfrm>
          <a:custGeom>
            <a:pathLst>
              <a:path w="1168" h="54">
                <a:moveTo>
                  <a:pt x="0" y="53"/>
                </a:moveTo>
                <a:lnTo>
                  <a:pt x="1168" y="53"/>
                </a:lnTo>
                <a:lnTo>
                  <a:pt x="116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75" b="1">
                <a:solidFill>
                  <a:srgbClr val="061F32"/>
                </a:solidFill>
                <a:latin typeface="Microsoft YaHei"/>
                <a:ea typeface="Microsoft YaHei"/>
              </a:rPr>
              <a:t>AI </a:t>
            </a:r>
            <a:r>
              <a:rPr lang="zh-CN" sz="2475" b="1">
                <a:solidFill>
                  <a:srgbClr val="061F32"/>
                </a:solidFill>
                <a:latin typeface="Microsoft YaHei"/>
                <a:ea typeface="Microsoft YaHei"/>
              </a:rPr>
              <a:t>算力把光子与量子设计推上指数曲线，工具链却仍是旧范式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33400" y="2057400"/>
            <a:ext cx="4905375" cy="1028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0" b="1">
                <a:solidFill>
                  <a:srgbClr val="001965"/>
                </a:solidFill>
                <a:latin typeface="Microsoft YaHei"/>
                <a:ea typeface="Microsoft YaHei"/>
              </a:rPr>
              <a:t>76.5%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33400" y="329565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44546A"/>
                </a:solidFill>
                <a:latin typeface="Microsoft YaHei"/>
                <a:ea typeface="Microsoft YaHei"/>
              </a:rPr>
              <a:t>CPO </a:t>
            </a:r>
            <a:r>
              <a:rPr lang="zh-CN" sz="1650">
                <a:solidFill>
                  <a:srgbClr val="44546A"/>
                </a:solidFill>
                <a:latin typeface="Microsoft YaHei"/>
                <a:ea typeface="Microsoft YaHei"/>
              </a:rPr>
              <a:t>共封装光学模块市场</a:t>
            </a:r>
            <a:r>
              <a:rPr lang="en-US" sz="1650">
                <a:solidFill>
                  <a:srgbClr val="44546A"/>
                </a:solidFill>
                <a:latin typeface="Microsoft YaHei"/>
                <a:ea typeface="Microsoft YaHei"/>
              </a:rPr>
              <a:t> CAGR</a:t>
            </a:r>
            <a:r>
              <a:rPr lang="zh-CN" sz="1650">
                <a:solidFill>
                  <a:srgbClr val="44546A"/>
                </a:solidFill>
                <a:latin typeface="Microsoft YaHei"/>
                <a:ea typeface="Microsoft YaHei"/>
              </a:rPr>
              <a:t>（</a:t>
            </a:r>
            <a:r>
              <a:rPr lang="en-US" sz="1650">
                <a:solidFill>
                  <a:srgbClr val="44546A"/>
                </a:solidFill>
                <a:latin typeface="Microsoft YaHei"/>
                <a:ea typeface="Microsoft YaHei"/>
              </a:rPr>
              <a:t>2025 → 2032</a:t>
            </a:r>
            <a:r>
              <a:rPr lang="zh-CN" sz="1650">
                <a:solidFill>
                  <a:srgbClr val="44546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33400" y="3857625"/>
            <a:ext cx="2095500" cy="1905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33400" y="4181475"/>
            <a:ext cx="13525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8A6F6"/>
                </a:solidFill>
                <a:latin typeface="Microsoft YaHei"/>
                <a:ea typeface="Microsoft YaHei"/>
              </a:rPr>
              <a:t>13.5%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33400" y="4714875"/>
            <a:ext cx="1352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光子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 EDA CAGR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2228850" y="4181475"/>
            <a:ext cx="17145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8A6F6"/>
                </a:solidFill>
                <a:latin typeface="Microsoft YaHei"/>
                <a:ea typeface="Microsoft YaHei"/>
              </a:rPr>
              <a:t>22.4%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2228850" y="471487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量子应用子段（最快）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895975" y="1876425"/>
            <a:ext cx="57626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61F32"/>
                </a:solidFill>
                <a:latin typeface="Microsoft YaHei"/>
                <a:ea typeface="Microsoft YaHei"/>
              </a:rPr>
              <a:t>不是线性增长，是范式切换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895975" y="2333625"/>
            <a:ext cx="5762625" cy="2762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光子</a:t>
            </a:r>
            <a:r>
              <a:rPr lang="en-US" sz="1725">
                <a:solidFill>
                  <a:srgbClr val="1F2A37"/>
                </a:solidFill>
                <a:latin typeface="Microsoft YaHei"/>
                <a:ea typeface="Microsoft YaHei"/>
              </a:rPr>
              <a:t> EDA </a:t>
            </a: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软件</a:t>
            </a:r>
            <a:r>
              <a:rPr lang="en-US" sz="1725">
                <a:solidFill>
                  <a:srgbClr val="1F2A37"/>
                </a:solidFill>
                <a:latin typeface="Microsoft YaHei"/>
                <a:ea typeface="Microsoft YaHei"/>
              </a:rPr>
              <a:t> 2025 </a:t>
            </a: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年约</a:t>
            </a:r>
            <a:r>
              <a:rPr lang="en-US" sz="1725">
                <a:solidFill>
                  <a:srgbClr val="1F2A37"/>
                </a:solidFill>
                <a:latin typeface="Microsoft YaHei"/>
                <a:ea typeface="Microsoft YaHei"/>
              </a:rPr>
              <a:t> </a:t>
            </a:r>
            <a:r>
              <a:rPr lang="en-US" sz="1725" b="1">
                <a:solidFill>
                  <a:srgbClr val="001965"/>
                </a:solidFill>
                <a:latin typeface="Microsoft YaHei"/>
                <a:ea typeface="Microsoft YaHei"/>
              </a:rPr>
              <a:t>18 </a:t>
            </a:r>
            <a:r>
              <a:rPr lang="zh-CN" sz="1725" b="1">
                <a:solidFill>
                  <a:srgbClr val="001965"/>
                </a:solidFill>
                <a:latin typeface="Microsoft YaHei"/>
                <a:ea typeface="Microsoft YaHei"/>
              </a:rPr>
              <a:t>亿美元</a:t>
            </a: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，量子计算应用子段以</a:t>
            </a:r>
            <a:r>
              <a:rPr lang="en-US" sz="1725">
                <a:solidFill>
                  <a:srgbClr val="1F2A37"/>
                </a:solidFill>
                <a:latin typeface="Microsoft YaHei"/>
                <a:ea typeface="Microsoft YaHei"/>
              </a:rPr>
              <a:t> </a:t>
            </a:r>
            <a:r>
              <a:rPr lang="en-US" sz="1725" b="1">
                <a:solidFill>
                  <a:srgbClr val="001965"/>
                </a:solidFill>
                <a:latin typeface="Microsoft YaHei"/>
                <a:ea typeface="Microsoft YaHei"/>
              </a:rPr>
              <a:t>22.4%</a:t>
            </a:r>
            <a:r>
              <a:rPr lang="en-US" sz="1725">
                <a:solidFill>
                  <a:srgbClr val="1F2A37"/>
                </a:solidFill>
                <a:latin typeface="Microsoft YaHei"/>
                <a:ea typeface="Microsoft YaHei"/>
              </a:rPr>
              <a:t> </a:t>
            </a: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领跑；</a:t>
            </a:r>
            <a:r>
              <a:rPr lang="en-US" sz="1725">
                <a:solidFill>
                  <a:srgbClr val="1F2A37"/>
                </a:solidFill>
                <a:latin typeface="Microsoft YaHei"/>
                <a:ea typeface="Microsoft YaHei"/>
              </a:rPr>
              <a:t>CPO </a:t>
            </a: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模块更从</a:t>
            </a:r>
            <a:r>
              <a:rPr lang="en-US" sz="1725">
                <a:solidFill>
                  <a:srgbClr val="1F2A37"/>
                </a:solidFill>
                <a:latin typeface="Microsoft YaHei"/>
                <a:ea typeface="Microsoft YaHei"/>
              </a:rPr>
              <a:t> 2025 </a:t>
            </a: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年</a:t>
            </a:r>
            <a:r>
              <a:rPr lang="en-US" sz="1725">
                <a:solidFill>
                  <a:srgbClr val="1F2A37"/>
                </a:solidFill>
                <a:latin typeface="Microsoft YaHei"/>
                <a:ea typeface="Microsoft YaHei"/>
              </a:rPr>
              <a:t> 5.6 </a:t>
            </a: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亿美元冲向</a:t>
            </a:r>
            <a:r>
              <a:rPr lang="en-US" sz="1725">
                <a:solidFill>
                  <a:srgbClr val="1F2A37"/>
                </a:solidFill>
                <a:latin typeface="Microsoft YaHei"/>
                <a:ea typeface="Microsoft YaHei"/>
              </a:rPr>
              <a:t> 2032 </a:t>
            </a: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年</a:t>
            </a:r>
            <a:r>
              <a:rPr lang="en-US" sz="1725">
                <a:solidFill>
                  <a:srgbClr val="1F2A37"/>
                </a:solidFill>
                <a:latin typeface="Microsoft YaHei"/>
                <a:ea typeface="Microsoft YaHei"/>
              </a:rPr>
              <a:t> 326.8 </a:t>
            </a: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亿美元。</a:t>
            </a:r>
            <a:endParaRPr/>
          </a:p>
          <a:p>
            <a:pPr>
              <a:lnSpc>
                <a:spcPct val="150000"/>
              </a:lnSpc>
            </a:pPr>
            <a:r>
              <a:rPr sz="1725">
                <a:solidFill>
                  <a:srgbClr val="1F2A37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50000"/>
              </a:lnSpc>
            </a:pP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算力需求驱动的，是设计工具链的同步爆发——但现有工具仍是「专家手写脚本</a:t>
            </a:r>
            <a:r>
              <a:rPr lang="en-US" sz="1725">
                <a:solidFill>
                  <a:srgbClr val="1F2A37"/>
                </a:solidFill>
                <a:latin typeface="Microsoft YaHei"/>
                <a:ea typeface="Microsoft YaHei"/>
              </a:rPr>
              <a:t> + </a:t>
            </a: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商业求解器黑盒」的旧范式，</a:t>
            </a:r>
            <a:r>
              <a:rPr lang="zh-CN" sz="1725" b="1">
                <a:solidFill>
                  <a:srgbClr val="1F2A37"/>
                </a:solidFill>
                <a:latin typeface="Microsoft YaHei"/>
                <a:ea typeface="Microsoft YaHei"/>
              </a:rPr>
              <a:t>供给与需求出现结构性错配</a:t>
            </a:r>
            <a:r>
              <a:rPr lang="zh-CN" sz="1725">
                <a:solidFill>
                  <a:srgbClr val="1F2A3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33400" y="6486525"/>
            <a:ext cx="3495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Dataintelo / PMarketResearch /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中研普华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2026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496675" y="64865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1" name="" descr="&lt;Slide style={{ width: '1280px', height: '720px', background: '#FFFFFF', padding: '44px 56px 40px 56px', position: 'relative' }}&gt;&#10;  {/* B 标题块 */}&#10;  &lt;Box style={{ paddingBottom: 12, borderBottom: '1px solid #000000' }}&gt;&#10;    &lt;Text style={{ fontSize: 33, fontWeight: 'bold', color: '#061F32' }}&gt;现有光子 / 量子设计工具存在三道无法靠补丁填补的空白&lt;/Text&gt;&#10;  &lt;/Box&gt;&#10;&#10;  {/* C 内容区：左标题栏 + 右问题树 */}&#10;  &lt;Box style={{ marginTop: 14, flexDirection: 'row', gap: 36, height: 510 }}&gt;&#10;    {/* 左标题栏 */}&#10;    &lt;Box style={{ width: '30%', background: '#061F32', borderRadius: 6, padding: '36px 28px', justifyContent: 'center' }}&gt;&#10;      &lt;Text style={{ fontSize: 30, fontWeight: 'bold', color: '#FFFFFF', lineHeight: 1.3 }}&gt;三道结构性空白&lt;/Text&gt;&#10;      &lt;Box style={{ width: 60, height: 3, background: '#08A6F6', margin: '18px 0' }} /&gt;&#10;      &lt;Text style={{ fontSize: 21, color: '#99BDED', lineHeight: 1.5 }}&gt;不是功能缺口，是现有商业工具的架构决定的、补不上的空白。&lt;/Text&gt;&#10;    &lt;/Box&gt;&#10;&#10;    {/* 右问题树（Box+Text 形状层 + SVG 连线） */}&#10;    &lt;Box style={{ width: '70%', position: 'relative' }}&gt;&#10;      &lt;svg style={{ position: 'absolute', left: 0, top: 0 }} width={760} height={510} viewBox='0 0 760 510'&gt;&#10;        &lt;path d='M200 255 H330 V95 H470' stroke='#061F32' strokeWidth='1.5' fill='none' /&gt;&#10;        &lt;path d='M200 255 H470' stroke='#061F32' strokeWidth='1.5' fill='none' /&gt;&#10;        &lt;path d='M200 255 H330 V415 H470' stroke='#061F32' strokeWidth='1.5' fill='none' /&gt;&#10;      &lt;/svg&gt;&#10;&#10;      {/* 核心框 */}&#10;      &lt;Box style={{ position: 'absolute', left: 0, top: 195, width: 200, height: 120, background: '#061F32', borderRadius: 6, justifyContent: 'center', padding: '0 18px' }}&gt;&#10;        &lt;Text style={{ fontSize: 22, fontWeight: 'bold', color: '#FFFFFF', lineHeight: 1.3 }}&gt;现有工具的&lt;br/&gt;结构性空白&lt;/Text&gt;&#10;      &lt;/Box&gt;&#10;&#10;      {/* 叶子 1 */}&#10;      &lt;Box style={{ position: 'absolute', left: 470, top: 30, width: 280, height: 130, background: '#FFFFFF', border: '1px solid #061F32', borderRadius: 6, padding: '16px 20px', justifyContent: 'center' }}&gt;&#10;        &lt;Text style={{ fontSize: 22, fontWeight: 'bold', color: '#001965' }}&gt;① 验证不独立&lt;/Text&gt;&#10;        &lt;Text style={{ fontSize: 16, color: '#44546A', marginTop: 8, lineHeight: 1.4 }}&gt;PASS/FAIL 由商业求解器黑盒或人判断，结果不可证伪。&lt;/Text&gt;&#10;      &lt;/Box&gt;&#10;      {/* 叶子 2 */}&#10;      &lt;Box style={{ position: 'absolute', left: 470, top: 192, width: 280, height: 130, background: '#FFFFFF', border: '1px solid #061F32', borderRadius: 6, padding: '16px 20px', justifyContent: 'center' }}&gt;&#10;        &lt;Text style={{ fontSize: 22, fontWeight: 'bold', color: '#001965' }}&gt;② 非 Agent 原生&lt;/Text&gt;&#10;        &lt;Text style={{ fontSize: 16, color: '#44546A', marginTop: 8, lineHeight: 1.4 }}&gt;设计靠专家手写脚本，AI 只做辅助而非设计主体。&lt;/Text&gt;&#10;      &lt;/Box&gt;&#10;      {/* 叶子 3 */}&#10;      &lt;Box style={{ position: 'absolute', left: 470, top: 354, width: 280, height: 130, background: '#FFFFFF', border: '1px solid #061F32', borderRadius: 6, padding: '16px 20px', justifyContent: 'center' }}&gt;&#10;        &lt;Text style={{ fontSize: 22, fontWeight: 'bold', color: '#001965' }}&gt;③ 主权依赖&lt;/Text&gt;&#10;        &lt;Text style={{ fontSize: 16, color: '#44546A', marginTop: 8, lineHeight: 1.4 }}&gt;高端求解器受许可与地缘约束，缺自主可验底座。&lt;/Text&gt;&#10;      &lt;/Box&gt;&#10;    &lt;/Box&gt;&#10;  &lt;/Box&gt;&#10;&#10;  {/* D 页脚 */}&#10;  &lt;Text style={{ position: 'absolute', left: 56, bottom: 22, fontSize: 14, color: '#808080' }}&gt;Source：LDA 技术白皮书 v0.9.40 · 验证方法论章节&lt;/Text&gt;&#10;  &lt;Text style={{ position: 'absolute', right: 56, bottom: 22, fontSize: 14, color: '#808080' }}&gt;05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533400" y="419100"/>
            <a:ext cx="11125200" cy="514350"/>
          </a:xfrm>
          <a:custGeom>
            <a:pathLst>
              <a:path w="1168" h="54">
                <a:moveTo>
                  <a:pt x="0" y="53"/>
                </a:moveTo>
                <a:lnTo>
                  <a:pt x="1168" y="53"/>
                </a:lnTo>
                <a:lnTo>
                  <a:pt x="116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75" b="1">
                <a:solidFill>
                  <a:srgbClr val="061F32"/>
                </a:solidFill>
                <a:latin typeface="Microsoft YaHei"/>
                <a:ea typeface="Microsoft YaHei"/>
              </a:rPr>
              <a:t>现有光子</a:t>
            </a:r>
            <a:r>
              <a:rPr lang="en-US" sz="2475" b="1">
                <a:solidFill>
                  <a:srgbClr val="061F32"/>
                </a:solidFill>
                <a:latin typeface="Microsoft YaHei"/>
                <a:ea typeface="Microsoft YaHei"/>
              </a:rPr>
              <a:t> / </a:t>
            </a:r>
            <a:r>
              <a:rPr lang="zh-CN" sz="2475" b="1">
                <a:solidFill>
                  <a:srgbClr val="061F32"/>
                </a:solidFill>
                <a:latin typeface="Microsoft YaHei"/>
                <a:ea typeface="Microsoft YaHei"/>
              </a:rPr>
              <a:t>量子设计工具存在三道无法靠补丁填补的空白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33400" y="1057275"/>
            <a:ext cx="3238500" cy="4857750"/>
          </a:xfrm>
          <a:prstGeom prst="roundRect">
            <a:avLst>
              <a:gd name="adj" fmla="val 1765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00100" y="2533650"/>
            <a:ext cx="27051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三道结构性空白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800100" y="3152775"/>
            <a:ext cx="571500" cy="28575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00100" y="3352800"/>
            <a:ext cx="27051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99BDED"/>
                </a:solidFill>
                <a:latin typeface="Microsoft YaHei"/>
                <a:ea typeface="Microsoft YaHei"/>
              </a:rPr>
              <a:t>不是功能缺口，是现有商业工具的架构决定的、补不上的空白。</a:t>
            </a:r>
            <a:endParaRPr/>
          </a:p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14800" y="1057275"/>
            <a:ext cx="7239000" cy="4857750"/>
          </a:xfrm>
          <a:prstGeom prst="rect">
            <a:avLst/>
          </a:prstGeom>
          <a:ln/>
        </p:spPr>
      </p:pic>
      <p:sp>
        <p:nvSpPr>
          <p:cNvPr id="180" name=""/>
          <p:cNvSpPr/>
          <p:nvPr/>
        </p:nvSpPr>
        <p:spPr>
          <a:xfrm rot="0" flipH="0" flipV="0">
            <a:off x="4114800" y="2914650"/>
            <a:ext cx="1905000" cy="1143000"/>
          </a:xfrm>
          <a:prstGeom prst="roundRect">
            <a:avLst>
              <a:gd name="adj" fmla="val 50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286250" y="3162300"/>
            <a:ext cx="1562100" cy="657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现有工具的</a:t>
            </a:r>
            <a:endParaRPr/>
          </a:p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结构性空白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8591550" y="1343025"/>
            <a:ext cx="26670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782050" y="154305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>① </a:t>
            </a: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验证不独立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782050" y="1876425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PASS/FAIL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由商业求解器黑盒或人判断，结果不可证伪。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591550" y="2886075"/>
            <a:ext cx="26670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782050" y="308610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>② </a:t>
            </a: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非</a:t>
            </a: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> Agent </a:t>
            </a: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原生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782050" y="3419475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设计靠专家手写脚本，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只做辅助而非设计主体。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8591550" y="4429125"/>
            <a:ext cx="26670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782050" y="462915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>③ </a:t>
            </a: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主权依赖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782050" y="4962525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高端求解器受许可与地缘约束，缺自主可验底座。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33400" y="6486525"/>
            <a:ext cx="3076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LDA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技术白皮书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v0.9.40 ·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验证方法论章节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496675" y="64865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93" name="" descr="&lt;Slide style={{ width: '1280px', height: '720px', background: '#062032', position: 'relative', overflow: 'hidden' }}&gt;&#10;  &lt;Text style={{ position: 'absolute', left: 56, top: 200, fontSize: 300, fontWeight: 'bold', color: '#FFFFFF', opacity: 0.16, lineHeight: 1 }}&gt;02&lt;/Text&gt;&#10;  &lt;Box style={{ position: 'absolute', right: 80, top: 0, bottom: 0, width: 620, justifyContent: 'center', alignItems: 'flex-start' }}&gt;&#10;    &lt;Box style={{ width: 90, height: 4, background: '#08A6F6', marginBottom: 28 }} /&gt;&#10;    &lt;Text style={{ fontSize: 48, fontWeight: 'bold', color: '#FFFFFF' }}&gt;LDA 是什么&lt;/Text&gt;&#10;    &lt;Text style={{ fontSize: 22, color: '#99BDED', marginTop: 18, lineHeight: 1.5 }}&gt;Product &amp;amp; Technology —— Agent 原生的光子 + 量子 PDA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33400" y="190500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16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5524500" y="2724150"/>
            <a:ext cx="85725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524500" y="3028950"/>
            <a:ext cx="2457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LDA </a:t>
            </a: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是什么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524500" y="3752850"/>
            <a:ext cx="572452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99BDED"/>
                </a:solidFill>
                <a:latin typeface="Microsoft YaHei"/>
                <a:ea typeface="Microsoft YaHei"/>
              </a:rPr>
              <a:t>Product &amp; Technology —— Agent </a:t>
            </a:r>
            <a:r>
              <a:rPr lang="zh-CN" sz="1650">
                <a:solidFill>
                  <a:srgbClr val="99BDED"/>
                </a:solidFill>
                <a:latin typeface="Microsoft YaHei"/>
                <a:ea typeface="Microsoft YaHei"/>
              </a:rPr>
              <a:t>原生的光子</a:t>
            </a:r>
            <a:r>
              <a:rPr lang="en-US" sz="1650">
                <a:solidFill>
                  <a:srgbClr val="99BDED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99BDED"/>
                </a:solidFill>
                <a:latin typeface="Microsoft YaHei"/>
                <a:ea typeface="Microsoft YaHei"/>
              </a:rPr>
              <a:t>量子</a:t>
            </a:r>
            <a:r>
              <a:rPr lang="en-US" sz="1650">
                <a:solidFill>
                  <a:srgbClr val="99BDED"/>
                </a:solidFill>
                <a:latin typeface="Microsoft YaHei"/>
                <a:ea typeface="Microsoft YaHei"/>
              </a:rPr>
              <a:t> PDA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99" name="" descr="&lt;Slide style={{ width: '1280px', height: '720px', background: '#FFFFFF', padding: '44px 56px 40px 56px', position: 'relative' }}&gt;&#10;  {/* B 标题块 */}&#10;  &lt;Box style={{ paddingBottom: 12, borderBottom: '1px solid #000000' }}&gt;&#10;    &lt;Text style={{ fontSize: 33, fontWeight: 'bold', color: '#061F32' }}&gt;LDA 是开源、Agent 原生的光子与量子芯片设计平台，设计闭环全程可验&lt;/Text&gt;&#10;  &lt;/Box&gt;&#10;&#10;  {/* C 内容区：左架构闭环图 + 右文字 */}&#10;  &lt;Box style={{ marginTop: 14, flexDirection: 'row', gap: 36, height: 510 }}&gt;&#10;    {/* 左：闭环图 */}&#10;    &lt;Box style={{ width: '60%', position: 'relative', background: '#F5F8FB', borderRadius: 8 }}&gt;&#10;      &lt;svg style={{ position: 'absolute', left: 0, top: 0 }} width={680} height={510} viewBox='0 0 680 510'&gt;&#10;        &lt;rect x='150' y='60' width='380' height='390' rx='10' stroke='#08A6F6' strokeWidth='2' fill='none' opacity='0.7' /&gt;&#10;        &lt;path d='M530 60 L530 255' stroke='#08A6F6' strokeWidth='2' fill='none' opacity='0.7' /&gt;&#10;        &lt;path d='M150 450 L150 255' stroke='#08A6F6' strokeWidth='2' fill='none' opacity='0.7' /&gt;&#10;        &lt;polygon points='150,255 142,243 158,243' fill='#08A6F6' /&gt;&#10;        &lt;polygon points='530,255 538,243 522,243' fill='#08A6F6' /&gt;&#10;        &lt;polygon points='150,255 162,250 162,260' fill='#08A6F6' /&gt;&#10;      &lt;/svg&gt;&#10;      &lt;Box style={{ position: 'absolute', left: 60, top: 30, width: 180, height: 60, background: '#061F32', borderRadius: 6, justifyContent: 'center', alignItems: 'center' }}&gt;&lt;Text style={{ fontSize: 22, fontWeight: 'bold', color: '#FFFFFF' }}&gt;设计&lt;/Text&gt;&lt;/Box&gt;&#10;      &lt;Box style={{ position: 'absolute', left: 250, top: 30, width: 180, height: 60, background: '#061F32', borderRadius: 6, justifyContent: 'center', alignItems: 'center' }}&gt;&lt;Text style={{ fontSize: 22, fontWeight: 'bold', color: '#FFFFFF' }}&gt;仿真&lt;/Text&gt;&lt;/Box&gt;&#10;      &lt;Box style={{ position: 'absolute', left: 440, top: 30, width: 180, height: 60, background: '#061F32', borderRadius: 6, justifyContent: 'center', alignItems: 'center' }}&gt;&lt;Text style={{ fontSize: 22, fontWeight: 'bold', color: '#FFFFFF' }}&gt;版图&lt;/Text&gt;&lt;/Box&gt;&#10;      &lt;Box style={{ position: 'absolute', left: 60, top: 420, width: 180, height: 60, background: '#061F32', borderRadius: 6, justifyContent: 'center', alignItems: 'center' }}&gt;&lt;Text style={{ fontSize: 22, fontWeight: 'bold', color: '#FFFFFF' }}&gt;DRC / LVS&lt;/Text&gt;&lt;/Box&gt;&#10;      &lt;Box style={{ position: 'absolute', left: 250, top: 420, width: 180, height: 60, background: '#061F32', borderRadius: 6, justifyContent: 'center', alignItems: 'center' }}&gt;&lt;Text style={{ fontSize: 22, fontWeight: 'bold', color: '#FFFFFF' }}&gt;工艺角&lt;/Text&gt;&lt;/Box&gt;&#10;      &lt;Box style={{ position: 'absolute', left: 440, top: 420, width: 180, height: 60, background: '#061F32', borderRadius: 6, justifyContent: 'center', alignItems: 'center' }}&gt;&lt;Text style={{ fontSize: 22, fontWeight: 'bold', color: '#FFFFFF' }}&gt;几何寄生&lt;/Text&gt;&lt;/Box&gt;&#10;      &lt;Text style={{ position: 'absolute', left: 250, top: 232, fontSize: 18, color: '#08A6F6', fontWeight: 'bold' }}&gt;闭环 · 每步可量化&lt;/Text&gt;&#10;    &lt;/Box&gt;&#10;&#10;    {/* 右：文字 */}&#10;    &lt;Box style={{ width: '40%', justifyContent: 'center', gap: 18 }}&gt;&#10;      &lt;Text style={{ fontSize: 25, fontWeight: 'bold', color: '#001965', lineHeight: 1.35 }}&gt;LDA = 光 PDA + 量 QEDA&lt;br/&gt;开源优先 · Agent 原生 · AI 自写核心&lt;/Text&gt;&#10;      &lt;Box style={{ flexDirection: 'row', gap: 12, alignItems: 'flex-start' }}&gt;&#10;        &lt;Text style={{ fontSize: 22, color: '#1f2a37', lineHeight: 1.5 }}&gt;① 覆盖光子（15+ 引擎）与量子（7 引擎）双栈，口径 = 设计品类。&lt;/Text&gt;&#10;      &lt;/Box&gt;&#10;      &lt;Box style={{ flexDirection: 'row', gap: 12, alignItems: 'flex-start' }}&gt;&#10;        &lt;Text style={{ fontSize: 22, color: '#1f2a37', lineHeight: 1.5 }}&gt;② 22 类引擎 + 11 包，构成完整设计链。&lt;/Text&gt;&#10;      &lt;/Box&gt;&#10;      &lt;Box style={{ flexDirection: 'row', gap: 12, alignItems: 'flex-start' }}&gt;&#10;        &lt;Text style={{ fontSize: 22, color: '#1f2a37', lineHeight: 1.5 }}&gt;③ 闭环每一步都落到可量化判据，别人卖工具，LDA 交付可证伪的设计闭环。&lt;/Text&gt;&#10;      &lt;/Box&gt;&#10;    &lt;/Box&gt;&#10;  &lt;/Box&gt;&#10;&#10;  {/* D 页脚 */}&#10;  &lt;Text style={{ position: 'absolute', left: 56, bottom: 22, fontSize: 14, color: '#808080' }}&gt;Source：LDA 技术白皮书 v0.9.40 · 技术架构闭环&lt;/Text&gt;&#10;  &lt;Text style={{ position: 'absolute', right: 56, bottom: 22, fontSize: 14, color: '#808080' }}&gt;07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533400" y="419100"/>
            <a:ext cx="11125200" cy="514350"/>
          </a:xfrm>
          <a:custGeom>
            <a:pathLst>
              <a:path w="1168" h="54">
                <a:moveTo>
                  <a:pt x="0" y="53"/>
                </a:moveTo>
                <a:lnTo>
                  <a:pt x="1168" y="53"/>
                </a:lnTo>
                <a:lnTo>
                  <a:pt x="116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75" b="1">
                <a:solidFill>
                  <a:srgbClr val="061F32"/>
                </a:solidFill>
                <a:latin typeface="Microsoft YaHei"/>
                <a:ea typeface="Microsoft YaHei"/>
              </a:rPr>
              <a:t>LDA </a:t>
            </a:r>
            <a:r>
              <a:rPr lang="zh-CN" sz="2475" b="1">
                <a:solidFill>
                  <a:srgbClr val="061F32"/>
                </a:solidFill>
                <a:latin typeface="Microsoft YaHei"/>
                <a:ea typeface="Microsoft YaHei"/>
              </a:rPr>
              <a:t>是开源、</a:t>
            </a:r>
            <a:r>
              <a:rPr lang="en-US" sz="2475" b="1">
                <a:solidFill>
                  <a:srgbClr val="061F32"/>
                </a:solidFill>
                <a:latin typeface="Microsoft YaHei"/>
                <a:ea typeface="Microsoft YaHei"/>
              </a:rPr>
              <a:t>Agent </a:t>
            </a:r>
            <a:r>
              <a:rPr lang="zh-CN" sz="2475" b="1">
                <a:solidFill>
                  <a:srgbClr val="061F32"/>
                </a:solidFill>
                <a:latin typeface="Microsoft YaHei"/>
                <a:ea typeface="Microsoft YaHei"/>
              </a:rPr>
              <a:t>原生的光子与量子芯片设计平台，设计闭环全程可验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343775" y="1895475"/>
            <a:ext cx="4314825" cy="771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875" b="1">
                <a:solidFill>
                  <a:srgbClr val="001965"/>
                </a:solidFill>
                <a:latin typeface="Microsoft YaHei"/>
                <a:ea typeface="Microsoft YaHei"/>
              </a:rPr>
              <a:t>LDA = </a:t>
            </a:r>
            <a:r>
              <a:rPr lang="zh-CN" sz="1875" b="1">
                <a:solidFill>
                  <a:srgbClr val="001965"/>
                </a:solidFill>
                <a:latin typeface="Microsoft YaHei"/>
                <a:ea typeface="Microsoft YaHei"/>
              </a:rPr>
              <a:t>光</a:t>
            </a:r>
            <a:r>
              <a:rPr lang="en-US" sz="1875" b="1">
                <a:solidFill>
                  <a:srgbClr val="001965"/>
                </a:solidFill>
                <a:latin typeface="Microsoft YaHei"/>
                <a:ea typeface="Microsoft YaHei"/>
              </a:rPr>
              <a:t> PDA + </a:t>
            </a:r>
            <a:r>
              <a:rPr lang="zh-CN" sz="1875" b="1">
                <a:solidFill>
                  <a:srgbClr val="001965"/>
                </a:solidFill>
                <a:latin typeface="Microsoft YaHei"/>
                <a:ea typeface="Microsoft YaHei"/>
              </a:rPr>
              <a:t>量</a:t>
            </a:r>
            <a:r>
              <a:rPr lang="en-US" sz="1875" b="1">
                <a:solidFill>
                  <a:srgbClr val="001965"/>
                </a:solidFill>
                <a:latin typeface="Microsoft YaHei"/>
                <a:ea typeface="Microsoft YaHei"/>
              </a:rPr>
              <a:t> QEDA</a:t>
            </a:r>
            <a:endParaRPr/>
          </a:p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001965"/>
                </a:solidFill>
                <a:latin typeface="Microsoft YaHei"/>
                <a:ea typeface="Microsoft YaHei"/>
              </a:rPr>
              <a:t>开源优先</a:t>
            </a:r>
            <a:r>
              <a:rPr lang="en-US" sz="1875" b="1">
                <a:solidFill>
                  <a:srgbClr val="001965"/>
                </a:solidFill>
                <a:latin typeface="Microsoft YaHei"/>
                <a:ea typeface="Microsoft YaHei"/>
              </a:rPr>
              <a:t> · Agent </a:t>
            </a:r>
            <a:r>
              <a:rPr lang="zh-CN" sz="1875" b="1">
                <a:solidFill>
                  <a:srgbClr val="001965"/>
                </a:solidFill>
                <a:latin typeface="Microsoft YaHei"/>
                <a:ea typeface="Microsoft YaHei"/>
              </a:rPr>
              <a:t>原生</a:t>
            </a:r>
            <a:r>
              <a:rPr lang="en-US" sz="1875" b="1">
                <a:solidFill>
                  <a:srgbClr val="001965"/>
                </a:solidFill>
                <a:latin typeface="Microsoft YaHei"/>
                <a:ea typeface="Microsoft YaHei"/>
              </a:rPr>
              <a:t> · AI </a:t>
            </a:r>
            <a:r>
              <a:rPr lang="zh-CN" sz="1875" b="1">
                <a:solidFill>
                  <a:srgbClr val="001965"/>
                </a:solidFill>
                <a:latin typeface="Microsoft YaHei"/>
                <a:ea typeface="Microsoft YaHei"/>
              </a:rPr>
              <a:t>自写核心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343775" y="2838450"/>
            <a:ext cx="431482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1F2A37"/>
                </a:solidFill>
                <a:latin typeface="Microsoft YaHei"/>
                <a:ea typeface="Microsoft YaHei"/>
              </a:rPr>
              <a:t>① </a:t>
            </a:r>
            <a:r>
              <a:rPr lang="zh-CN" sz="1650">
                <a:solidFill>
                  <a:srgbClr val="1F2A37"/>
                </a:solidFill>
                <a:latin typeface="Microsoft YaHei"/>
                <a:ea typeface="Microsoft YaHei"/>
              </a:rPr>
              <a:t>覆盖光子（</a:t>
            </a:r>
            <a:r>
              <a:rPr lang="en-US" sz="1650">
                <a:solidFill>
                  <a:srgbClr val="1F2A37"/>
                </a:solidFill>
                <a:latin typeface="Microsoft YaHei"/>
                <a:ea typeface="Microsoft YaHei"/>
              </a:rPr>
              <a:t>15+ </a:t>
            </a:r>
            <a:r>
              <a:rPr lang="zh-CN" sz="1650">
                <a:solidFill>
                  <a:srgbClr val="1F2A37"/>
                </a:solidFill>
                <a:latin typeface="Microsoft YaHei"/>
                <a:ea typeface="Microsoft YaHei"/>
              </a:rPr>
              <a:t>引擎）与量子（</a:t>
            </a:r>
            <a:r>
              <a:rPr lang="en-US" sz="1650">
                <a:solidFill>
                  <a:srgbClr val="1F2A37"/>
                </a:solidFill>
                <a:latin typeface="Microsoft YaHei"/>
                <a:ea typeface="Microsoft YaHei"/>
              </a:rPr>
              <a:t>7 </a:t>
            </a:r>
            <a:r>
              <a:rPr lang="zh-CN" sz="1650">
                <a:solidFill>
                  <a:srgbClr val="1F2A37"/>
                </a:solidFill>
                <a:latin typeface="Microsoft YaHei"/>
                <a:ea typeface="Microsoft YaHei"/>
              </a:rPr>
              <a:t>引擎）双栈，口径</a:t>
            </a:r>
            <a:r>
              <a:rPr lang="en-US" sz="1650">
                <a:solidFill>
                  <a:srgbClr val="1F2A37"/>
                </a:solidFill>
                <a:latin typeface="Microsoft YaHei"/>
                <a:ea typeface="Microsoft YaHei"/>
              </a:rPr>
              <a:t> = </a:t>
            </a:r>
            <a:r>
              <a:rPr lang="zh-CN" sz="1650">
                <a:solidFill>
                  <a:srgbClr val="1F2A37"/>
                </a:solidFill>
                <a:latin typeface="Microsoft YaHei"/>
                <a:ea typeface="Microsoft YaHei"/>
              </a:rPr>
              <a:t>设计品类。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343775" y="3771900"/>
            <a:ext cx="389572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1F2A37"/>
                </a:solidFill>
                <a:latin typeface="Microsoft YaHei"/>
                <a:ea typeface="Microsoft YaHei"/>
              </a:rPr>
              <a:t>② 22 </a:t>
            </a:r>
            <a:r>
              <a:rPr lang="zh-CN" sz="1650">
                <a:solidFill>
                  <a:srgbClr val="1F2A37"/>
                </a:solidFill>
                <a:latin typeface="Microsoft YaHei"/>
                <a:ea typeface="Microsoft YaHei"/>
              </a:rPr>
              <a:t>类引擎</a:t>
            </a:r>
            <a:r>
              <a:rPr lang="en-US" sz="1650">
                <a:solidFill>
                  <a:srgbClr val="1F2A37"/>
                </a:solidFill>
                <a:latin typeface="Microsoft YaHei"/>
                <a:ea typeface="Microsoft YaHei"/>
              </a:rPr>
              <a:t> + 11 </a:t>
            </a:r>
            <a:r>
              <a:rPr lang="zh-CN" sz="1650">
                <a:solidFill>
                  <a:srgbClr val="1F2A37"/>
                </a:solidFill>
                <a:latin typeface="Microsoft YaHei"/>
                <a:ea typeface="Microsoft YaHei"/>
              </a:rPr>
              <a:t>包，构成完整设计链。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343775" y="4324350"/>
            <a:ext cx="431482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1F2A37"/>
                </a:solidFill>
                <a:latin typeface="Microsoft YaHei"/>
                <a:ea typeface="Microsoft YaHei"/>
              </a:rPr>
              <a:t>③ </a:t>
            </a:r>
            <a:r>
              <a:rPr lang="zh-CN" sz="1650">
                <a:solidFill>
                  <a:srgbClr val="1F2A37"/>
                </a:solidFill>
                <a:latin typeface="Microsoft YaHei"/>
                <a:ea typeface="Microsoft YaHei"/>
              </a:rPr>
              <a:t>闭环每一步都落到可量化判据，别人卖工具，</a:t>
            </a:r>
            <a:r>
              <a:rPr lang="en-US" sz="1650">
                <a:solidFill>
                  <a:srgbClr val="1F2A37"/>
                </a:solidFill>
                <a:latin typeface="Microsoft YaHei"/>
                <a:ea typeface="Microsoft YaHei"/>
              </a:rPr>
              <a:t>LDA </a:t>
            </a:r>
            <a:r>
              <a:rPr lang="zh-CN" sz="1650">
                <a:solidFill>
                  <a:srgbClr val="1F2A37"/>
                </a:solidFill>
                <a:latin typeface="Microsoft YaHei"/>
                <a:ea typeface="Microsoft YaHei"/>
              </a:rPr>
              <a:t>交付可证伪的设计闭环。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33400" y="1057275"/>
            <a:ext cx="6467475" cy="4857750"/>
          </a:xfrm>
          <a:prstGeom prst="roundRect">
            <a:avLst>
              <a:gd name="adj" fmla="val 1569"/>
            </a:avLst>
          </a:prstGeom>
          <a:solidFill>
            <a:srgbClr val="F5F8FB"/>
          </a:solidFill>
          <a:ln/>
        </p:spPr>
        <p:txBody>
          <a:bodyPr/>
          <a:p/>
        </p:txBody>
      </p:sp>
      <p:pic>
        <p:nvPicPr>
          <p:cNvPr id="2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3400" y="1057275"/>
            <a:ext cx="6477000" cy="4857750"/>
          </a:xfrm>
          <a:prstGeom prst="rect">
            <a:avLst/>
          </a:prstGeom>
          <a:ln/>
        </p:spPr>
      </p:pic>
      <p:sp>
        <p:nvSpPr>
          <p:cNvPr id="209" name=""/>
          <p:cNvSpPr/>
          <p:nvPr/>
        </p:nvSpPr>
        <p:spPr>
          <a:xfrm rot="0" flipH="0" flipV="0">
            <a:off x="1104900" y="1343025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752600" y="15049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2914650" y="1343025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562350" y="15049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仿真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4724400" y="1343025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372100" y="15049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版图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1104900" y="5057775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438275" y="5219700"/>
            <a:ext cx="1057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DRC / LVS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2914650" y="5057775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457575" y="521970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工艺角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4724400" y="5057775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162550" y="52197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几何寄生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914650" y="3267075"/>
            <a:ext cx="1381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A6F6"/>
                </a:solidFill>
                <a:latin typeface="Microsoft YaHei"/>
                <a:ea typeface="Microsoft YaHei"/>
              </a:rPr>
              <a:t>闭环</a:t>
            </a:r>
            <a:r>
              <a:rPr lang="en-US" sz="1350" b="1">
                <a:solidFill>
                  <a:srgbClr val="08A6F6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08A6F6"/>
                </a:solidFill>
                <a:latin typeface="Microsoft YaHei"/>
                <a:ea typeface="Microsoft YaHei"/>
              </a:rPr>
              <a:t>每步可量化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33400" y="6486525"/>
            <a:ext cx="2943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LDA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技术白皮书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v0.9.40 ·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技术架构闭环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496675" y="64865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24" name="" descr="&lt;Slide style={{ width: '1280px', height: '720px', background: '#FFFFFF', padding: '44px 56px 40px 56px', position: 'relative' }}&gt;&#10;  {/* B 标题块 */}&#10;  &lt;Box style={{ paddingBottom: 12, borderBottom: '1px solid #000000' }}&gt;&#10;    &lt;Text style={{ fontSize: 32, fontWeight: 'bold', color: '#061F32' }}&gt;验证红线：PASS/FAIL 由物理定律锚与实证大数据锚判定，大模型不进判决路径&lt;/Text&gt;&#10;  &lt;/Box&gt;&#10;&#10;  {/* C 内容区：上判据图 + 下 3 卡 */}&#10;  &lt;Box style={{ marginTop: 14, flexDirection: 'column', height: 500 }}&gt;&#10;    {/* 上：判据结构图 */}&#10;    &lt;Box style={{ position: 'relative', height: 300, background: '#F5F8FB', borderRadius: 8 }}&gt;&#10;      &lt;svg style={{ position: 'absolute', left: 0, top: 0 }} width={1168} height={300} viewBox='0 0 1168 300'&gt;&#10;        &lt;path d='M250 130 H330' stroke='#061F32' strokeWidth='1.5' fill='none' /&gt;&#10;        &lt;path d='M250 190 H330' stroke='#061F32' strokeWidth='1.5' fill='none' /&gt;&#10;        &lt;path d='M510 160 H600' stroke='#061F32' strokeWidth='1.5' fill='none' /&gt;&#10;        &lt;polygon points='600,160 590,153 590,167' fill='#061F32' /&gt;&#10;        &lt;path d='M790 160 H870' stroke='#061F32' strokeWidth='1.5' fill='none' /&gt;&#10;        &lt;polygon points='870,160 860,153 860,167' fill='#061F32' /&gt;&#10;      &lt;/svg&gt;&#10;      &lt;Box style={{ position: 'absolute', left: 40, top: 90, width: 210, height: 80, background: '#061F32', borderRadius: 6, justifyContent: 'center', padding: '0 16px' }}&gt;&lt;Text style={{ fontSize: 20, fontWeight: 'bold', color: '#FFFFFF', lineHeight: 1.25 }}&gt;物理定律锚&lt;br/&gt;&lt;span style={{ fontSize: 15, color: '#99BDED', fontWeight: 'normal' }}&gt;非 AI ground&lt;/span&gt;&lt;/Text&gt;&lt;/Box&gt;&#10;      &lt;Box style={{ position: 'absolute', left: 40, top: 150, width: 210, height: 80, background: '#061F32', borderRadius: 6, justifyContent: 'center', padding: '0 16px' }}&gt;&lt;Text style={{ fontSize: 20, fontWeight: 'bold', color: '#FFFFFF', lineHeight: 1.25 }}&gt;实证大数据锚&lt;br/&gt;&lt;span style={{ fontSize: 15, color: '#99BDED', fontWeight: 'normal' }}&gt;独立数据集&lt;/span&gt;&lt;/Text&gt;&lt;/Box&gt;&#10;      &lt;Box style={{ position: 'absolute', left: 330, top: 120, width: 180, height: 80, background: '#08A6F6', borderRadius: 6, justifyContent: 'center', alignItems: 'center' }}&gt;&lt;Text style={{ fontSize: 21, fontWeight: 'bold', color: '#FFFFFF' }}&gt;死标量比对&lt;/Text&gt;&lt;/Box&gt;&#10;      &lt;Box style={{ position: 'absolute', left: 600, top: 120, width: 190, height: 80, background: '#061F32', borderRadius: 6, justifyContent: 'center', alignItems: 'center' }}&gt;&lt;Text style={{ fontSize: 22, fontWeight: 'bold', color: '#FFFFFF' }}&gt;PASS / FAIL&lt;/Text&gt;&lt;/Box&gt;&#10;      &lt;Text style={{ position: 'absolute', left: 820, top: 128, fontSize: 15, color: '#44546A' }}&gt;可证伪&lt;br/&gt;判决&lt;/Text&gt;&#10;      &lt;Text style={{ position: 'absolute', left: 330, top: 210, fontSize: 15, color: '#808080' }}&gt;双路径独立锚定，大模型只做生成、不表态&lt;/Text&gt;&#10;    &lt;/Box&gt;&#10;&#10;    {/* 下：3 卡 */}&#10;    &lt;Box style={{ flexDirection: 'row', gap: 24, marginTop: 18, height: 182 }}&gt;&#10;      &lt;Box style={{ flex: 1, background: '#FFFFFF', border: '1px solid #061F32', borderRadius: 6, padding: '18px 22px', justifyContent: 'center' }}&gt;&#10;        &lt;Text style={{ fontSize: 22, fontWeight: 'bold', color: '#001965' }}&gt;大模型不进判决&lt;/Text&gt;&#10;        &lt;Text style={{ fontSize: 16, color: '#44546A', marginTop: 10, lineHeight: 1.45 }}&gt;LLM 只做生成与对话，判决落非 AI ground，由死标量比对定 PASS/FAIL。&lt;/Text&gt;&#10;      &lt;/Box&gt;&#10;      &lt;Box style={{ flex: 1, background: '#FFFFFF', border: '1px solid #061F32', borderRadius: 6, padding: '18px 22px', justifyContent: 'center' }}&gt;&#10;        &lt;Text style={{ fontSize: 22, fontWeight: 'bold', color: '#001965' }}&gt;判据 D 双向标定&lt;/Text&gt;&#10;        &lt;Text style={{ fontSize: 16, color: '#44546A', marginTop: 10, lineHeight: 1.45 }}&gt;残差≡0 且扰动无响应、双向标定，杜绝「假独立」自证桩（v0.9.27）。&lt;/Text&gt;&#10;      &lt;/Box&gt;&#10;      &lt;Box style={{ flex: 1, background: '#FFFFFF', border: '1px solid #061F32', borderRadius: 6, padding: '18px 22px', justifyContent: 'center' }}&gt;&#10;        &lt;Text style={{ fontSize: 22, fontWeight: 'bold', color: '#001965' }}&gt;全绿 ≠ 无失真&lt;/Text&gt;&#10;        &lt;Text style={{ fontSize: 16, color: '#44546A', marginTop: 10, lineHeight: 1.45 }}&gt;设反向测试护栏（v0.9.10 漏算 3.01dB 在 84 全绿下溜过的教训）。&lt;/Text&gt;&#10;      &lt;/Box&gt;&#10;    &lt;/Box&gt;&#10;  &lt;/Box&gt;&#10;&#10;  {/* D 页脚 */}&#10;  &lt;Text style={{ position: 'absolute', left: 56, bottom: 22, fontSize: 14, color: '#808080' }}&gt;Source：LDA 技术白皮书 v0.9.40 · 验证方法论红线&lt;/Text&gt;&#10;  &lt;Text style={{ position: 'absolute', right: 56, bottom: 22, fontSize: 14, color: '#808080' }}&gt;08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533400" y="419100"/>
            <a:ext cx="11125200" cy="504825"/>
          </a:xfrm>
          <a:custGeom>
            <a:pathLst>
              <a:path w="1168" h="53">
                <a:moveTo>
                  <a:pt x="0" y="52"/>
                </a:moveTo>
                <a:lnTo>
                  <a:pt x="1168" y="52"/>
                </a:lnTo>
                <a:lnTo>
                  <a:pt x="1168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验证红线：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PASS/FAIL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由物理定律锚与实证大数据锚判定，大模型不进判决路径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33400" y="4076700"/>
            <a:ext cx="3552825" cy="173355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42950" y="4505325"/>
            <a:ext cx="313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大模型不进判决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42950" y="4857750"/>
            <a:ext cx="31337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LLM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只做生成与对话，判决落非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 AI ground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，由死标量比对定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 PASS/FAIL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4314825" y="4076700"/>
            <a:ext cx="3562350" cy="173355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524375" y="450532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判据</a:t>
            </a: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> D </a:t>
            </a: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双向标定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524375" y="4857750"/>
            <a:ext cx="3143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残差≡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0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且扰动无响应、双向标定，杜绝「假独立」自证桩（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v0.9.27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8105775" y="4076700"/>
            <a:ext cx="3552825" cy="173355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315325" y="4505325"/>
            <a:ext cx="313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全绿</a:t>
            </a: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> ≠ </a:t>
            </a: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无失真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315325" y="4857750"/>
            <a:ext cx="31337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设反向测试护栏（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v0.9.10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漏算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 3.01dB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在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 84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全绿下溜过的教训）。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533400" y="1047750"/>
            <a:ext cx="11125200" cy="2857500"/>
          </a:xfrm>
          <a:prstGeom prst="roundRect">
            <a:avLst>
              <a:gd name="adj" fmla="val 2667"/>
            </a:avLst>
          </a:prstGeom>
          <a:solidFill>
            <a:srgbClr val="F5F8FB"/>
          </a:solidFill>
          <a:ln/>
        </p:spPr>
        <p:txBody>
          <a:bodyPr/>
          <a:p/>
        </p:txBody>
      </p:sp>
      <p:pic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3400" y="1047750"/>
            <a:ext cx="11125200" cy="2857500"/>
          </a:xfrm>
          <a:prstGeom prst="rect">
            <a:avLst/>
          </a:prstGeom>
          <a:ln/>
        </p:spPr>
      </p:pic>
      <p:sp>
        <p:nvSpPr>
          <p:cNvPr id="239" name=""/>
          <p:cNvSpPr/>
          <p:nvPr/>
        </p:nvSpPr>
        <p:spPr>
          <a:xfrm rot="0" flipH="0" flipV="0">
            <a:off x="914400" y="1905000"/>
            <a:ext cx="2000250" cy="762000"/>
          </a:xfrm>
          <a:prstGeom prst="roundRect">
            <a:avLst>
              <a:gd name="adj" fmla="val 75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066800" y="2038350"/>
            <a:ext cx="1695450" cy="5048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物理定律锚</a:t>
            </a:r>
            <a:endParaRPr/>
          </a:p>
          <a:p>
            <a:pPr>
              <a:lnSpc>
                <a:spcPct val="125000"/>
              </a:lnSpc>
            </a:pPr>
            <a:r>
              <a:rPr lang="zh-CN" sz="1125">
                <a:solidFill>
                  <a:srgbClr val="99BDED"/>
                </a:solidFill>
                <a:latin typeface="Microsoft YaHei"/>
                <a:ea typeface="Microsoft YaHei"/>
              </a:rPr>
              <a:t>非</a:t>
            </a:r>
            <a:r>
              <a:rPr lang="en-US" sz="1125">
                <a:solidFill>
                  <a:srgbClr val="99BDED"/>
                </a:solidFill>
                <a:latin typeface="Microsoft YaHei"/>
                <a:ea typeface="Microsoft YaHei"/>
              </a:rPr>
              <a:t> AI ground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914400" y="2476500"/>
            <a:ext cx="2000250" cy="762000"/>
          </a:xfrm>
          <a:prstGeom prst="roundRect">
            <a:avLst>
              <a:gd name="adj" fmla="val 75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066800" y="2609850"/>
            <a:ext cx="1695450" cy="5048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实证大数据锚</a:t>
            </a:r>
            <a:endParaRPr/>
          </a:p>
          <a:p>
            <a:pPr>
              <a:lnSpc>
                <a:spcPct val="125000"/>
              </a:lnSpc>
            </a:pPr>
            <a:r>
              <a:rPr lang="zh-CN" sz="1125">
                <a:solidFill>
                  <a:srgbClr val="99BDED"/>
                </a:solidFill>
                <a:latin typeface="Microsoft YaHei"/>
                <a:ea typeface="Microsoft YaHei"/>
              </a:rPr>
              <a:t>独立数据集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3676650" y="2190750"/>
            <a:ext cx="1714500" cy="762000"/>
          </a:xfrm>
          <a:prstGeom prst="roundRect">
            <a:avLst>
              <a:gd name="adj" fmla="val 7500"/>
            </a:avLst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038600" y="2447925"/>
            <a:ext cx="1000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死标量比对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248400" y="2190750"/>
            <a:ext cx="1809750" cy="762000"/>
          </a:xfrm>
          <a:prstGeom prst="roundRect">
            <a:avLst>
              <a:gd name="adj" fmla="val 75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553200" y="2447925"/>
            <a:ext cx="1209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PASS / FAIL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343900" y="2266950"/>
            <a:ext cx="4286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可证伪</a:t>
            </a:r>
            <a:endParaRPr/>
          </a:p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判决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676650" y="3048000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双路径独立锚定，大模型只做生成、不表态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33400" y="6486525"/>
            <a:ext cx="3076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LDA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技术白皮书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v0.9.40 ·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验证方法论红线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496675" y="64865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51" name="" descr="&lt;Slide style={{ width: '1280px', height: '720px', background: '#FFFFFF', padding: '44px 56px 40px 56px', position: 'relative' }}&gt;&#10;  {/* B 标题块 */}&#10;  &lt;Box style={{ paddingBottom: 12, borderBottom: '1px solid #000000' }}&gt;&#10;    &lt;Text style={{ fontSize: 32, fontWeight: 'bold', color: '#061F32' }}&gt;账本即证据：50 道验证锚、22 类引擎、97 条 CI 全绿，构成可审计底座&lt;/Text&gt;&#10;  &lt;/Box&gt;&#10;&#10;  {/* C 内容区：左巨型锚点 + 右 KPI 列表 */}&#10;  &lt;Box style={{ marginTop: 16, flexDirection: 'row', gap: 48, height: 500 }}&gt;&#10;    {/* 左巨型 */}&#10;    &lt;Box style={{ width: '38%', background: '#061F32', borderRadius: 8, justifyContent: 'center', alignItems: 'center', padding: '0 20px' }}&gt;&#10;      &lt;Text style={{ fontSize: 150, fontWeight: 'bold', color: '#08A6F6', lineHeight: 1 }}&gt;50&lt;/Text&gt;&#10;      &lt;Text style={{ fontSize: 28, fontWeight: 'bold', color: '#FFFFFF', marginTop: 6 }}&gt;道验证锚&lt;/Text&gt;&#10;      &lt;Text style={{ fontSize: 21, color: '#99BDED', marginTop: 18, textAlign: 'center', lineHeight: 1.5 }}&gt;25 严格独立 / 0 降级 / 25 自证桩&lt;br/&gt;双路径披露，确为可证伪&lt;/Text&gt;&#10;    &lt;/Box&gt;&#10;&#10;    {/* 右 KPI 列表 */}&#10;    &lt;Box style={{ width: '62%', justifyContent: 'center', gap: 22 }}&gt;&#10;      &lt;Box style={{ flexDirection: 'row', alignItems: 'baseline', gap: 24, borderBottom: '1px solid #E7E6E6', paddingBottom: 18 }}&gt;&#10;        &lt;Text style={{ fontSize: 60, fontWeight: 'bold', color: '#001965', width: 150 }}&gt;22&lt;/Text&gt;&#10;        &lt;Box&gt;&#10;          &lt;Text style={{ fontSize: 24, fontWeight: 'bold', color: '#061F32' }}&gt;类引擎（光 15 + 量 7）+ 11 包 = 33 类&lt;/Text&gt;&#10;          &lt;Text style={{ fontSize: 19, color: '#44546A', marginTop: 4 }}&gt;口径 = 设计品类，覆盖光子与量子双栈&lt;/Text&gt;&#10;        &lt;/Box&gt;&#10;      &lt;/Box&gt;&#10;      &lt;Box style={{ flexDirection: 'row', alignItems: 'baseline', gap: 24, borderBottom: '1px solid #E7E6E6', paddingBottom: 18 }}&gt;&#10;        &lt;Text style={{ fontSize: 60, fontWeight: 'bold', color: '#001965', width: 150 }}&gt;97&lt;/Text&gt;&#10;        &lt;Box&gt;&#10;          &lt;Text style={{ fontSize: 24, fontWeight: 'bold', color: '#061F32' }}&gt;条 CI core 冒烟全绿&lt;/Text&gt;&#10;          &lt;Text style={{ fontSize: 19, color: '#44546A', marginTop: 4 }}&gt;0 SKIP / 0 FAIL，回归门禁真实生效&lt;/Text&gt;&#10;        &lt;/Box&gt;&#10;      &lt;/Box&gt;&#10;      &lt;Box style={{ flexDirection: 'row', alignItems: 'baseline', gap: 24, paddingBottom: 4 }}&gt;&#10;        &lt;Text style={{ fontSize: 60, fontWeight: 'bold', color: '#001965', width: 150 }}&gt;58&lt;/Text&gt;&#10;        &lt;Box&gt;&#10;          &lt;Text style={{ fontSize: 24, fontWeight: 'bold', color: '#061F32' }}&gt;货架超市（设计品类覆盖）&lt;/Text&gt;&#10;          &lt;Text style={{ fontSize: 19, color: '#44546A', marginTop: 4 }}&gt;可复用组件供给，加速设计链拼装&lt;/Text&gt;&#10;        &lt;/Box&gt;&#10;      &lt;/Box&gt;&#10;    &lt;/Box&gt;&#10;  &lt;/Box&gt;&#10;&#10;  {/* D 页脚 */}&#10;  &lt;Text style={{ position: 'absolute', left: 56, bottom: 22, fontSize: 14, color: '#808080' }}&gt;Source：LDA 技术白皮书 v0.9.40 · 当前账本&lt;/Text&gt;&#10;  &lt;Text style={{ position: 'absolute', right: 56, bottom: 22, fontSize: 14, color: '#808080' }}&gt;09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533400" y="419100"/>
            <a:ext cx="11125200" cy="504825"/>
          </a:xfrm>
          <a:custGeom>
            <a:pathLst>
              <a:path w="1168" h="53">
                <a:moveTo>
                  <a:pt x="0" y="52"/>
                </a:moveTo>
                <a:lnTo>
                  <a:pt x="1168" y="52"/>
                </a:lnTo>
                <a:lnTo>
                  <a:pt x="1168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账本即证据：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50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道验证锚、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22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类引擎、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97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条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CI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全绿，构成可审计底座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533400" y="1066800"/>
            <a:ext cx="4057650" cy="4762500"/>
          </a:xfrm>
          <a:prstGeom prst="roundRect">
            <a:avLst>
              <a:gd name="adj" fmla="val 1878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676400" y="1952625"/>
            <a:ext cx="17716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08A6F6"/>
                </a:solidFill>
                <a:latin typeface="Microsoft YaHei"/>
                <a:ea typeface="Microsoft YaHei"/>
              </a:rPr>
              <a:t>50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2028825" y="3724275"/>
            <a:ext cx="1066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道验证锚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076325" y="4219575"/>
            <a:ext cx="2981325" cy="7239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575">
                <a:solidFill>
                  <a:srgbClr val="99BDED"/>
                </a:solidFill>
                <a:latin typeface="Microsoft YaHei"/>
                <a:ea typeface="Microsoft YaHei"/>
              </a:rPr>
              <a:t>25 </a:t>
            </a:r>
            <a:r>
              <a:rPr lang="zh-CN" sz="1575">
                <a:solidFill>
                  <a:srgbClr val="99BDED"/>
                </a:solidFill>
                <a:latin typeface="Microsoft YaHei"/>
                <a:ea typeface="Microsoft YaHei"/>
              </a:rPr>
              <a:t>严格独立</a:t>
            </a:r>
            <a:r>
              <a:rPr lang="en-US" sz="1575">
                <a:solidFill>
                  <a:srgbClr val="99BDED"/>
                </a:solidFill>
                <a:latin typeface="Microsoft YaHei"/>
                <a:ea typeface="Microsoft YaHei"/>
              </a:rPr>
              <a:t> / 0 </a:t>
            </a:r>
            <a:r>
              <a:rPr lang="zh-CN" sz="1575">
                <a:solidFill>
                  <a:srgbClr val="99BDED"/>
                </a:solidFill>
                <a:latin typeface="Microsoft YaHei"/>
                <a:ea typeface="Microsoft YaHei"/>
              </a:rPr>
              <a:t>降级</a:t>
            </a:r>
            <a:r>
              <a:rPr lang="en-US" sz="1575">
                <a:solidFill>
                  <a:srgbClr val="99BDED"/>
                </a:solidFill>
                <a:latin typeface="Microsoft YaHei"/>
                <a:ea typeface="Microsoft YaHei"/>
              </a:rPr>
              <a:t> / 25 </a:t>
            </a:r>
            <a:r>
              <a:rPr lang="zh-CN" sz="1575">
                <a:solidFill>
                  <a:srgbClr val="99BDED"/>
                </a:solidFill>
                <a:latin typeface="Microsoft YaHei"/>
                <a:ea typeface="Microsoft YaHei"/>
              </a:rPr>
              <a:t>自证桩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575">
                <a:solidFill>
                  <a:srgbClr val="99BDED"/>
                </a:solidFill>
                <a:latin typeface="Microsoft YaHei"/>
                <a:ea typeface="Microsoft YaHei"/>
              </a:rPr>
              <a:t>双路径披露，确为可证伪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5048250" y="2009775"/>
            <a:ext cx="6610350" cy="876300"/>
          </a:xfrm>
          <a:custGeom>
            <a:pathLst>
              <a:path w="694" h="92">
                <a:moveTo>
                  <a:pt x="0" y="91"/>
                </a:moveTo>
                <a:lnTo>
                  <a:pt x="694" y="91"/>
                </a:lnTo>
                <a:lnTo>
                  <a:pt x="694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048250" y="2009775"/>
            <a:ext cx="14287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001965"/>
                </a:solidFill>
                <a:latin typeface="Microsoft YaHei"/>
                <a:ea typeface="Microsoft YaHei"/>
              </a:rPr>
              <a:t>22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705600" y="2009775"/>
            <a:ext cx="4181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类引擎（光</a:t>
            </a: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 15 + </a:t>
            </a: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量</a:t>
            </a: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 7</a:t>
            </a: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）</a:t>
            </a: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+ 11 </a:t>
            </a: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包</a:t>
            </a: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 = 33 </a:t>
            </a: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705600" y="2324100"/>
            <a:ext cx="4181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口径</a:t>
            </a: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 = </a:t>
            </a: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设计品类，覆盖光子与量子双栈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5048250" y="3086100"/>
            <a:ext cx="6610350" cy="876300"/>
          </a:xfrm>
          <a:custGeom>
            <a:pathLst>
              <a:path w="694" h="92">
                <a:moveTo>
                  <a:pt x="0" y="91"/>
                </a:moveTo>
                <a:lnTo>
                  <a:pt x="694" y="91"/>
                </a:lnTo>
                <a:lnTo>
                  <a:pt x="694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048250" y="3086100"/>
            <a:ext cx="14287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001965"/>
                </a:solidFill>
                <a:latin typeface="Microsoft YaHei"/>
                <a:ea typeface="Microsoft YaHei"/>
              </a:rPr>
              <a:t>97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705600" y="3086100"/>
            <a:ext cx="287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条</a:t>
            </a: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 CI core </a:t>
            </a: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冒烟全绿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705600" y="3400425"/>
            <a:ext cx="2876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0 SKIP / 0 FAIL</a:t>
            </a: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，回归门禁真实生效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048250" y="4162425"/>
            <a:ext cx="14287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001965"/>
                </a:solidFill>
                <a:latin typeface="Microsoft YaHei"/>
                <a:ea typeface="Microsoft YaHei"/>
              </a:rPr>
              <a:t>58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705600" y="4162425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货架超市（设计品类覆盖）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705600" y="4476750"/>
            <a:ext cx="2743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可复用组件供给，加速设计链拼装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33400" y="6486525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LDA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技术白皮书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v0.9.40 ·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当前账本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496675" y="64865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0" name="" descr="&lt;Slide style={{ width: '1280px', height: '720px', background: '#062032', position: 'relative', overflow: 'hidden' }}&gt;&#10;  &lt;Text style={{ position: 'absolute', left: 56, top: 200, fontSize: 300, fontWeight: 'bold', color: '#FFFFFF', opacity: 0.16, lineHeight: 1 }}&gt;03&lt;/Text&gt;&#10;  &lt;Box style={{ position: 'absolute', right: 80, top: 0, bottom: 0, width: 640, justifyContent: 'center', alignItems: 'flex-start' }}&gt;&#10;    &lt;Box style={{ width: 90, height: 4, background: '#08A6F6', marginBottom: 28 }} /&gt;&#10;    &lt;Text style={{ fontSize: 48, fontWeight: 'bold', color: '#FFFFFF' }}&gt;为什么是我们&lt;/Text&gt;&#10;    &lt;Text style={{ fontSize: 22, color: '#99BDED', marginTop: 18, lineHeight: 1.5 }}&gt;Differentiation &amp;amp; Credibility —— 现有工具补不上的空白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33400" y="190500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16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5334000" y="2724150"/>
            <a:ext cx="85725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334000" y="3028950"/>
            <a:ext cx="27432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为什么是我们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334000" y="3752850"/>
            <a:ext cx="54483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99BDED"/>
                </a:solidFill>
                <a:latin typeface="Microsoft YaHei"/>
                <a:ea typeface="Microsoft YaHei"/>
              </a:rPr>
              <a:t>Differentiation &amp; Credibility —— </a:t>
            </a:r>
            <a:r>
              <a:rPr lang="zh-CN" sz="1650">
                <a:solidFill>
                  <a:srgbClr val="99BDED"/>
                </a:solidFill>
                <a:latin typeface="Microsoft YaHei"/>
                <a:ea typeface="Microsoft YaHei"/>
              </a:rPr>
              <a:t>现有工具补不上的空白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6" name="" descr="&lt;Slide style={{ width: '1280px', height: '720px', background: '#FFFFFF', padding: '44px 56px 40px 56px', position: 'relative' }}&gt;&#10;  {/* B 标题块 */}&#10;  &lt;Box style={{ paddingBottom: 12, borderBottom: '1px solid #000000' }}&gt;&#10;    &lt;Text style={{ fontSize: 32, fontWeight: 'bold', color: '#061F32' }}&gt;对比全球工具，LDA 占据「验证独立 + 主权自主 + Agent 原生」的结构性空白&lt;/Text&gt;&#10;  &lt;/Box&gt;&#10;&#10;  {/* C 内容区：左 Table + 右洞察 */}&#10;  &lt;Box style={{ marginTop: 14, flexDirection: 'row', gap: 36, height: 510 }}&gt;&#10;    {/* 左：对比矩阵 */}&#10;    &lt;Box style={{ width: '62%' }}&gt;&#10;      &lt;Table&#10;        style={{ width: '100%', height: '100%' }}&#10;        defaultTextStyle={{ fontSize: 15, textAlign: 'center', color: '#1f2a37' }}&#10;        defaultCellStyle={{ border: { left: { width: 1, color: '#E7E6E6' }, right: { width: 1, color: '#E7E6E6' }, top: { width: 1, color: '#E7E6E6' }, bottom: { width: 1, color: '#E7E6E6' } } }}&#10;        cells={[&#10;          [&#10;            { text: '工具', textStyle: { bold: true, color: '#FFFFFF' }, cellStyle: { background: { color: '#061F32' } } },&#10;            { text: '开源', textStyle: { bold: true, color: '#FFFFFF' }, cellStyle: { background: { color: '#061F32' } } },&#10;            { text: 'Agent 原生', textStyle: { bold: true, color: '#FFFFFF' }, cellStyle: { background: { color: '#061F32' } } },&#10;            { text: '验证独立', textStyle: { bold: true, color: '#FFFFFF' }, cellStyle: { background: { color: '#061F32' } } },&#10;            { text: '主权自主', textStyle: { bold: true, color: '#FFFFFF' }, cellStyle: { background: { color: '#061F32' } } },&#10;            { text: '成熟度', textStyle: { bold: true, color: '#FFFFFF' }, cellStyle: { background: { color: '#061F32' } } },&#10;          ],&#10;          [&#10;            { text: 'LDA', textStyle: { bold: true, color: '#08A6F6' } },&#10;            { text: '✓', textStyle: { bold: true, color: '#08A6F6' } },&#10;            { text: '✓', textStyle: { bold: true, color: '#08A6F6' } },&#10;            { text: '✓', textStyle: { bold: true, color: '#08A6F6' } },&#10;            { text: '✓', textStyle: { bold: true, color: '#08A6F6' } },&#10;            { text: '中（未流片）', textStyle: { color: '#44546A' } },&#10;          ],&#10;          ['gdsfactory', '✓', '—', '—', '借今踢后', '高'],&#10;          ['Meep', '✓', '—', '—', 'GPL 隔离', '中（仿真）'],&#10;          ['Luceda', '商业', '—', '—', '受许可', '高'],&#10;          ['Lumerical', '—', '—', '—', '受许可', '高'],&#10;          ['Tidy3D', 'SaaS', '—', '—', 'ORACLE 锁', '高'],&#10;          ['COMSOL', '—', '—', '—', '受许可', '高'],&#10;        ]}&#10;      /&gt;&#10;    &lt;/Box&gt;&#10;&#10;    {/* 右：洞察 */}&#10;    &lt;Box style={{ width: '38%', justifyContent: 'center' }}&gt;&#10;      &lt;Text style={{ fontSize: 24, fontWeight: 'bold', color: '#001965', lineHeight: 1.4, marginBottom: 14 }}&gt;诚实标注：差异化在维度，不在精度&lt;/Text&gt;&#10;      &lt;Text style={{ fontSize: 21, color: '#1f2a37', lineHeight: 1.5 }}&gt;&#10;        LDA 列第 1，不是求解精度已超越 Lumerical / Qiskit（成熟度仍低、未流片），而是「验证独立 + 主权自主 + Agent 原生」是现有工具的&lt;span style={{ fontWeight: 'bold', color: '#001965' }}&gt;结构性空白&lt;/span&gt;——这是差异化维度，不是精度维度。&lt;br/&gt;&lt;br/&gt;&#10;        商业求解器定位为&lt;span style={{ fontWeight: 'bold' }}&gt;外部 ORACLE 基准&lt;/span&gt;，而非黑盒真理来源。&#10;      &lt;/Text&gt;&#10;    &lt;/Box&gt;&#10;  &lt;/Box&gt;&#10;&#10;  {/* D 页脚 */}&#10;  &lt;Text style={{ position: 'absolute', left: 56, bottom: 22, fontSize: 14, color: '#808080' }}&gt;Source：LDA 技术白皮书 v0.9.40 · 全球光子 / 量子 EDA 对比（2026-09 检索）&lt;/Text&gt;&#10;  &lt;Text style={{ position: 'absolute', right: 56, bottom: 22, fontSize: 14, color: '#808080' }}&gt;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533400" y="419100"/>
            <a:ext cx="11125200" cy="504825"/>
          </a:xfrm>
          <a:custGeom>
            <a:pathLst>
              <a:path w="1168" h="53">
                <a:moveTo>
                  <a:pt x="0" y="52"/>
                </a:moveTo>
                <a:lnTo>
                  <a:pt x="1168" y="52"/>
                </a:lnTo>
                <a:lnTo>
                  <a:pt x="1168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对比全球工具，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LDA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占据「验证独立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+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主权自主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+ Agent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原生」的结构性空白</a:t>
            </a:r>
            <a:endParaRPr/>
          </a:p>
        </p:txBody>
      </p:sp>
      <p:graphicFrame>
        <p:nvGraphicFramePr>
          <p:cNvPr id="20" name=""/>
          <p:cNvGraphicFramePr/>
          <p:nvPr/>
        </p:nvGraphicFramePr>
        <p:xfrm rot="0" flipH="0" flipV="0">
          <a:off x="533400" y="1047750"/>
          <a:ext cx="6686550" cy="4857750"/>
        </p:xfrm>
        <a:graphic>
          <a:graphicData uri="http://schemas.openxmlformats.org/drawingml/2006/table">
            <a:tbl>
              <a:tblGrid>
                <a:gridCol w="1212427">
                  <a:extLst>
                    <a:ext uri="{9D8B030D-6E8A-4147-A177-3AD203B41FA5}">
                      <a16:colId val="1"/>
                    </a:ext>
                  </a:extLst>
                </a:gridCol>
                <a:gridCol w="610414">
                  <a:extLst>
                    <a:ext uri="{9D8B030D-6E8A-4147-A177-3AD203B41FA5}">
                      <a16:colId val="2"/>
                    </a:ext>
                  </a:extLst>
                </a:gridCol>
                <a:gridCol w="1268428">
                  <a:extLst>
                    <a:ext uri="{9D8B030D-6E8A-4147-A177-3AD203B41FA5}">
                      <a16:colId val="3"/>
                    </a:ext>
                  </a:extLst>
                </a:gridCol>
                <a:gridCol w="974422">
                  <a:extLst>
                    <a:ext uri="{9D8B030D-6E8A-4147-A177-3AD203B41FA5}">
                      <a16:colId val="4"/>
                    </a:ext>
                  </a:extLst>
                </a:gridCol>
                <a:gridCol w="1226428">
                  <a:extLst>
                    <a:ext uri="{9D8B030D-6E8A-4147-A177-3AD203B41FA5}">
                      <a16:colId val="5"/>
                    </a:ext>
                  </a:extLst>
                </a:gridCol>
                <a:gridCol w="1394431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6072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开源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Agent 原生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验证独立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主权自主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成熟度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072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8A6F6"/>
                          </a:solidFill>
                          <a:latin typeface="Microsoft YaHei"/>
                          <a:ea typeface="Microsoft YaHei"/>
                        </a:rPr>
                        <a:t>LDA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8A6F6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8A6F6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8A6F6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8A6F6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</a:rPr>
                        <a:t>中（未流片）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072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gdsfactory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借今踢后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072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Meep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GPL 隔离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中（仿真）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072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Luceda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商业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受许可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072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Lumerical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受许可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072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Tidy3D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SaaS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ORACLE 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6072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COMSOL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受许可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562850" y="1771650"/>
            <a:ext cx="40957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01965"/>
                </a:solidFill>
                <a:latin typeface="Microsoft YaHei"/>
                <a:ea typeface="Microsoft YaHei"/>
              </a:rPr>
              <a:t>诚实标注：差异化在维度，不在精度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562850" y="2295525"/>
            <a:ext cx="4095750" cy="2886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LDA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列第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1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，不是求解精度已超越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Lumerical / Qiskit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（成熟度仍低、未流片），而是「验证独立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+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主权自主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+ Agent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原生」是现有工具的</a:t>
            </a:r>
            <a:r>
              <a:rPr lang="zh-CN" sz="1575" b="1">
                <a:solidFill>
                  <a:srgbClr val="001965"/>
                </a:solidFill>
                <a:latin typeface="Microsoft YaHei"/>
                <a:ea typeface="Microsoft YaHei"/>
              </a:rPr>
              <a:t>结构性空白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——这是差异化维度，不是精度维度。</a:t>
            </a:r>
            <a:endParaRPr/>
          </a:p>
          <a:p>
            <a:pPr>
              <a:lnSpc>
                <a:spcPct val="150000"/>
              </a:lnSpc>
            </a:pPr>
            <a:r>
              <a:rPr sz="1575">
                <a:solidFill>
                  <a:srgbClr val="1F2A37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50000"/>
              </a:lnSpc>
            </a:pP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商业求解器定位为</a:t>
            </a:r>
            <a:r>
              <a:rPr lang="zh-CN" sz="1575" b="1">
                <a:solidFill>
                  <a:srgbClr val="1F2A37"/>
                </a:solidFill>
                <a:latin typeface="Microsoft YaHei"/>
                <a:ea typeface="Microsoft YaHei"/>
              </a:rPr>
              <a:t>外部</a:t>
            </a:r>
            <a:r>
              <a:rPr lang="en-US" sz="1575" b="1">
                <a:solidFill>
                  <a:srgbClr val="1F2A37"/>
                </a:solidFill>
                <a:latin typeface="Microsoft YaHei"/>
                <a:ea typeface="Microsoft YaHei"/>
              </a:rPr>
              <a:t> ORACLE </a:t>
            </a:r>
            <a:r>
              <a:rPr lang="zh-CN" sz="1575" b="1">
                <a:solidFill>
                  <a:srgbClr val="1F2A37"/>
                </a:solidFill>
                <a:latin typeface="Microsoft YaHei"/>
                <a:ea typeface="Microsoft YaHei"/>
              </a:rPr>
              <a:t>基准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，而非黑盒真理来源。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33400" y="6486525"/>
            <a:ext cx="479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LDA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技术白皮书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v0.9.40 ·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全球光子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量子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EDA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对比（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2026-09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检索）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496675" y="64865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5" name="" descr="&lt;Slide style={{ width: '1280px', height: '720px', background: '#FFFFFF', padding: '44px 56px 40px 56px', position: 'relative' }}&gt;&#10;  {/* B 标题块 */}&#10;  &lt;Box style={{ paddingBottom: 12, borderBottom: '1px solid #000000' }}&gt;&#10;    &lt;Text style={{ fontSize: 32, fontWeight: 'bold', color: '#061F32' }}&gt;主权纪律：高端求解器要么自主、要么隔离外挂，绝不让许可卡住设计闭环&lt;/Text&gt;&#10;  &lt;/Box&gt;&#10;&#10;  {/* C 内容区：左三级依赖图 + 右文字 */}&#10;  &lt;Box style={{ marginTop: 14, flexDirection: 'row', gap: 40, height: 510 }}&gt;&#10;    {/* 左：三级依赖 */}&#10;    &lt;Box style={{ width: '52%', position: 'relative' }}&gt;&#10;      &lt;svg style={{ position: 'absolute', left: 286, top: 0 }} width={20} height={510} viewBox='0 0 20 510'&gt;&#10;        &lt;line x1='10' y1='150' x2='10' y2='180' stroke='#061F32' strokeWidth='1.5' /&gt;&#10;        &lt;polygon points='10,182 5,172 15,172' fill='#061F32' /&gt;&#10;        &lt;line x1='10' y1='310' x2='10' y2='340' stroke='#061F32' strokeWidth='1.5' /&gt;&#10;        &lt;polygon points='10,342 5,332 15,332' fill='#061F32' /&gt;&#10;      &lt;/svg&gt;&#10;      &lt;Box style={{ position: 'absolute', left: 0, top: 20, width: 560, height: 130, background: '#061F32', borderRadius: 6, padding: '20px 26px', justifyContent: 'center' }}&gt;&#10;        &lt;Text style={{ fontSize: 26, fontWeight: 'bold', color: '#FFFFFF' }}&gt;A 级 · 永不借&lt;/Text&gt;&#10;        &lt;Text style={{ fontSize: 19, color: '#99BDED', marginTop: 8 }}&gt;核心求解 / 判决 —— 自主可控，绝不使用外部依赖&lt;/Text&gt;&#10;      &lt;/Box&gt;&#10;      &lt;Box style={{ position: 'absolute', left: 0, top: 180, width: 560, height: 130, background: '#E7F1FB', borderRadius: 6, padding: '20px 26px', justifyContent: 'center' }}&gt;&#10;        &lt;Text style={{ fontSize: 26, fontWeight: 'bold', color: '#001965' }}&gt;B 级 · 借今踢后&lt;/Text&gt;&#10;        &lt;Text style={{ fontSize: 19, color: '#44546A', marginTop: 8 }}&gt;gdsfactory / KLayout / SAX —— 暂借，路线图上逐步替换&lt;/Text&gt;&#10;      &lt;/Box&gt;&#10;      &lt;Box style={{ position: 'absolute', left: 0, top: 340, width: 560, height: 130, background: '#FFFFFF', border: '1px solid #061F32', borderRadius: 6, padding: '20px 26px', justifyContent: 'center' }}&gt;&#10;        &lt;Text style={{ fontSize: 26, fontWeight: 'bold', color: '#001965' }}&gt;C 级 · 第一天自主&lt;/Text&gt;&#10;        &lt;Text style={{ fontSize: 19, color: '#44546A', marginTop: 8 }}&gt;Tidy3D 仅外部 ORACLE / Meep GPL 隔离（subprocess 只回标量）&lt;/Text&gt;&#10;      &lt;/Box&gt;&#10;    &lt;/Box&gt;&#10;&#10;    {/* 右：文字 */}&#10;    &lt;Box style={{ width: '48%', justifyContent: 'center', gap: 14 }}&gt;&#10;      &lt;Text style={{ fontSize: 24, fontWeight: 'bold', color: '#001965', lineHeight: 1.4, marginBottom: 6 }}&gt;架构第一天就为「主权自主」设计&lt;/Text&gt;&#10;      &lt;Text style={{ fontSize: 21, color: '#1f2a37', lineHeight: 1.5 }}&gt;① A 级（核心求解 / 判决）永不借外部，规避许可与地缘断供风险。&lt;/Text&gt;&#10;      &lt;Text style={{ fontSize: 21, color: '#1f2a37', lineHeight: 1.5 }}&gt;② B 级（gdsfactory / KLayout / SAX）借今踢后，逐步替换为自研。&lt;/Text&gt;&#10;      &lt;Text style={{ fontSize: 21, color: '#1f2a37', lineHeight: 1.5 }}&gt;③ C 级第一天自主：Meep=GPL v2 已隔离（subprocess 只回标量），Tidy3D 仅作外部 ORACLE 基准。&lt;/Text&gt;&#10;      &lt;Box style={{ width: 100, height: 3, background: '#08A6F6', margin: '10px 0' }} /&gt;&#10;      &lt;Text style={{ fontSize: 21, color: '#1f2a37', lineHeight: 1.5 }}&gt;在出口管制背景下，&lt;span style={{ fontWeight: 'bold', color: '#001965' }}&gt;「自主可验」是国产光量子设计底座的刚需&lt;/span&gt;。&lt;/Text&gt;&#10;    &lt;/Box&gt;&#10;  &lt;/Box&gt;&#10;&#10;  {/* D 页脚 */}&#10;  &lt;Text style={{ position: 'absolute', left: 56, bottom: 22, fontSize: 14, color: '#808080' }}&gt;Source：LDA 技术白皮书 v0.9.40 · 主权依赖纪律&lt;/Text&gt;&#10;  &lt;Text style={{ position: 'absolute', right: 56, bottom: 22, fontSize: 14, color: '#808080' }}&gt;1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533400" y="419100"/>
            <a:ext cx="11125200" cy="504825"/>
          </a:xfrm>
          <a:custGeom>
            <a:pathLst>
              <a:path w="1168" h="53">
                <a:moveTo>
                  <a:pt x="0" y="52"/>
                </a:moveTo>
                <a:lnTo>
                  <a:pt x="1168" y="52"/>
                </a:lnTo>
                <a:lnTo>
                  <a:pt x="1168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主权纪律：高端求解器要么自主、要么隔离外挂，绝不让许可卡住设计闭环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505575" y="1362075"/>
            <a:ext cx="5153025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01965"/>
                </a:solidFill>
                <a:latin typeface="Microsoft YaHei"/>
                <a:ea typeface="Microsoft YaHei"/>
              </a:rPr>
              <a:t>架构第一天就为「主权自主」设计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505575" y="1943100"/>
            <a:ext cx="515302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① A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级（核心求解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/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判决）永不借外部，规避许可与地缘断供风险。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505575" y="2800350"/>
            <a:ext cx="515302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② B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级（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gdsfactory / KLayout / SAX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）借今踢后，逐步替换为自研。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505575" y="3657600"/>
            <a:ext cx="515302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③ C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级第一天自主：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Meep=GPL v2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已隔离（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subprocess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只回标量），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Tidy3D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仅作外部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ORACLE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基准。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505575" y="4610100"/>
            <a:ext cx="952500" cy="28575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505575" y="4867275"/>
            <a:ext cx="515302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在出口管制背景下，</a:t>
            </a:r>
            <a:r>
              <a:rPr lang="zh-CN" sz="1575" b="1">
                <a:solidFill>
                  <a:srgbClr val="001965"/>
                </a:solidFill>
                <a:latin typeface="Microsoft YaHei"/>
                <a:ea typeface="Microsoft YaHei"/>
              </a:rPr>
              <a:t>「自主可验」是国产光量子设计底座的刚需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257550" y="1047750"/>
            <a:ext cx="190500" cy="4857750"/>
          </a:xfrm>
          <a:prstGeom prst="rect">
            <a:avLst/>
          </a:prstGeom>
          <a:ln/>
        </p:spPr>
      </p:pic>
      <p:sp>
        <p:nvSpPr>
          <p:cNvPr id="36" name=""/>
          <p:cNvSpPr/>
          <p:nvPr/>
        </p:nvSpPr>
        <p:spPr>
          <a:xfrm rot="0" flipH="0" flipV="0">
            <a:off x="533400" y="1238250"/>
            <a:ext cx="5334000" cy="1238250"/>
          </a:xfrm>
          <a:prstGeom prst="roundRect">
            <a:avLst>
              <a:gd name="adj" fmla="val 4615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81050" y="1562100"/>
            <a:ext cx="4838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A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级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永不借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4838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核心求解</a:t>
            </a:r>
            <a:r>
              <a:rPr lang="en-US" sz="1425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判决</a:t>
            </a:r>
            <a:r>
              <a:rPr lang="en-US" sz="1425">
                <a:solidFill>
                  <a:srgbClr val="99BDED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自主可控，绝不使用外部依赖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533400" y="2762250"/>
            <a:ext cx="5334000" cy="1238250"/>
          </a:xfrm>
          <a:prstGeom prst="roundRect">
            <a:avLst>
              <a:gd name="adj" fmla="val 4615"/>
            </a:avLst>
          </a:prstGeom>
          <a:solidFill>
            <a:srgbClr val="E7F1FB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81050" y="3086100"/>
            <a:ext cx="4838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01965"/>
                </a:solidFill>
                <a:latin typeface="Microsoft YaHei"/>
                <a:ea typeface="Microsoft YaHei"/>
              </a:rPr>
              <a:t>B </a:t>
            </a:r>
            <a:r>
              <a:rPr lang="zh-CN" sz="1950" b="1">
                <a:solidFill>
                  <a:srgbClr val="001965"/>
                </a:solidFill>
                <a:latin typeface="Microsoft YaHei"/>
                <a:ea typeface="Microsoft YaHei"/>
              </a:rPr>
              <a:t>级</a:t>
            </a:r>
            <a:r>
              <a:rPr lang="en-US" sz="1950" b="1">
                <a:solidFill>
                  <a:srgbClr val="001965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001965"/>
                </a:solidFill>
                <a:latin typeface="Microsoft YaHei"/>
                <a:ea typeface="Microsoft YaHei"/>
              </a:rPr>
              <a:t>借今踢后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81050" y="3467100"/>
            <a:ext cx="4838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gdsfactory / KLayout / SAX —— </a:t>
            </a: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暂借，路线图上逐步替换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533400" y="4286250"/>
            <a:ext cx="53340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81050" y="4495800"/>
            <a:ext cx="4838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01965"/>
                </a:solidFill>
                <a:latin typeface="Microsoft YaHei"/>
                <a:ea typeface="Microsoft YaHei"/>
              </a:rPr>
              <a:t>C </a:t>
            </a:r>
            <a:r>
              <a:rPr lang="zh-CN" sz="1950" b="1">
                <a:solidFill>
                  <a:srgbClr val="001965"/>
                </a:solidFill>
                <a:latin typeface="Microsoft YaHei"/>
                <a:ea typeface="Microsoft YaHei"/>
              </a:rPr>
              <a:t>级</a:t>
            </a:r>
            <a:r>
              <a:rPr lang="en-US" sz="1950" b="1">
                <a:solidFill>
                  <a:srgbClr val="001965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001965"/>
                </a:solidFill>
                <a:latin typeface="Microsoft YaHei"/>
                <a:ea typeface="Microsoft YaHei"/>
              </a:rPr>
              <a:t>第一天自主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81050" y="4876800"/>
            <a:ext cx="48387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Tidy3D </a:t>
            </a: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仅外部</a:t>
            </a: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 ORACLE / Meep GPL </a:t>
            </a: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隔离（</a:t>
            </a: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subprocess </a:t>
            </a: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只回标量）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33400" y="6486525"/>
            <a:ext cx="2943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LDA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技术白皮书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v0.9.40 ·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主权依赖纪律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496675" y="64865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47" name="" descr="&lt;Slide style={{ width: '1280px', height: '720px', background: '#062032', position: 'relative', overflow: 'hidden' }}&gt;&#10;  &lt;Text style={{ position: 'absolute', left: 56, top: 200, fontSize: 300, fontWeight: 'bold', color: '#FFFFFF', opacity: 0.16, lineHeight: 1 }}&gt;04&lt;/Text&gt;&#10;  &lt;Box style={{ position: 'absolute', right: 80, top: 0, bottom: 0, width: 640, justifyContent: 'center', alignItems: 'flex-start' }}&gt;&#10;    &lt;Box style={{ width: 90, height: 4, background: '#08A6F6', marginBottom: 28 }} /&gt;&#10;    &lt;Text style={{ fontSize: 48, fontWeight: 'bold', color: '#FFFFFF' }}&gt;市场 · 商业 · 团队&lt;/Text&gt;&#10;    &lt;Text style={{ fontSize: 22, color: '#99BDED', marginTop: 18, lineHeight: 1.5 }}&gt;Market · Business · Team —— 机会与路径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33400" y="190500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16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334000" y="2724150"/>
            <a:ext cx="85725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334000" y="3028950"/>
            <a:ext cx="36957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市场</a:t>
            </a: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商业</a:t>
            </a: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团队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334000" y="3752850"/>
            <a:ext cx="406717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99BDED"/>
                </a:solidFill>
                <a:latin typeface="Microsoft YaHei"/>
                <a:ea typeface="Microsoft YaHei"/>
              </a:rPr>
              <a:t>Market · Business · Team —— </a:t>
            </a:r>
            <a:r>
              <a:rPr lang="zh-CN" sz="1650">
                <a:solidFill>
                  <a:srgbClr val="99BDED"/>
                </a:solidFill>
                <a:latin typeface="Microsoft YaHei"/>
                <a:ea typeface="Microsoft YaHei"/>
              </a:rPr>
              <a:t>机会与路径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53" name="" descr="&lt;Slide style={{ width: '1280px', height: '720px', background: '#FFFFFF', padding: '44px 56px 40px 56px', position: 'relative' }}&gt;&#10;  {/* B 标题块 */}&#10;  &lt;Box style={{ paddingBottom: 12, borderBottom: '1px solid #000000' }}&gt;&#10;    &lt;Text style={{ fontSize: 32, fontWeight: 'bold', color: '#061F32' }}&gt;市场拐点已至：光子 EDA 与 CPO 同步爆发，开源 + 云交付正重写获客规则&lt;/Text&gt;&#10;  &lt;/Box&gt;&#10;&#10;  {/* C 内容区：左 Chart + 右洞察 */}&#10;  &lt;Box style={{ marginTop: 14, flexDirection: 'row', gap: 40, height: 510 }}&gt;&#10;    {/* 左：增长柱图 */}&#10;    &lt;Box style={{ width: '55%', background: '#F5F8FB', borderRadius: 8, padding: '16px 18px' }}&gt;&#10;      &lt;Chart&#10;        chartType='barChart'&#10;        title='光子 EDA 与 CPO 模块市场规模（十亿美元）'&#10;        style={{ height: 460 }}&#10;        showLegend={true}&#10;        showDataLabels={true}&#10;        titleColor='#061F32'&#10;        legendColor='#44546A'&#10;        axisColor='#808080'&#10;        dataLabelColor='#1f2a37'&#10;        colors={['#001965', '#08A6F6']}&#10;        data={[&#10;          ['年份', '光子 EDA', 'CPO 模块'],&#10;          ['2025', 18, 5.6],&#10;          ['2030', 34, 80],&#10;          ['2032', 48, 326.8],&#10;        ]}&#10;      /&gt;&#10;    &lt;/Box&gt;&#10;&#10;    {/* 右：洞察 */}&#10;    &lt;Box style={{ width: '45%', justifyContent: 'center', gap: 14 }}&gt;&#10;      &lt;Text style={{ fontSize: 21, color: '#1f2a37', lineHeight: 1.5 }}&gt;① 光子 EDA 软件 2025 约 &lt;span style={{ fontWeight: 'bold', color: '#001965' }}&gt;18 亿美元&lt;/span&gt;，CAGR 13.5%，量子应用子段 22.4% 最快。&lt;/Text&gt;&#10;      &lt;Text style={{ fontSize: 21, color: '#1f2a37', lineHeight: 1.5 }}&gt;② CPO 模块 2025 年 5.6 亿 → 2032 年 &lt;span style={{ fontWeight: 'bold', color: '#001965' }}&gt;326.8 亿美元&lt;/span&gt;（CAGR 76.5%）。&lt;/Text&gt;&#10;      &lt;Text style={{ fontSize: 21, color: '#1f2a37', lineHeight: 1.5 }}&gt;③ 云交付把永久许可 15–50 万美元 → 2500 美元/座/月，用户 2022–2025 &lt;span style={{ fontWeight: 'bold', color: '#001965' }}&gt;+42%&lt;/span&gt;；开源（GDSFactory/KLayout）已成商业厂商结构性威胁。&lt;/Text&gt;&#10;      &lt;Box style={{ width: 100, height: 3, background: '#08A6F6', margin: '8px 0' }} /&gt;&#10;      &lt;Text style={{ fontSize: 22, fontWeight: 'bold', color: '#061F32', lineHeight: 1.4 }}&gt;LDA 站在算力需求 / 开源替代 / 云交付三条曲线的交叉点。&lt;/Text&gt;&#10;    &lt;/Box&gt;&#10;  &lt;/Box&gt;&#10;&#10;  {/* D 页脚 */}&#10;  &lt;Text style={{ position: 'absolute', left: 56, bottom: 22, fontSize: 14, color: '#808080' }}&gt;Source：Dataintelo / PMarketResearch / 中研普华 2026&lt;/Text&gt;&#10;  &lt;Text style={{ position: 'absolute', right: 56, bottom: 22, fontSize: 14, color: '#808080' }}&gt;14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533400" y="419100"/>
            <a:ext cx="11125200" cy="504825"/>
          </a:xfrm>
          <a:custGeom>
            <a:pathLst>
              <a:path w="1168" h="53">
                <a:moveTo>
                  <a:pt x="0" y="52"/>
                </a:moveTo>
                <a:lnTo>
                  <a:pt x="1168" y="52"/>
                </a:lnTo>
                <a:lnTo>
                  <a:pt x="1168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市场拐点已至：光子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EDA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与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CPO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同步爆发，开源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+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云交付正重写获客规则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33400" y="1047750"/>
            <a:ext cx="5905500" cy="4857750"/>
          </a:xfrm>
          <a:prstGeom prst="roundRect">
            <a:avLst>
              <a:gd name="adj" fmla="val 1569"/>
            </a:avLst>
          </a:prstGeom>
          <a:solidFill>
            <a:srgbClr val="F5F8FB"/>
          </a:solidFill>
          <a:ln/>
        </p:spPr>
        <p:txBody>
          <a:bodyPr/>
          <a:p/>
        </p:txBody>
      </p:sp>
      <p:graphicFrame>
        <p:nvGraphicFramePr>
          <p:cNvPr id="58" name="58"/>
          <p:cNvGraphicFramePr/>
          <p:nvPr/>
        </p:nvGraphicFramePr>
        <p:xfrm rot="0" flipH="0" flipV="0">
          <a:off x="704850" y="1200150"/>
          <a:ext cx="5562600" cy="4381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819900" y="1504950"/>
            <a:ext cx="4838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①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光子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EDA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软件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2025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约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001965"/>
                </a:solidFill>
                <a:latin typeface="Microsoft YaHei"/>
                <a:ea typeface="Microsoft YaHei"/>
              </a:rPr>
              <a:t>18 </a:t>
            </a:r>
            <a:r>
              <a:rPr lang="zh-CN" sz="1575" b="1">
                <a:solidFill>
                  <a:srgbClr val="001965"/>
                </a:solidFill>
                <a:latin typeface="Microsoft YaHei"/>
                <a:ea typeface="Microsoft YaHei"/>
              </a:rPr>
              <a:t>亿美元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，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CAGR 13.5%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，量子应用子段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22.4%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最快。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19900" y="2362200"/>
            <a:ext cx="4838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② CPO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模块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2025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年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5.6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亿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→ 2032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年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001965"/>
                </a:solidFill>
                <a:latin typeface="Microsoft YaHei"/>
                <a:ea typeface="Microsoft YaHei"/>
              </a:rPr>
              <a:t>326.8 </a:t>
            </a:r>
            <a:r>
              <a:rPr lang="zh-CN" sz="1575" b="1">
                <a:solidFill>
                  <a:srgbClr val="001965"/>
                </a:solidFill>
                <a:latin typeface="Microsoft YaHei"/>
                <a:ea typeface="Microsoft YaHei"/>
              </a:rPr>
              <a:t>亿美元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（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CAGR 76.5%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19900" y="3219450"/>
            <a:ext cx="48387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③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云交付把永久许可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15–50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万美元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→ 2500 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美元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/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座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/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月，用户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 2022–2025 </a:t>
            </a:r>
            <a:r>
              <a:rPr lang="en-US" sz="1575" b="1">
                <a:solidFill>
                  <a:srgbClr val="001965"/>
                </a:solidFill>
                <a:latin typeface="Microsoft YaHei"/>
                <a:ea typeface="Microsoft YaHei"/>
              </a:rPr>
              <a:t>+42%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；开源（</a:t>
            </a:r>
            <a:r>
              <a:rPr lang="en-US" sz="1575">
                <a:solidFill>
                  <a:srgbClr val="1F2A37"/>
                </a:solidFill>
                <a:latin typeface="Microsoft YaHei"/>
                <a:ea typeface="Microsoft YaHei"/>
              </a:rPr>
              <a:t>GDSFactory/KLayout</a:t>
            </a:r>
            <a:r>
              <a:rPr lang="zh-CN" sz="1575">
                <a:solidFill>
                  <a:srgbClr val="1F2A37"/>
                </a:solidFill>
                <a:latin typeface="Microsoft YaHei"/>
                <a:ea typeface="Microsoft YaHei"/>
              </a:rPr>
              <a:t>）已成商业厂商结构性威胁。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819900" y="4514850"/>
            <a:ext cx="952500" cy="28575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19900" y="4752975"/>
            <a:ext cx="48387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650" b="1">
                <a:solidFill>
                  <a:srgbClr val="061F32"/>
                </a:solidFill>
                <a:latin typeface="Microsoft YaHei"/>
                <a:ea typeface="Microsoft YaHei"/>
              </a:rPr>
              <a:t>LDA </a:t>
            </a:r>
            <a:r>
              <a:rPr lang="zh-CN" sz="1650" b="1">
                <a:solidFill>
                  <a:srgbClr val="061F32"/>
                </a:solidFill>
                <a:latin typeface="Microsoft YaHei"/>
                <a:ea typeface="Microsoft YaHei"/>
              </a:rPr>
              <a:t>站在算力需求</a:t>
            </a:r>
            <a:r>
              <a:rPr lang="en-US" sz="1650" b="1">
                <a:solidFill>
                  <a:srgbClr val="061F32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061F32"/>
                </a:solidFill>
                <a:latin typeface="Microsoft YaHei"/>
                <a:ea typeface="Microsoft YaHei"/>
              </a:rPr>
              <a:t>开源替代</a:t>
            </a:r>
            <a:r>
              <a:rPr lang="en-US" sz="1650" b="1">
                <a:solidFill>
                  <a:srgbClr val="061F32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061F32"/>
                </a:solidFill>
                <a:latin typeface="Microsoft YaHei"/>
                <a:ea typeface="Microsoft YaHei"/>
              </a:rPr>
              <a:t>云交付三条曲线的交叉点。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33400" y="6486525"/>
            <a:ext cx="3495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Dataintelo / PMarketResearch /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中研普华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2026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496675" y="64865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6" name="" descr="&lt;Slide style={{ width: '1280px', height: '720px', background: '#FFFFFF', padding: '44px 56px 40px 56px', position: 'relative' }}&gt;&#10;  {/* B 标题块 */}&#10;  &lt;Box style={{ paddingBottom: 12, borderBottom: '1px solid #000000' }}&gt;&#10;    &lt;Text style={{ fontSize: 31, fontWeight: 'bold', color: '#061F32' }}&gt;商业模式：开源核心建生态护城河，企业版与 PDK 服务变现；路线图直指真实流片&lt;/Text&gt;&#10;  &lt;/Box&gt;&#10;&#10;  {/* C 内容区：左商业模式 3 卡 + 右时间轴 */}&#10;  &lt;Box style={{ marginTop: 14, flexDirection: 'row', gap: 40, height: 500 }}&gt;&#10;    {/* 左：商业模式 3 卡 */}&#10;    &lt;Box style={{ width: '46%', flexDirection: 'column', gap: 16, justifyContent: 'center' }}&gt;&#10;      &lt;Box style={{ background: '#061F32', borderRadius: 6, padding: '18px 22px' }}&gt;&#10;        &lt;Text style={{ fontSize: 22, fontWeight: 'bold', color: '#08A6F6' }}&gt;① 开源核心（获客引擎）&lt;/Text&gt;&#10;        &lt;Text style={{ fontSize: 17, color: '#99BDED', marginTop: 8, lineHeight: 1.4 }}&gt;设计链 Apache-2.0 开源，建生态、拿信任、降获客成本。&lt;/Text&gt;&#10;      &lt;/Box&gt;&#10;      &lt;Box style={{ background: '#FFFFFF', border: '1px solid #061F32', borderRadius: 6, padding: '18px 22px' }}&gt;&#10;        &lt;Text style={{ fontSize: 22, fontWeight: 'bold', color: '#001965' }}&gt;② 企业版 + 服务（变现）&lt;/Text&gt;&#10;        &lt;Text style={{ fontSize: 17, color: '#44546A', marginTop: 8, lineHeight: 1.4 }}&gt;私有部署 / SLA / 合规 + PDK 与工艺服务订阅。&lt;/Text&gt;&#10;      &lt;/Box&gt;&#10;      &lt;Box style={{ background: '#FFFFFF', border: '1px solid #061F32', borderRadius: 6, padding: '18px 22px' }}&gt;&#10;        &lt;Text style={{ fontSize: 22, fontWeight: 'bold', color: '#001965' }}&gt;③ 生态市场（网络效应）&lt;/Text&gt;&#10;        &lt;Text style={{ fontSize: 17, color: '#44546A', marginTop: 8, lineHeight: 1.4 }}&gt;货架 / 插件供给，护城河 = 标准 + 生态 + PDK。&lt;/Text&gt;&#10;      &lt;/Box&gt;&#10;    &lt;/Box&gt;&#10;&#10;    {/* 右：时间轴 */}&#10;    &lt;Box style={{ width: '54%', position: 'relative' }}&gt;&#10;      &lt;svg style={{ position: 'absolute', left: 40, top: 60, width: 560, height: 40 }} viewBox='0 0 560 40'&gt;&#10;        &lt;line x1='40' y1='20' x2='520' y2='20' stroke='#061F32' strokeWidth='2' /&gt;&#10;        &lt;circle cx='40' cy='20' r='14' fill='#061F32' /&gt;&#10;        &lt;circle cx='280' cy='20' r='14' fill='#08A6F6' /&gt;&#10;        &lt;circle cx='520' cy='20' r='14' fill='#99BDED' /&gt;&#10;      &lt;/svg&gt;&#10;      &lt;Box style={{ position: 'absolute', left: 0, top: 110, width: 170, height: 320 }}&gt;&#10;        &lt;Text style={{ fontSize: 24, fontWeight: 'bold', color: '#061F32' }}&gt;A 期 · 已发布&lt;/Text&gt;&#10;        &lt;Text style={{ fontSize: 18, color: '#44546A', marginTop: 10, lineHeight: 1.45 }}&gt;v0.9.40 已上线&lt;br/&gt;50 验证锚 / 97 CI&lt;br/&gt;开源可申请试用&lt;/Text&gt;&#10;      &lt;/Box&gt;&#10;      &lt;Box style={{ position: 'absolute', left: 240, top: 110, width: 170, height: 320 }}&gt;&#10;        &lt;Text style={{ fontSize: 24, fontWeight: 'bold', color: '#001965' }}&gt;B 期 · 生态播种&lt;/Text&gt;&#10;        &lt;Text style={{ fontSize: 18, color: '#44546A', marginTop: 10, lineHeight: 1.45 }}&gt;真实 PDK 接入&lt;br/&gt;头部客户 Pilot&lt;br/&gt;社区与货架扩容&lt;/Text&gt;&#10;      &lt;/Box&gt;&#10;      &lt;Box style={{ position: 'absolute', left: 480, top: 110, width: 170, height: 320 }}&gt;&#10;        &lt;Text style={{ fontSize: 24, fontWeight: 'bold', color: '#001965' }}&gt;C 期 · 真实流片&lt;/Text&gt;&#10;        &lt;Text style={{ fontSize: 18, color: '#44546A', marginTop: 10, lineHeight: 1.45 }}&gt;设计→流片闭环&lt;br/&gt;商业客户规模复制&lt;br/&gt;护城河成型&lt;/Text&gt;&#10;      &lt;/Box&gt;&#10;    &lt;/Box&gt;&#10;  &lt;/Box&gt;&#10;&#10;  {/* D 页脚 */}&#10;  &lt;Text style={{ position: 'absolute', left: 56, bottom: 22, fontSize: 14, color: '#808080' }}&gt;Source：LDA 技术白皮书 v0.9.40 · 商业模式与路线图&lt;/Text&gt;&#10;  &lt;Text style={{ position: 'absolute', right: 56, bottom: 22, fontSize: 14, color: '#808080' }}&gt;15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533400" y="419100"/>
            <a:ext cx="11125200" cy="495300"/>
          </a:xfrm>
          <a:custGeom>
            <a:pathLst>
              <a:path w="1168" h="52">
                <a:moveTo>
                  <a:pt x="0" y="51"/>
                </a:moveTo>
                <a:lnTo>
                  <a:pt x="1168" y="51"/>
                </a:lnTo>
                <a:lnTo>
                  <a:pt x="1168" y="52"/>
                </a:lnTo>
                <a:lnTo>
                  <a:pt x="0" y="5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061F32"/>
                </a:solidFill>
                <a:latin typeface="Microsoft YaHei"/>
                <a:ea typeface="Microsoft YaHei"/>
              </a:rPr>
              <a:t>商业模式：开源核心建生态护城河，企业版与</a:t>
            </a:r>
            <a:r>
              <a:rPr lang="en-US" sz="2325" b="1">
                <a:solidFill>
                  <a:srgbClr val="061F32"/>
                </a:solidFill>
                <a:latin typeface="Microsoft YaHei"/>
                <a:ea typeface="Microsoft YaHei"/>
              </a:rPr>
              <a:t> PDK </a:t>
            </a:r>
            <a:r>
              <a:rPr lang="zh-CN" sz="2325" b="1">
                <a:solidFill>
                  <a:srgbClr val="061F32"/>
                </a:solidFill>
                <a:latin typeface="Microsoft YaHei"/>
                <a:ea typeface="Microsoft YaHei"/>
              </a:rPr>
              <a:t>服务变现；路线图直指真实流片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533400" y="1838325"/>
            <a:ext cx="4943475" cy="952500"/>
          </a:xfrm>
          <a:prstGeom prst="roundRect">
            <a:avLst>
              <a:gd name="adj" fmla="val 60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42950" y="2009775"/>
            <a:ext cx="4524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8A6F6"/>
                </a:solidFill>
                <a:latin typeface="Microsoft YaHei"/>
                <a:ea typeface="Microsoft YaHei"/>
              </a:rPr>
              <a:t>① </a:t>
            </a:r>
            <a:r>
              <a:rPr lang="zh-CN" sz="1650" b="1">
                <a:solidFill>
                  <a:srgbClr val="08A6F6"/>
                </a:solidFill>
                <a:latin typeface="Microsoft YaHei"/>
                <a:ea typeface="Microsoft YaHei"/>
              </a:rPr>
              <a:t>开源核心（获客引擎）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42950" y="2343150"/>
            <a:ext cx="45243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99BDED"/>
                </a:solidFill>
                <a:latin typeface="Microsoft YaHei"/>
                <a:ea typeface="Microsoft YaHei"/>
              </a:rPr>
              <a:t>设计链</a:t>
            </a:r>
            <a:r>
              <a:rPr lang="en-US" sz="1275">
                <a:solidFill>
                  <a:srgbClr val="99BDED"/>
                </a:solidFill>
                <a:latin typeface="Microsoft YaHei"/>
                <a:ea typeface="Microsoft YaHei"/>
              </a:rPr>
              <a:t> Apache-2.0 </a:t>
            </a:r>
            <a:r>
              <a:rPr lang="zh-CN" sz="1275">
                <a:solidFill>
                  <a:srgbClr val="99BDED"/>
                </a:solidFill>
                <a:latin typeface="Microsoft YaHei"/>
                <a:ea typeface="Microsoft YaHei"/>
              </a:rPr>
              <a:t>开源，建生态、拿信任、降获客成本。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33400" y="2943225"/>
            <a:ext cx="4943475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42950" y="3114675"/>
            <a:ext cx="4524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>② </a:t>
            </a: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企业版</a:t>
            </a: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> + </a:t>
            </a: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服务（变现）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42950" y="3448050"/>
            <a:ext cx="45243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4546A"/>
                </a:solidFill>
                <a:latin typeface="Microsoft YaHei"/>
                <a:ea typeface="Microsoft YaHei"/>
              </a:rPr>
              <a:t>私有部署</a:t>
            </a:r>
            <a:r>
              <a:rPr lang="en-US" sz="1275">
                <a:solidFill>
                  <a:srgbClr val="44546A"/>
                </a:solidFill>
                <a:latin typeface="Microsoft YaHei"/>
                <a:ea typeface="Microsoft YaHei"/>
              </a:rPr>
              <a:t> / SLA / </a:t>
            </a:r>
            <a:r>
              <a:rPr lang="zh-CN" sz="1275">
                <a:solidFill>
                  <a:srgbClr val="44546A"/>
                </a:solidFill>
                <a:latin typeface="Microsoft YaHei"/>
                <a:ea typeface="Microsoft YaHei"/>
              </a:rPr>
              <a:t>合规</a:t>
            </a:r>
            <a:r>
              <a:rPr lang="en-US" sz="1275">
                <a:solidFill>
                  <a:srgbClr val="44546A"/>
                </a:solidFill>
                <a:latin typeface="Microsoft YaHei"/>
                <a:ea typeface="Microsoft YaHei"/>
              </a:rPr>
              <a:t> + PDK </a:t>
            </a:r>
            <a:r>
              <a:rPr lang="zh-CN" sz="1275">
                <a:solidFill>
                  <a:srgbClr val="44546A"/>
                </a:solidFill>
                <a:latin typeface="Microsoft YaHei"/>
                <a:ea typeface="Microsoft YaHei"/>
              </a:rPr>
              <a:t>与工艺服务订阅。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33400" y="4048125"/>
            <a:ext cx="4943475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42950" y="4219575"/>
            <a:ext cx="4524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>③ </a:t>
            </a: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生态市场（网络效应）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42950" y="4552950"/>
            <a:ext cx="45243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4546A"/>
                </a:solidFill>
                <a:latin typeface="Microsoft YaHei"/>
                <a:ea typeface="Microsoft YaHei"/>
              </a:rPr>
              <a:t>货架</a:t>
            </a:r>
            <a:r>
              <a:rPr lang="en-US" sz="1275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44546A"/>
                </a:solidFill>
                <a:latin typeface="Microsoft YaHei"/>
                <a:ea typeface="Microsoft YaHei"/>
              </a:rPr>
              <a:t>插件供给，护城河</a:t>
            </a:r>
            <a:r>
              <a:rPr lang="en-US" sz="1275">
                <a:solidFill>
                  <a:srgbClr val="44546A"/>
                </a:solidFill>
                <a:latin typeface="Microsoft YaHei"/>
                <a:ea typeface="Microsoft YaHei"/>
              </a:rPr>
              <a:t> = </a:t>
            </a:r>
            <a:r>
              <a:rPr lang="zh-CN" sz="1275">
                <a:solidFill>
                  <a:srgbClr val="44546A"/>
                </a:solidFill>
                <a:latin typeface="Microsoft YaHei"/>
                <a:ea typeface="Microsoft YaHei"/>
              </a:rPr>
              <a:t>标准</a:t>
            </a:r>
            <a:r>
              <a:rPr lang="en-US" sz="1275">
                <a:solidFill>
                  <a:srgbClr val="44546A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44546A"/>
                </a:solidFill>
                <a:latin typeface="Microsoft YaHei"/>
                <a:ea typeface="Microsoft YaHei"/>
              </a:rPr>
              <a:t>生态</a:t>
            </a:r>
            <a:r>
              <a:rPr lang="en-US" sz="1275">
                <a:solidFill>
                  <a:srgbClr val="44546A"/>
                </a:solidFill>
                <a:latin typeface="Microsoft YaHei"/>
                <a:ea typeface="Microsoft YaHei"/>
              </a:rPr>
              <a:t> + PDK</a:t>
            </a:r>
            <a:r>
              <a:rPr lang="zh-CN" sz="1275">
                <a:solidFill>
                  <a:srgbClr val="44546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pic>
        <p:nvPicPr>
          <p:cNvPr id="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38875" y="1609725"/>
            <a:ext cx="5334000" cy="381000"/>
          </a:xfrm>
          <a:prstGeom prst="rect">
            <a:avLst/>
          </a:prstGeom>
          <a:ln/>
        </p:spPr>
      </p:pic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857875" y="2085975"/>
            <a:ext cx="1619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A </a:t>
            </a: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期</a:t>
            </a: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已发布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857875" y="2457450"/>
            <a:ext cx="1619250" cy="8953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v0.9.40 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已上线</a:t>
            </a:r>
            <a:endParaRPr/>
          </a:p>
          <a:p>
            <a:pPr>
              <a:lnSpc>
                <a:spcPct val="145000"/>
              </a:lnSpc>
            </a:pP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50 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验证锚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 / 97 CI</a:t>
            </a:r>
            <a:endParaRPr/>
          </a:p>
          <a:p>
            <a:pPr>
              <a:lnSpc>
                <a:spcPct val="145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开源可申请试用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143875" y="2085975"/>
            <a:ext cx="1619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01965"/>
                </a:solidFill>
                <a:latin typeface="Microsoft YaHei"/>
                <a:ea typeface="Microsoft YaHei"/>
              </a:rPr>
              <a:t>B </a:t>
            </a:r>
            <a:r>
              <a:rPr lang="zh-CN" sz="1800" b="1">
                <a:solidFill>
                  <a:srgbClr val="001965"/>
                </a:solidFill>
                <a:latin typeface="Microsoft YaHei"/>
                <a:ea typeface="Microsoft YaHei"/>
              </a:rPr>
              <a:t>期</a:t>
            </a:r>
            <a:r>
              <a:rPr lang="en-US" sz="1800" b="1">
                <a:solidFill>
                  <a:srgbClr val="001965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001965"/>
                </a:solidFill>
                <a:latin typeface="Microsoft YaHei"/>
                <a:ea typeface="Microsoft YaHei"/>
              </a:rPr>
              <a:t>生态播种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143875" y="2457450"/>
            <a:ext cx="1619250" cy="8953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真实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 PDK 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接入</a:t>
            </a:r>
            <a:endParaRPr/>
          </a:p>
          <a:p>
            <a:pPr>
              <a:lnSpc>
                <a:spcPct val="145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头部客户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 Pilot</a:t>
            </a:r>
            <a:endParaRPr/>
          </a:p>
          <a:p>
            <a:pPr>
              <a:lnSpc>
                <a:spcPct val="145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社区与货架扩容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0429875" y="2085975"/>
            <a:ext cx="1619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01965"/>
                </a:solidFill>
                <a:latin typeface="Microsoft YaHei"/>
                <a:ea typeface="Microsoft YaHei"/>
              </a:rPr>
              <a:t>C </a:t>
            </a:r>
            <a:r>
              <a:rPr lang="zh-CN" sz="1800" b="1">
                <a:solidFill>
                  <a:srgbClr val="001965"/>
                </a:solidFill>
                <a:latin typeface="Microsoft YaHei"/>
                <a:ea typeface="Microsoft YaHei"/>
              </a:rPr>
              <a:t>期</a:t>
            </a:r>
            <a:r>
              <a:rPr lang="en-US" sz="1800" b="1">
                <a:solidFill>
                  <a:srgbClr val="001965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001965"/>
                </a:solidFill>
                <a:latin typeface="Microsoft YaHei"/>
                <a:ea typeface="Microsoft YaHei"/>
              </a:rPr>
              <a:t>真实流片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0429875" y="2457450"/>
            <a:ext cx="1619250" cy="8953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设计→流片闭环</a:t>
            </a:r>
            <a:endParaRPr/>
          </a:p>
          <a:p>
            <a:pPr>
              <a:lnSpc>
                <a:spcPct val="145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商业客户规模复制</a:t>
            </a:r>
            <a:endParaRPr/>
          </a:p>
          <a:p>
            <a:pPr>
              <a:lnSpc>
                <a:spcPct val="145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护城河成型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33400" y="6486525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LDA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技术白皮书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v0.9.40 ·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商业模式与路线图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496675" y="64865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8" name="" descr="&lt;Slide style={{ width: '1280px', height: '720px', background: '#061F32', position: 'relative', overflow: 'hidden' }}&gt;&#10;  {/* 右侧光子电路几何装饰 */}&#10;  &lt;svg style={{ position: 'absolute', right: 0, top: 0, opacity: 0.5 }} width={360} height={720} viewBox='0 0 360 720'&gt;&#10;    &lt;path d='M40 90 Q 180 30 320 90' stroke='#08A6F6' strokeWidth='2' fill='none' opacity='0.5' /&gt;&#10;    &lt;path d='M40 170 Q 180 110 320 170' stroke='#08A6F6' strokeWidth='2' fill='none' opacity='0.35' /&gt;&#10;    &lt;path d='M40 560 Q 180 500 320 560' stroke='#99BDED' strokeWidth='2' fill='none' opacity='0.3' /&gt;&#10;    &lt;circle cx='320' cy='90' r='6' fill='#08A6F6' /&gt;&#10;    &lt;circle cx='320' cy='170' r='6' fill='#08A6F6' /&gt;&#10;    &lt;circle cx='320' cy='560' r='5' fill='#99BDED' /&gt;&#10;  &lt;/svg&gt;&#10;&#10;  {/* 左：金句 */}&#10;  &lt;Box style={{ position: 'absolute', left: 80, top: 150, width: 620 }}&gt;&#10;    &lt;Text style={{ fontSize: 56, fontWeight: 'bold', color: '#FFFFFF', lineHeight: 1.25 }}&gt;&#10;      与 LDA 一起，&lt;br/&gt;定义光子与量子芯片&lt;br/&gt;设计的下一代基础设施&#10;    &lt;/Text&gt;&#10;    &lt;Box style={{ width: 110, height: 4, background: '#08A6F6', margin: '30px 0 22px' }} /&gt;&#10;    &lt;Text style={{ fontSize: 24, color: '#99BDED' }}&gt;试用 / 对接 / 投资，欢迎联系&lt;/Text&gt;&#10;  &lt;/Box&gt;&#10;&#10;  {/* 右：联系卡 */}&#10;  &lt;Box style={{ position: 'absolute', right: 80, top: 170, width: 460, background: '#0E2A45', borderRadius: 10, padding: '32px 36px' }}&gt;&#10;    &lt;Text style={{ fontSize: 26, fontWeight: 'bold', color: '#08A6F6', marginBottom: 20 }}&gt;联系方式&lt;/Text&gt;&#10;    &lt;Box style={{ flexDirection: 'row', gap: 14, marginBottom: 14 }}&gt;&#10;      &lt;Text style={{ fontSize: 19, color: '#99BDED', width: 90 }}&gt;版权所有&lt;/Text&gt;&#10;      &lt;Text style={{ fontSize: 19, color: '#FFFFFF' }}&gt;上海杜特企业管理咨询有限公司&lt;/Text&gt;&#10;    &lt;/Box&gt;&#10;    &lt;Box style={{ flexDirection: 'row', gap: 14, marginBottom: 14 }}&gt;&#10;      &lt;Text style={{ fontSize: 19, color: '#99BDED', width: 90 }}&gt;联系人&lt;/Text&gt;&#10;      &lt;Text style={{ fontSize: 19, color: '#FFFFFF' }}&gt;杜玉河&lt;/Text&gt;&#10;    &lt;/Box&gt;&#10;    &lt;Box style={{ flexDirection: 'row', gap: 14, marginBottom: 14 }}&gt;&#10;      &lt;Text style={{ fontSize: 19, color: '#99BDED', width: 90 }}&gt;电话&lt;/Text&gt;&#10;      &lt;Text style={{ fontSize: 19, color: '#FFFFFF' }}&gt;13311602075&lt;/Text&gt;&#10;    &lt;/Box&gt;&#10;    &lt;Box style={{ flexDirection: 'row', gap: 14, marginBottom: 14 }}&gt;&#10;      &lt;Text style={{ fontSize: 19, color: '#99BDED', width: 90 }}&gt;微信&lt;/Text&gt;&#10;      &lt;Text style={{ fontSize: 19, color: '#FFFFFF' }}&gt;gongyhlw&lt;/Text&gt;&#10;    &lt;/Box&gt;&#10;    &lt;Box style={{ flexDirection: 'row', gap: 14, marginBottom: 14 }}&gt;&#10;      &lt;Text style={{ fontSize: 19, color: '#99BDED', width: 90 }}&gt;邮箱&lt;/Text&gt;&#10;      &lt;Text style={{ fontSize: 19, color: '#FFFFFF' }}&gt;duyuhe@shdute.cn&lt;/Text&gt;&#10;    &lt;/Box&gt;&#10;    &lt;Box style={{ flexDirection: 'row', gap: 14 }}&gt;&#10;      &lt;Text style={{ fontSize: 17, color: '#99BDED', width: 90 }}&gt;仓库&lt;/Text&gt;&#10;      &lt;Text style={{ fontSize: 17, color: '#FFFFFF' }}&gt;gitee.com/i4hub/LDA&lt;br/&gt;github.com/iduyuhe/LDA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pic>
        <p:nvPicPr>
          <p:cNvPr id="90" name="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0"/>
            <a:ext cx="3429000" cy="6858000"/>
          </a:xfrm>
          <a:prstGeom prst="rect">
            <a:avLst/>
          </a:prstGeom>
          <a:ln/>
        </p:spPr>
      </p:pic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62000" y="1428750"/>
            <a:ext cx="5905500" cy="24003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 LDA 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一起，</a:t>
            </a:r>
            <a:endParaRPr/>
          </a:p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定义光子与量子芯片</a:t>
            </a:r>
            <a:endParaRPr/>
          </a:p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设计的下一代基础设施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762000" y="4114800"/>
            <a:ext cx="104775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62000" y="4362450"/>
            <a:ext cx="590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99BDED"/>
                </a:solidFill>
                <a:latin typeface="Microsoft YaHei"/>
                <a:ea typeface="Microsoft YaHei"/>
              </a:rPr>
              <a:t>试用</a:t>
            </a:r>
            <a:r>
              <a:rPr lang="en-US" sz="1800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99BDED"/>
                </a:solidFill>
                <a:latin typeface="Microsoft YaHei"/>
                <a:ea typeface="Microsoft YaHei"/>
              </a:rPr>
              <a:t>对接</a:t>
            </a:r>
            <a:r>
              <a:rPr lang="en-US" sz="1800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99BDED"/>
                </a:solidFill>
                <a:latin typeface="Microsoft YaHei"/>
                <a:ea typeface="Microsoft YaHei"/>
              </a:rPr>
              <a:t>投资，欢迎联系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048500" y="1619250"/>
            <a:ext cx="4381500" cy="3257550"/>
          </a:xfrm>
          <a:prstGeom prst="roundRect">
            <a:avLst>
              <a:gd name="adj" fmla="val 2924"/>
            </a:avLst>
          </a:prstGeom>
          <a:solidFill>
            <a:srgbClr val="0E2A45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391400" y="1924050"/>
            <a:ext cx="3695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8A6F6"/>
                </a:solidFill>
                <a:latin typeface="Microsoft YaHei"/>
                <a:ea typeface="Microsoft YaHei"/>
              </a:rPr>
              <a:t>联系方式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391400" y="2419350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版权所有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382000" y="2419350"/>
            <a:ext cx="2533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上海杜特企业管理咨询有限公司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391400" y="2771775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联系人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382000" y="277177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杜玉河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391400" y="3124200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电话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0" y="3124200"/>
            <a:ext cx="1171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13311602075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391400" y="3476625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微信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382000" y="3476625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gongyhlw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391400" y="3829050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邮箱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382000" y="3829050"/>
            <a:ext cx="167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duyuhe@shdute.cn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391400" y="4181475"/>
            <a:ext cx="857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9BDED"/>
                </a:solidFill>
                <a:latin typeface="Microsoft YaHei"/>
                <a:ea typeface="Microsoft YaHei"/>
              </a:rPr>
              <a:t>仓库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382000" y="4181475"/>
            <a:ext cx="1971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gitee.com/i4hub/LDA</a:t>
            </a:r>
            <a:endParaRPr/>
          </a:p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github.com/iduyuhe/LDA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8" name="" descr="&lt;Slide style={{ width: '1280px', height: '720px', background: '#061F32', position: 'relative', overflow: 'hidden' }}&gt;&#10;  {/* 右侧光子电路几何装饰 */}&#10;  &lt;svg style={{ position: 'absolute', right: 0, top: 0, opacity: 0.5 }} width={360} height={720} viewBox='0 0 360 720'&gt;&#10;    &lt;path d='M40 90 Q 180 30 320 90' stroke='#08A6F6' strokeWidth='2' fill='none' opacity='0.5' /&gt;&#10;    &lt;path d='M40 170 Q 180 110 320 170' stroke='#08A6F6' strokeWidth='2' fill='none' opacity='0.35' /&gt;&#10;    &lt;path d='M40 560 Q 180 500 320 560' stroke='#99BDED' strokeWidth='2' fill='none' opacity='0.3' /&gt;&#10;    &lt;circle cx='320' cy='90' r='6' fill='#08A6F6' /&gt;&#10;    &lt;circle cx='320' cy='170' r='6' fill='#08A6F6' /&gt;&#10;    &lt;circle cx='320' cy='560' r='5' fill='#99BDED' /&gt;&#10;  &lt;/svg&gt;&#10;&#10;  {/* 左：金句 */}&#10;  &lt;Box style={{ position: 'absolute', left: 80, top: 150, width: 620 }}&gt;&#10;    &lt;Text style={{ fontSize: 56, fontWeight: 'bold', color: '#FFFFFF', lineHeight: 1.25 }}&gt;&#10;      与 LDA 一起，&lt;br/&gt;定义光子与量子芯片&lt;br/&gt;设计的下一代基础设施&#10;    &lt;/Text&gt;&#10;    &lt;Box style={{ width: 110, height: 4, background: '#08A6F6', margin: '30px 0 22px' }} /&gt;&#10;    &lt;Text style={{ fontSize: 24, color: '#99BDED' }}&gt;试用 / 对接 / 投资，欢迎联系&lt;/Text&gt;&#10;  &lt;/Box&gt;&#10;&#10;  {/* 右：联系卡 */}&#10;  &lt;Box style={{ position: 'absolute', right: 80, top: 170, width: 460, background: '#0E2A45', borderRadius: 10, padding: '32px 36px' }}&gt;&#10;    &lt;Text style={{ fontSize: 26, fontWeight: 'bold', color: '#08A6F6', marginBottom: 20 }}&gt;联系方式&lt;/Text&gt;&#10;    &lt;Box style={{ flexDirection: 'row', gap: 14, marginBottom: 14 }}&gt;&#10;      &lt;Text style={{ fontSize: 19, color: '#99BDED', width: 90 }}&gt;版权所有&lt;/Text&gt;&#10;      &lt;Text style={{ fontSize: 19, color: '#FFFFFF' }}&gt;上海杜特企业管理咨询有限公司&lt;/Text&gt;&#10;    &lt;/Box&gt;&#10;    &lt;Box style={{ flexDirection: 'row', gap: 14, marginBottom: 14 }}&gt;&#10;      &lt;Text style={{ fontSize: 19, color: '#99BDED', width: 90 }}&gt;联系人&lt;/Text&gt;&#10;      &lt;Text style={{ fontSize: 19, color: '#FFFFFF' }}&gt;杜玉河&lt;/Text&gt;&#10;    &lt;/Box&gt;&#10;    &lt;Box style={{ flexDirection: 'row', gap: 14, marginBottom: 14 }}&gt;&#10;      &lt;Text style={{ fontSize: 19, color: '#99BDED', width: 90 }}&gt;电话&lt;/Text&gt;&#10;      &lt;Text style={{ fontSize: 19, color: '#FFFFFF' }}&gt;13311602075&lt;/Text&gt;&#10;    &lt;/Box&gt;&#10;    &lt;Box style={{ flexDirection: 'row', gap: 14, marginBottom: 14 }}&gt;&#10;      &lt;Text style={{ fontSize: 19, color: '#99BDED', width: 90 }}&gt;微信&lt;/Text&gt;&#10;      &lt;Text style={{ fontSize: 19, color: '#FFFFFF' }}&gt;gongyhlw&lt;/Text&gt;&#10;    &lt;/Box&gt;&#10;    &lt;Box style={{ flexDirection: 'row', gap: 14, marginBottom: 14 }}&gt;&#10;      &lt;Text style={{ fontSize: 19, color: '#99BDED', width: 90 }}&gt;邮箱&lt;/Text&gt;&#10;      &lt;Text style={{ fontSize: 19, color: '#FFFFFF' }}&gt;duyuhe@shdute.cn&lt;/Text&gt;&#10;    &lt;/Box&gt;&#10;    &lt;Box style={{ flexDirection: 'row', gap: 14, marginBottom: 14 }}&gt;&#10;      &lt;Text style={{ fontSize: 17, color: '#99BDED', width: 90 }}&gt;国内仓库&lt;/Text&gt;&#10;      &lt;Text style={{ fontSize: 17, color: '#FFFFFF' }}&gt;Gitee · gitee.com/i4hub/LDA&lt;/Text&gt;&#10;    &lt;/Box&gt;&#10;    &lt;Box style={{ flexDirection: 'row', gap: 14 }}&gt;&#10;      &lt;Text style={{ fontSize: 17, color: '#99BDED', width: 90 }}&gt;国际仓库&lt;/Text&gt;&#10;      &lt;Text style={{ fontSize: 17, color: '#FFFFFF' }}&gt;GitHub · github.com/iduyuhe/LDA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pic>
        <p:nvPicPr>
          <p:cNvPr id="110" name="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0"/>
            <a:ext cx="3429000" cy="6858000"/>
          </a:xfrm>
          <a:prstGeom prst="rect">
            <a:avLst/>
          </a:prstGeom>
          <a:ln/>
        </p:spPr>
      </p:pic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62000" y="1428750"/>
            <a:ext cx="5905500" cy="24003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 LDA 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一起，</a:t>
            </a:r>
            <a:endParaRPr/>
          </a:p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定义光子与量子芯片</a:t>
            </a:r>
            <a:endParaRPr/>
          </a:p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设计的下一代基础设施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62000" y="4114800"/>
            <a:ext cx="104775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62000" y="4362450"/>
            <a:ext cx="590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99BDED"/>
                </a:solidFill>
                <a:latin typeface="Microsoft YaHei"/>
                <a:ea typeface="Microsoft YaHei"/>
              </a:rPr>
              <a:t>试用</a:t>
            </a:r>
            <a:r>
              <a:rPr lang="en-US" sz="1800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99BDED"/>
                </a:solidFill>
                <a:latin typeface="Microsoft YaHei"/>
                <a:ea typeface="Microsoft YaHei"/>
              </a:rPr>
              <a:t>对接</a:t>
            </a:r>
            <a:r>
              <a:rPr lang="en-US" sz="1800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99BDED"/>
                </a:solidFill>
                <a:latin typeface="Microsoft YaHei"/>
                <a:ea typeface="Microsoft YaHei"/>
              </a:rPr>
              <a:t>投资，欢迎联系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7048500" y="1619250"/>
            <a:ext cx="4381500" cy="3400425"/>
          </a:xfrm>
          <a:prstGeom prst="roundRect">
            <a:avLst>
              <a:gd name="adj" fmla="val 2801"/>
            </a:avLst>
          </a:prstGeom>
          <a:solidFill>
            <a:srgbClr val="0E2A45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391400" y="1924050"/>
            <a:ext cx="3695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8A6F6"/>
                </a:solidFill>
                <a:latin typeface="Microsoft YaHei"/>
                <a:ea typeface="Microsoft YaHei"/>
              </a:rPr>
              <a:t>联系方式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391400" y="2419350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版权所有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382000" y="2419350"/>
            <a:ext cx="2533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上海杜特企业管理咨询有限公司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391400" y="2771775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联系人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382000" y="277177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杜玉河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391400" y="3124200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电话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382000" y="3124200"/>
            <a:ext cx="1171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13311602075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391400" y="3476625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微信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382000" y="3476625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gongyhlw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391400" y="3829050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9BDED"/>
                </a:solidFill>
                <a:latin typeface="Microsoft YaHei"/>
                <a:ea typeface="Microsoft YaHei"/>
              </a:rPr>
              <a:t>邮箱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82000" y="3829050"/>
            <a:ext cx="167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duyuhe@shdute.cn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391400" y="4181475"/>
            <a:ext cx="857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9BDED"/>
                </a:solidFill>
                <a:latin typeface="Microsoft YaHei"/>
                <a:ea typeface="Microsoft YaHei"/>
              </a:rPr>
              <a:t>国内仓库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382000" y="4181475"/>
            <a:ext cx="2209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Gitee · gitee.com/i4hub/LDA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391400" y="4514850"/>
            <a:ext cx="857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9BDED"/>
                </a:solidFill>
                <a:latin typeface="Microsoft YaHei"/>
                <a:ea typeface="Microsoft YaHei"/>
              </a:rPr>
              <a:t>国际仓库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382000" y="4514850"/>
            <a:ext cx="2657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GitHub · github.com/iduyuhe/LDA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2026-09-05T14:50:58Z</dcterms:created>
  <dcterms:modified xsi:type="dcterms:W3CDTF">2026-09-05T14:50:58Z</dcterms:modified>
</cp:coreProperties>
</file>