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E8EEFB"/>
                </a:solidFill>
                <a:latin typeface="Microsoft YaHei"/>
              </a:rPr>
              <a:t>硅光张量核 / 光神经网络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AA8C0"/>
                </a:solidFill>
                <a:latin typeface="Microsoft YaHei"/>
              </a:rPr>
              <a:t>LDA-P · 用开源 Agent-native EDA 亲手设计的「光计算芯片」（MZI mesh）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F8CFF"/>
                </a:solidFill>
                <a:latin typeface="Microsoft YaHei"/>
              </a:rPr>
              <a:t>设计&amp;验证能力证明 · 对标国际公开基准（Lightmatter / MIT / 清华）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AA8C0"/>
                </a:solidFill>
                <a:latin typeface="Microsoft YaHei"/>
              </a:rPr>
              <a:t>LDA（MIT · v0.9.145）· 2026-09-30 · 非流片实测，设计期签核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4F8CFF"/>
                </a:solidFill>
                <a:latin typeface="Microsoft YaHei"/>
              </a:rPr>
              <a:t>01 · 一句话定位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515600" cy="201168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8EEFB"/>
                </a:solidFill>
                <a:latin typeface="Microsoft YaHei"/>
              </a:rPr>
              <a:t>用 LDA 从零设计一颗硅光张量核 / 光神经网络芯片（MZI mesh 干涉架构）：</a:t>
            </a:r>
          </a:p>
          <a:p>
            <a:pPr algn="l"/>
            <a:r>
              <a:rPr sz="1700" b="0">
                <a:solidFill>
                  <a:srgbClr val="E8EEFB"/>
                </a:solidFill>
                <a:latin typeface="Microsoft YaHei"/>
              </a:rPr>
              <a:t>非酉 SVD 分解（M1）→ 激活/量化/标定（M2）→ 光电协同仿真（M3）→ 规模扩张 tiling（M4），</a:t>
            </a:r>
          </a:p>
          <a:p>
            <a:pPr algn="l"/>
            <a:r>
              <a:rPr sz="1700" b="0">
                <a:solidFill>
                  <a:srgbClr val="E8EEFB"/>
                </a:solidFill>
                <a:latin typeface="Microsoft YaHei"/>
              </a:rPr>
              <a:t>并对标国际公开基准，给出诚实的达国际水平口径。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AA8C0"/>
                </a:solidFill>
                <a:latin typeface="Microsoft YaHei"/>
              </a:rPr>
              <a:t>吃狗粮（dogfooding）：这不是器件仿真，而是「平台能不能真的设计一颗光计算</a:t>
            </a:r>
          </a:p>
          <a:p>
            <a:pPr algn="l"/>
            <a:r>
              <a:rPr sz="1600" b="0">
                <a:solidFill>
                  <a:srgbClr val="9AA8C0"/>
                </a:solidFill>
                <a:latin typeface="Microsoft YaHei"/>
              </a:rPr>
              <a:t>芯片并验证其正确性」的体检——平台亲手设计，自身先行使用并检验。</a:t>
            </a:r>
          </a:p>
          <a:p>
            <a:pPr algn="l"/>
            <a:r>
              <a:rPr sz="1600" b="0">
                <a:solidFill>
                  <a:srgbClr val="34D399"/>
                </a:solidFill>
                <a:latin typeface="Microsoft YaHei"/>
              </a:rPr>
              <a:t>核心纪律：零外部光学 SDK · LLM 不进判决路径 · 零能效数字 · 判决为死标量比对。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4F8CFF"/>
                </a:solidFill>
                <a:latin typeface="Microsoft YaHei"/>
              </a:rPr>
              <a:t>02 · 关键指标（M1–M4 已验证）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63040"/>
            <a:ext cx="3383280" cy="192024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AA8C0"/>
                </a:solidFill>
                <a:latin typeface="Microsoft YaHei"/>
              </a:rPr>
              <a:t>最大已验证矩阵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8EEFB"/>
                </a:solidFill>
                <a:latin typeface="Microsoft YaHei"/>
              </a:rPr>
              <a:t>256×256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F8CFF"/>
                </a:solidFill>
                <a:latin typeface="Microsoft YaHei"/>
              </a:rPr>
              <a:t>32640 MZI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463040"/>
            <a:ext cx="3383280" cy="192024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6002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AA8C0"/>
                </a:solidFill>
                <a:latin typeface="Microsoft YaHei"/>
              </a:rPr>
              <a:t>N=256 网格保真度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01168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8EEFB"/>
                </a:solidFill>
                <a:latin typeface="Microsoft YaHei"/>
              </a:rPr>
              <a:t>0.9932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8346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F8CFF"/>
                </a:solidFill>
                <a:latin typeface="Microsoft YaHei"/>
              </a:rPr>
              <a:t>规模盲：1−F 不塌缩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463040"/>
            <a:ext cx="3383280" cy="192024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AA8C0"/>
                </a:solidFill>
                <a:latin typeface="Microsoft YaHei"/>
              </a:rPr>
              <a:t>scale-blind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1168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8EEFB"/>
                </a:solidFill>
                <a:latin typeface="Microsoft YaHei"/>
              </a:rPr>
              <a:t>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8346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F8CFF"/>
                </a:solidFill>
                <a:latin typeface="Microsoft YaHei"/>
              </a:rPr>
              <a:t>ratio 相对标准差 3.0%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703320"/>
            <a:ext cx="3383280" cy="192024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404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AA8C0"/>
                </a:solidFill>
                <a:latin typeface="Microsoft YaHei"/>
              </a:rPr>
              <a:t>tiling 保真增益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5196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8EEFB"/>
                </a:solidFill>
                <a:latin typeface="Microsoft YaHei"/>
              </a:rPr>
              <a:t>2.8×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F8CFF"/>
                </a:solidFill>
                <a:latin typeface="Microsoft YaHei"/>
              </a:rPr>
              <a:t>局部标定 vs monolithic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3703320"/>
            <a:ext cx="3383280" cy="192024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38404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AA8C0"/>
                </a:solidFill>
                <a:latin typeface="Microsoft YaHei"/>
              </a:rPr>
              <a:t>EO 全精度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425196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8EEFB"/>
                </a:solidFill>
                <a:latin typeface="Microsoft YaHei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50749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F8CFF"/>
                </a:solidFill>
                <a:latin typeface="Microsoft YaHei"/>
              </a:rPr>
              <a:t>Vπ+5%% 未标定 83.3%%→标定 100%%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703320"/>
            <a:ext cx="3383280" cy="192024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38404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AA8C0"/>
                </a:solidFill>
                <a:latin typeface="Microsoft YaHei"/>
              </a:rPr>
              <a:t>设计容量延展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25196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8EEFB"/>
                </a:solidFill>
                <a:latin typeface="Microsoft YaHei"/>
              </a:rPr>
              <a:t>800×800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0749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F8CFF"/>
                </a:solidFill>
                <a:latin typeface="Microsoft YaHei"/>
              </a:rPr>
              <a:t>文献 MZI-mesh 最大类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4F8CFF"/>
                </a:solidFill>
                <a:latin typeface="Microsoft YaHei"/>
              </a:rPr>
              <a:t>03 · 四段征程（M1 → M4）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554480"/>
            <a:ext cx="1005840" cy="105156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E8EEFB"/>
                </a:solidFill>
                <a:latin typeface="Microsoft YaHei"/>
              </a:rPr>
              <a:t>M1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1554480"/>
            <a:ext cx="9418320" cy="105156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16459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EEFB"/>
                </a:solidFill>
                <a:latin typeface="Microsoft YaHei"/>
              </a:rPr>
              <a:t>非酉 SVD 光计算路径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05740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AA8C0"/>
                </a:solidFill>
                <a:latin typeface="Microsoft YaHei"/>
              </a:rPr>
              <a:t>SVD 双网格 + 对角衰减；Reck 三角分解；相移闭环标定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743200"/>
            <a:ext cx="1005840" cy="105156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0058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E8EEFB"/>
                </a:solidFill>
                <a:latin typeface="Microsoft YaHei"/>
              </a:rPr>
              <a:t>M2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2743200"/>
            <a:ext cx="9418320" cy="105156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28346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EEFB"/>
                </a:solidFill>
                <a:latin typeface="Microsoft YaHei"/>
              </a:rPr>
              <a:t>激活 + 量化 / 标定 + 精度锚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24612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AA8C0"/>
                </a:solidFill>
                <a:latin typeface="Microsoft YaHei"/>
              </a:rPr>
              <a:t>relu/sigmoid/tanh；相位量化；Vπ·L 律标定环；端到端精度锚 100%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931920"/>
            <a:ext cx="1005840" cy="105156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10058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E8EEFB"/>
                </a:solidFill>
                <a:latin typeface="Microsoft YaHei"/>
              </a:rPr>
              <a:t>M3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3931920"/>
            <a:ext cx="9418320" cy="105156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402336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EEFB"/>
                </a:solidFill>
                <a:latin typeface="Microsoft YaHei"/>
              </a:rPr>
              <a:t>光电协同仿真（光核 + 电子接口）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43484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AA8C0"/>
                </a:solidFill>
                <a:latin typeface="Microsoft YaHei"/>
              </a:rPr>
              <a:t>DAC→驱动→相移器→光网格→PD→TIA 全链路 co-sim；闭环 Vπ 标定回收精度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120640"/>
            <a:ext cx="1005840" cy="105156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20640"/>
            <a:ext cx="10058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E8EEFB"/>
                </a:solidFill>
                <a:latin typeface="Microsoft YaHei"/>
              </a:rPr>
              <a:t>M4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5120640"/>
            <a:ext cx="9418320" cy="105156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03120" y="52120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EEFB"/>
                </a:solidFill>
                <a:latin typeface="Microsoft YaHei"/>
              </a:rPr>
              <a:t>规模扩张 / tiling 压力测试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562356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AA8C0"/>
                </a:solidFill>
                <a:latin typeface="Microsoft YaHei"/>
              </a:rPr>
              <a:t>规模盲保真（1−F≈常数）；tiling 局部标定增益 2.8×；N=256 保真 0.9932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4F8CFF"/>
                </a:solidFill>
                <a:latin typeface="Microsoft YaHei"/>
              </a:rPr>
              <a:t>04 · 关键技术结果（可复核）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EEFB"/>
                </a:solidFill>
                <a:latin typeface="Microsoft YaHei"/>
              </a:rPr>
              <a:t>光电协同仿真（M3）：闭环 Vπ 标定回收精度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2560320" cy="128016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8C0"/>
                </a:solidFill>
                <a:latin typeface="Microsoft YaHei"/>
              </a:rPr>
              <a:t>EO 全精度 16-bit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8EEFB"/>
                </a:solidFill>
                <a:latin typeface="Microsoft YaHei"/>
              </a:rP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F8CFF"/>
                </a:solidFill>
                <a:latin typeface="Microsoft YaHei"/>
              </a:rPr>
              <a:t>权重误差 0.0015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920240"/>
            <a:ext cx="2560320" cy="128016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01168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8C0"/>
                </a:solidFill>
                <a:latin typeface="Microsoft YaHei"/>
              </a:rPr>
              <a:t>2-bit 量化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7744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8EEFB"/>
                </a:solidFill>
                <a:latin typeface="Microsoft YaHei"/>
              </a:rPr>
              <a:t>66.7%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9260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F8CFF"/>
                </a:solidFill>
                <a:latin typeface="Microsoft YaHei"/>
              </a:rPr>
              <a:t>权重误差 1.059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920240"/>
            <a:ext cx="2560320" cy="128016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01168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8C0"/>
                </a:solidFill>
                <a:latin typeface="Microsoft YaHei"/>
              </a:rPr>
              <a:t>Vπ+5% 未标定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37744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34D399"/>
                </a:solidFill>
                <a:latin typeface="Microsoft YaHei"/>
              </a:rPr>
              <a:t>83.3%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9260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F8CFF"/>
                </a:solidFill>
                <a:latin typeface="Microsoft YaHei"/>
              </a:rPr>
              <a:t>权重误差 0.209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1920240"/>
            <a:ext cx="2560320" cy="128016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201168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8C0"/>
                </a:solidFill>
                <a:latin typeface="Microsoft YaHei"/>
              </a:rPr>
              <a:t>Vπ+5% 标定为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37744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34D399"/>
                </a:solidFill>
                <a:latin typeface="Microsoft YaHei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9260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F8CFF"/>
                </a:solidFill>
                <a:latin typeface="Microsoft YaHei"/>
              </a:rPr>
              <a:t>权重误差 0.0017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EEFB"/>
                </a:solidFill>
                <a:latin typeface="Microsoft YaHei"/>
              </a:rPr>
              <a:t>规模盲 + tiling（M4）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11480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8EEFB"/>
                </a:solidFill>
                <a:latin typeface="Microsoft YaHei"/>
              </a:rPr>
              <a:t>• 规模盲判定 True：(1−F)/√((N−1)/N) 相对标准差 7.66% —— 大 N 不塌缩</a:t>
            </a:r>
          </a:p>
          <a:p>
            <a:pPr algn="l"/>
            <a:r>
              <a:rPr sz="1500" b="0">
                <a:solidFill>
                  <a:srgbClr val="E8EEFB"/>
                </a:solidFill>
                <a:latin typeface="Microsoft YaHei"/>
              </a:rPr>
              <a:t>• tiling 收益：mono 1−F=0.0247 → tiled 0.0088（局部标定再降 2.8×）</a:t>
            </a:r>
          </a:p>
          <a:p>
            <a:pPr algn="l"/>
            <a:r>
              <a:rPr sz="1500" b="0">
                <a:solidFill>
                  <a:srgbClr val="E8EEFB"/>
                </a:solidFill>
                <a:latin typeface="Microsoft YaHei"/>
              </a:rPr>
              <a:t>• 大 N 网格保真度：N=64/128/256 ⇒ 0.9967 / 0.9952 / 0.9932</a:t>
            </a:r>
          </a:p>
          <a:p>
            <a:pPr algn="l"/>
            <a:r>
              <a:rPr sz="1500" b="0">
                <a:solidFill>
                  <a:srgbClr val="34D399"/>
                </a:solidFill>
                <a:latin typeface="Microsoft YaHei"/>
              </a:rPr>
              <a:t>• 判决为死标量比对，LLM 不进判决路径；物理定律（酉幺正性、Vπ·L 律）作红线锚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4F8CFF"/>
                </a:solidFill>
                <a:latin typeface="Microsoft YaHei"/>
              </a:rPr>
              <a:t>05 · 对标国际公开基准（A 级 golden）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BBF24"/>
                </a:solidFill>
                <a:latin typeface="Microsoft YaHei"/>
              </a:rPr>
              <a:t>⚠ 仅为 2024–2026 公开「已交付/已流片光子芯片」背景坐标；本案例为设计&amp;验证层，不同台比较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2286000" cy="86868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03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4F8CFF"/>
                </a:solidFill>
                <a:latin typeface="Microsoft YaHei"/>
              </a:rPr>
              <a:t>Lightmatter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828800"/>
            <a:ext cx="8229600" cy="86868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828800"/>
            <a:ext cx="7863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EFB"/>
                </a:solidFill>
                <a:latin typeface="Microsoft YaHei"/>
              </a:rPr>
              <a:t>Envise（Nature 2025）：4×128×128 PTC，262 TOPS/W，~200ps/MVM，ResNet18 86.4%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788920"/>
            <a:ext cx="2286000" cy="86868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2103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4F8CFF"/>
                </a:solidFill>
                <a:latin typeface="Microsoft YaHei"/>
              </a:rPr>
              <a:t>MIT（Englund）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788920"/>
            <a:ext cx="8229600" cy="86868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8920"/>
            <a:ext cx="7863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EFB"/>
                </a:solidFill>
                <a:latin typeface="Microsoft YaHei"/>
              </a:rPr>
              <a:t>2017 可编程纳米光子（MZI 原创 lineage）；2024 全集成&gt;96%/92%；2026 ~20 aJ/MAC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749040"/>
            <a:ext cx="2286000" cy="86868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49040"/>
            <a:ext cx="2103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4F8CFF"/>
                </a:solidFill>
                <a:latin typeface="Microsoft YaHei"/>
              </a:rPr>
              <a:t>清华 Taichi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3749040"/>
            <a:ext cx="8229600" cy="86868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3749040"/>
            <a:ext cx="7863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EFB"/>
                </a:solidFill>
                <a:latin typeface="Microsoft YaHei"/>
              </a:rPr>
              <a:t>Science 2024：160 TOPS/W，分布式广度光计算，支持内容生成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709160"/>
            <a:ext cx="2286000" cy="86868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09160"/>
            <a:ext cx="2103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4F8CFF"/>
                </a:solidFill>
                <a:latin typeface="Microsoft YaHei"/>
              </a:rPr>
              <a:t>AIP AML 2024 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4709160"/>
            <a:ext cx="8229600" cy="86868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4709160"/>
            <a:ext cx="7863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8EEFB"/>
                </a:solidFill>
                <a:latin typeface="Microsoft YaHei"/>
              </a:rPr>
              <a:t>MZI-mesh ≤800×800 / ≤9 TOPS/W；B200 9；IBM Hermes 9.76 TOPS/W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4F8CFF"/>
                </a:solidFill>
                <a:latin typeface="Microsoft YaHei"/>
              </a:rPr>
              <a:t>06 · 架构族对齐（诚实比较的核心）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E8EEFB"/>
                </a:solidFill>
                <a:latin typeface="Microsoft YaHei"/>
              </a:rPr>
              <a:t>• LDA 的 MZI mesh 与 MIT 学术 lineage（Shen/Harris 2017 → 2025 Nature 128×128 PTC）同族；</a:t>
            </a:r>
          </a:p>
          <a:p>
            <a:pPr algn="l"/>
            <a:r>
              <a:rPr sz="1500" b="0">
                <a:solidFill>
                  <a:srgbClr val="9AA8C0"/>
                </a:solidFill>
                <a:latin typeface="Microsoft YaHei"/>
              </a:rPr>
              <a:t>  Lightmatter 商用 Envise 采用「光广播 + 电子加权」口径（AIP AML 表记 0.81 TOPS/W），为不同子架构。</a:t>
            </a:r>
          </a:p>
          <a:p>
            <a:pPr algn="l"/>
            <a:r>
              <a:rPr sz="1700" b="0">
                <a:solidFill>
                  <a:srgbClr val="E8EEFB"/>
                </a:solidFill>
                <a:latin typeface="Microsoft YaHei"/>
              </a:rPr>
              <a:t>• 文献 MZI-mesh 最大类 ≤800×800（AIP AML 2024）；LDA 已验证 N=256（32640 MZI）保真 0.9932，</a:t>
            </a:r>
          </a:p>
          <a:p>
            <a:pPr algn="l"/>
            <a:r>
              <a:rPr sz="1500" b="0">
                <a:solidFill>
                  <a:srgbClr val="9AA8C0"/>
                </a:solidFill>
                <a:latin typeface="Microsoft YaHei"/>
              </a:rPr>
              <a:t>  设计容量可借 scale-blind 性质延展到 800×800 类（理想 fab 假设）。</a:t>
            </a:r>
          </a:p>
          <a:p>
            <a:pPr algn="l"/>
            <a:r>
              <a:rPr sz="1700" b="0">
                <a:solidFill>
                  <a:srgbClr val="E8EEFB"/>
                </a:solidFill>
                <a:latin typeface="Microsoft YaHei"/>
              </a:rPr>
              <a:t>• 该 lineage 的公开瓶颈正是「MZI mesh 受限于制备误差」（AIP AML 2024 原文）——</a:t>
            </a:r>
          </a:p>
          <a:p>
            <a:pPr algn="l"/>
            <a:r>
              <a:rPr sz="1600" b="1">
                <a:solidFill>
                  <a:srgbClr val="34D399"/>
                </a:solidFill>
                <a:latin typeface="Microsoft YaHei"/>
              </a:rPr>
              <a:t>  LDA 的 scale-blind 保真 + 闭环 Vπ 标定 + tiling 局部标定 正是对该瓶颈的工程解。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4F8CFF"/>
                </a:solidFill>
                <a:latin typeface="Microsoft YaHei"/>
              </a:rPr>
              <a:t>07 · 先进性定位（诚实版）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F8CFF"/>
                </a:solidFill>
                <a:latin typeface="Microsoft YaHei"/>
              </a:rPr>
              <a:t>交付物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554480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AA8C0"/>
                </a:solidFill>
                <a:latin typeface="Microsoft YaHei"/>
              </a:rPr>
              <a:t>已流片光子芯片+实测TOPS/W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55448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EFB"/>
                </a:solidFill>
                <a:latin typeface="Microsoft YaHei"/>
              </a:rPr>
              <a:t>→ 设计&amp;验证工具链：MZI mesh 可设计+可验证保真闭环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F8CFF"/>
                </a:solidFill>
                <a:latin typeface="Microsoft YaHei"/>
              </a:rPr>
              <a:t>工具链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423160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AA8C0"/>
                </a:solidFill>
                <a:latin typeface="Microsoft YaHei"/>
              </a:rPr>
              <a:t>闭源 CAD/PDK + 控制 ASIC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42316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EFB"/>
                </a:solidFill>
                <a:latin typeface="Microsoft YaHei"/>
              </a:rPr>
              <a:t>→ 开源(MIT)·Agent-native·零外部光学 SDK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F8CFF"/>
                </a:solidFill>
                <a:latin typeface="Microsoft YaHei"/>
              </a:rPr>
              <a:t>判决路径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291840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AA8C0"/>
                </a:solidFill>
                <a:latin typeface="Microsoft YaHei"/>
              </a:rPr>
              <a:t>实验标定+数值仿真混合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29184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EFB"/>
                </a:solidFill>
                <a:latin typeface="Microsoft YaHei"/>
              </a:rPr>
              <a:t>→ LLM 不进判决路径；死标量比对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6052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F8CFF"/>
                </a:solidFill>
                <a:latin typeface="Microsoft YaHei"/>
              </a:rPr>
              <a:t>能效数字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160520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AA8C0"/>
                </a:solidFill>
                <a:latin typeface="Microsoft YaHei"/>
              </a:rPr>
              <a:t>实测/标称 TOPS/W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416052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EFB"/>
                </a:solidFill>
                <a:latin typeface="Microsoft YaHei"/>
              </a:rPr>
              <a:t>→ 不报任何 fabricated 能效数字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2920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F8CFF"/>
                </a:solidFill>
                <a:latin typeface="Microsoft YaHei"/>
              </a:rPr>
              <a:t>对标维度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5029200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AA8C0"/>
                </a:solidFill>
                <a:latin typeface="Microsoft YaHei"/>
              </a:rPr>
              <a:t>die 级 benchmark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50292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EFB"/>
                </a:solidFill>
                <a:latin typeface="Microsoft YaHei"/>
              </a:rPr>
              <a:t>→ 架构族+设计质量方法论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BBF24"/>
                </a:solidFill>
                <a:latin typeface="Microsoft YaHei"/>
              </a:rPr>
              <a:t>不宣称在 TOPS/W / 延迟 / 准确率上优于任何厂商；做对了「设计工具链能力证明」。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4F8CFF"/>
                </a:solidFill>
                <a:latin typeface="Microsoft YaHei"/>
              </a:rPr>
              <a:t>08 · 诚实边界（逐条）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46304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8EEFB"/>
                </a:solidFill>
                <a:latin typeface="Microsoft YaHei"/>
              </a:rPr>
              <a:t>• 非流片 / 非实测芯片：无 foundry 回片、无光学校准实测、无 TOPS/W 实测。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8EEFB"/>
                </a:solidFill>
                <a:latin typeface="Microsoft YaHei"/>
              </a:rPr>
              <a:t>• 不宣称任何 fabricated 能效数字：LDA 不报任何 pj/MAC、TOPS/W。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1752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8EEFB"/>
                </a:solidFill>
                <a:latin typeface="Microsoft YaHei"/>
              </a:rPr>
              <a:t>• 比较按架构族 + 设计质量方法论，不按 die 级 benchmark 同台比。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79476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8EEFB"/>
                </a:solidFill>
                <a:latin typeface="Microsoft YaHei"/>
              </a:rPr>
              <a:t>• 规模 = 设计容量：256 可设计验证，非已制备；延展 800×800 靠 scale-blind（理想 fab）。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7200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8EEFB"/>
                </a:solidFill>
                <a:latin typeface="Microsoft YaHei"/>
              </a:rPr>
              <a:t>• EO 链路为行为级（T1 候选，非 ORACLE）：不碰晶体管级 DAC/ADC/SerDes/DSP。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4924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8EEFB"/>
                </a:solidFill>
                <a:latin typeface="Microsoft YaHei"/>
              </a:rPr>
              <a:t>• 零能效数字纪律：复用 assert_no_energy_metrics；Vπ 跨模块口径差（任务 #7）已规避。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8EEFB"/>
                </a:solidFill>
                <a:latin typeface="Microsoft YaHei"/>
              </a:rPr>
              <a:t>平台能力增量（吃狗粮的意义）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E8EEFB"/>
                </a:solidFill>
                <a:latin typeface="Microsoft YaHei"/>
              </a:rPr>
              <a:t>① 非酉光计算路径：SVD 双网格，突破「只能算酉矩阵」。</a:t>
            </a:r>
          </a:p>
          <a:p>
            <a:pPr algn="l"/>
            <a:r>
              <a:rPr sz="1700" b="0">
                <a:solidFill>
                  <a:srgbClr val="E8EEFB"/>
                </a:solidFill>
                <a:latin typeface="Microsoft YaHei"/>
              </a:rPr>
              <a:t>② 光电协同仿真框架：第一次能设计「光核 + 电子接口」完整芯片。</a:t>
            </a:r>
          </a:p>
          <a:p>
            <a:pPr algn="l"/>
            <a:r>
              <a:rPr sz="1700" b="0">
                <a:solidFill>
                  <a:srgbClr val="E8EEFB"/>
                </a:solidFill>
                <a:latin typeface="Microsoft YaHei"/>
              </a:rPr>
              <a:t>③ 闭环标定（控制环）：第一次有「读回 → 补偿」的校准能力。</a:t>
            </a:r>
          </a:p>
          <a:p>
            <a:pPr algn="l"/>
            <a:r>
              <a:rPr sz="1700" b="0">
                <a:solidFill>
                  <a:srgbClr val="E8EEFB"/>
                </a:solidFill>
                <a:latin typeface="Microsoft YaHei"/>
              </a:rPr>
              <a:t>④ 规模可扩展性验证：scale-blind 不塌缩 + tiling 增益/损耗模型。</a:t>
            </a:r>
          </a:p>
          <a:p>
            <a:pPr algn="l"/>
            <a:r>
              <a:rPr sz="1700" b="0">
                <a:solidFill>
                  <a:srgbClr val="34D399"/>
                </a:solidFill>
                <a:latin typeface="Microsoft YaHei"/>
              </a:rPr>
              <a:t>⑤ 对标纪律：A 级公开来源登记 landmark，把「达国际水平」落到可复核对标表。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