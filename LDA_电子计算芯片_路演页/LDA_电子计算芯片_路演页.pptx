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10" Type="http://schemas.openxmlformats.org/officeDocument/2006/relationships/viewProps" Target="viewProps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7" Type="http://schemas.openxmlformats.org/officeDocument/2006/relationships/notesMaster" Target="notesMasters/notesMaster1.xml" /><Relationship Id="rId8" Type="http://schemas.openxmlformats.org/officeDocument/2006/relationships/presProps" Target="presProps.xml" /><Relationship Id="rId9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A1120', padding: '64px 72px', flexDirection: 'column', justifyContent: 'space-between' }}&gt;&#13;&#10;    &lt;Box style={{ flexDirection: 'row', alignItems: 'center', justifyContent: 'space-between', height: 470 }}&gt;&#13;&#10;        &lt;Box style={{ flexDirection: 'column', gap: 18, width: 620 }}&gt;&#13;&#10;            &lt;Box style={{ flexDirection: 'row', alignItems: 'center', gap: 14 }}&gt;&#13;&#10;                &lt;Box style={{ width: 6, height: 32, background: '#2563EB', borderRadius: 3 }} /&gt;&#13;&#10;                &lt;Text style={{ fontSize: 19, color: '#9FB3CC' }}&gt;LDA · 开源 Agent 原生光 / 量 / 电子芯片设计软件&lt;/Text&gt;&#13;&#10;            &lt;/Box&gt;&#13;&#10;            &lt;Text style={{ fontSize: 62, fontWeight: 'bold', color: '#E8EEF7', lineHeight: 1.12 }}&gt;LDA 电子计算芯片&lt;/Text&gt;&#13;&#10;            &lt;Text style={{ fontSize: 30, fontWeight: 'bold', color: '#2563EB' }}&gt;模拟计算核 · MVM 交叉阵列&lt;/Text&gt;&#13;&#10;            &lt;Text style={{ fontSize: 19, color: '#9FB3CC', lineHeight: 1.7 }}&gt;电子版的「光子 MZI 网格」：行电压 × 交叉点电导 → 列电流求和 → TIA 转电压。用 LDA 亲手设计，从晶体管模型 → 阵列 → 数据通路 → 版图签核 → 寄生后仿 → 失配校准 → 千级规模，全链在 LDA 内闭环。吃狗粮第三征程。&lt;/Text&gt;&#13;&#10;        &lt;/Box&gt;&#13;&#10;        &lt;Box style={{ flexDirection: 'column', gap: 16 }}&gt;&#13;&#10;            &lt;Box style={{ background: 'rgba(255,255,255,0.05)', borderRadius: 12, padding: '16px 26px', width: 430, flexDirection: 'column', gap: 4 }}&gt;&#13;&#10;                &lt;Text style={{ fontSize: 60, fontWeight: 'bold', color: '#2563EB', fontFamily: 'Consolas' }}&gt;9 段&lt;/Text&gt;&#13;&#10;                &lt;Text style={{ fontSize: 16, color: '#9FB3CC' }}&gt;征程（E1–E9 全链 · 12 模块）&lt;/Text&gt;&#13;&#10;            &lt;/Box&gt;&#13;&#10;            &lt;Box style={{ background: 'rgba(255,255,255,0.05)', borderRadius: 12, padding: '16px 26px', width: 430, flexDirection: 'column', gap: 4 }}&gt;&#13;&#10;                &lt;Text style={{ fontSize: 60, fontWeight: 'bold', color: '#2563EB', fontFamily: 'Consolas' }}&gt;188&lt;/Text&gt;&#13;&#10;                &lt;Text style={{ fontSize: 16, color: '#9FB3CC' }}&gt;门禁判据（含 31 条突变探针）&lt;/Text&gt;&#13;&#10;            &lt;/Box&gt;&#13;&#10;            &lt;Box style={{ background: 'rgba(255,255,255,0.05)', borderRadius: 12, padding: '16px 26px', width: 430, flexDirection: 'column', gap: 4 }}&gt;&#13;&#10;                &lt;Text style={{ fontSize: 60, fontWeight: 'bold', color: '#2563EB', fontFamily: 'Consolas' }}&gt;3571×&lt;/Text&gt;&#13;&#10;                &lt;Text style={{ fontSize: 16, color: '#9FB3CC' }}&gt;层次化压缩比（1024² 千级阵列）&lt;/Text&gt;&#13;&#10;            &lt;/Box&gt;&#13;&#10;        &lt;/Box&gt;&#13;&#10;    &lt;/Box&gt;&#13;&#10;    &lt;Box style={{ flexDirection: 'row', alignItems: 'center', justifyContent: 'space-between', borderTop: '1px solid rgba(159,179,204,0.25)', paddingTop: 16 }}&gt;&#13;&#10;        &lt;Text style={{ fontSize: 16, color: '#9FB3CC' }}&gt;LDA · 电子计算芯片（电子征程「吃狗粮」E1–E9 + E10 收官）&lt;/Text&gt;&#13;&#10;        &lt;Text style={{ fontSize: 16, color: '#9FB3CC', fontFamily: 'Consolas' }}&gt;01 / 0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85800" y="11239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76300" y="1171575"/>
            <a:ext cx="4048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LDA ·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开源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原生光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量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电子芯片设计软件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600200"/>
            <a:ext cx="5905500" cy="80010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65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LDA </a:t>
            </a:r>
            <a:r>
              <a:rPr lang="zh-CN" sz="4650" b="1">
                <a:solidFill>
                  <a:srgbClr val="E8EEF7"/>
                </a:solidFill>
                <a:latin typeface="Microsoft YaHei"/>
                <a:ea typeface="Microsoft YaHei"/>
              </a:rPr>
              <a:t>电子计算芯片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5905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563EB"/>
                </a:solidFill>
                <a:latin typeface="Microsoft YaHei"/>
                <a:ea typeface="Microsoft YaHei"/>
              </a:rPr>
              <a:t>模拟计算核</a:t>
            </a:r>
            <a:r>
              <a:rPr lang="en-US" sz="225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MVM </a:t>
            </a:r>
            <a:r>
              <a:rPr lang="zh-CN" sz="2250" b="1">
                <a:solidFill>
                  <a:srgbClr val="2563EB"/>
                </a:solidFill>
                <a:latin typeface="Microsoft YaHei"/>
                <a:ea typeface="Microsoft YaHei"/>
              </a:rPr>
              <a:t>交叉阵列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3086100"/>
            <a:ext cx="590550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电子版的「光子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MZI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网格」：行电压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交叉点电导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列电流求和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→ TIA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转电压。用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LDA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亲手设计，从晶体管模型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阵列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数据通路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版图签核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寄生后仿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失配校准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千级规模，全链在</a:t>
            </a: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 xml:space="preserve"> LDA </a:t>
            </a:r>
            <a:r>
              <a:rPr lang="zh-CN" sz="1425">
                <a:solidFill>
                  <a:srgbClr val="9FB3CC"/>
                </a:solidFill>
                <a:latin typeface="Microsoft YaHei"/>
                <a:ea typeface="Microsoft YaHei"/>
              </a:rPr>
              <a:t>内闭环。吃狗粮第三征程。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410450" y="866775"/>
            <a:ext cx="4095750" cy="1219200"/>
          </a:xfrm>
          <a:prstGeom prst="roundRect">
            <a:avLst>
              <a:gd name="adj" fmla="val 937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58100" y="1019175"/>
            <a:ext cx="36004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2563EB"/>
                </a:solidFill>
                <a:latin typeface="Consolas"/>
                <a:ea typeface="Consolas"/>
              </a:rPr>
              <a:t xml:space="preserve">9 </a:t>
            </a:r>
            <a:r>
              <a:rPr lang="zh-CN" sz="4500" b="1">
                <a:solidFill>
                  <a:srgbClr val="2563EB"/>
                </a:solidFill>
                <a:latin typeface="Consolas"/>
                <a:ea typeface="Consolas"/>
              </a:rPr>
              <a:t>段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58100" y="1743075"/>
            <a:ext cx="3600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征程（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E1–E9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全链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12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模块）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7410450" y="2238375"/>
            <a:ext cx="4095750" cy="1219200"/>
          </a:xfrm>
          <a:prstGeom prst="roundRect">
            <a:avLst>
              <a:gd name="adj" fmla="val 937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58100" y="2390775"/>
            <a:ext cx="36004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2563EB"/>
                </a:solidFill>
                <a:latin typeface="Consolas"/>
                <a:ea typeface="Consolas"/>
              </a:rPr>
              <a:t>188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58100" y="3114675"/>
            <a:ext cx="3600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门禁判据（含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31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条突变探针）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7410450" y="3609975"/>
            <a:ext cx="4095750" cy="1219200"/>
          </a:xfrm>
          <a:prstGeom prst="roundRect">
            <a:avLst>
              <a:gd name="adj" fmla="val 937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658100" y="3762375"/>
            <a:ext cx="36004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2563EB"/>
                </a:solidFill>
                <a:latin typeface="Consolas"/>
                <a:ea typeface="Consolas"/>
              </a:rPr>
              <a:t>3571×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658100" y="4486275"/>
            <a:ext cx="3600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层次化压缩比（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1024²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千级阵列）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85800" y="5895975"/>
            <a:ext cx="10820400" cy="361950"/>
          </a:xfrm>
          <a:custGeom>
            <a:pathLst>
              <a:path w="1136" h="38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85800" y="6057900"/>
            <a:ext cx="426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电子计算芯片（电子征程「吃狗粮」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E1–E9 + E10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收官）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915650" y="60579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01 / 06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0" name="" descr="&lt;Slide style={{ width: 1280, height: 720, background: '#0A1120', padding: '64px 72px', flexDirection: 'column', justifyContent: 'space-between' }}&gt;&#13;&#10;    &lt;Box style={{ flexDirection: 'column', gap: 10 }}&gt;&#13;&#10;        &lt;Text style={{ fontSize: 44, fontWeight: 'bold', color: '#E8EEF7' }}&gt;吃狗粮 · 逼出并补齐平台八块真短板&lt;/Text&gt;&#13;&#10;        &lt;Text style={{ fontSize: 20, color: '#2563EB', fontWeight: 'bold' }}&gt;客户使用前，我们自己先使用并检验&lt;/Text&gt;&#13;&#10;        &lt;Text style={{ fontSize: 17, color: '#9FB3CC', lineHeight: 1.6 }}&gt;此前 LDA 电子域只到行为级——本征程新增 lda/lda_l2/ecore/ 包（12 模块 · 11 条能力面入册）逐一补齐。&lt;/Text&gt;&#13;&#10;    &lt;/Box&gt;&#13;&#10;    &lt;Box style={{ flexDirection: 'row', gap: 34, alignItems: 'flex-start' }}&gt;&#13;&#10;        &lt;Box style={{ flexDirection: 'column', gap: 16, flex: 1 }}&gt;&#13;&#10;            &lt;Box style={{ flexDirection: 'row', gap: 12, alignItems: 'flex-start' }}&gt;&#13;&#10;                &lt;Text style={{ fontSize: 18, fontWeight: 'bold', color: '#2563EB', fontFamily: 'Consolas', width: 30 }}&gt;1&lt;/Text&gt;&#13;&#10;                &lt;Box style={{ flexDirection: 'column', gap: 2, flex: 1 }}&gt;&#13;&#10;                    &lt;Text style={{ fontSize: 19, fontWeight: 'bold', color: '#E8EEF7' }}&gt;无晶体管级模型&lt;/Text&gt;&#13;&#10;                    &lt;Text style={{ fontSize: 15, color: '#9FB3CC', lineHeight: 1.5 }}&gt;新增长沟道平方律 NMOS（三区 + gm/gds 解析）。&lt;/Text&gt;&#13;&#10;                    &lt;Text style={{ fontSize: 13, color: '#5B7BB0', fontFamily: 'Consolas' }}&gt;D-150 (E1)&lt;/Text&gt;&#13;&#10;                &lt;/Box&gt;&#13;&#10;            &lt;/Box&gt;&#13;&#10;            &lt;Box style={{ flexDirection: 'row', gap: 12, alignItems: 'flex-start' }}&gt;&#13;&#10;                &lt;Text style={{ fontSize: 18, fontWeight: 'bold', color: '#2563EB', fontFamily: 'Consolas', width: 30 }}&gt;2&lt;/Text&gt;&#13;&#10;                &lt;Box style={{ flexDirection: 'column', gap: 2, flex: 1 }}&gt;&#13;&#10;                    &lt;Text style={{ fontSize: 19, fontWeight: 'bold', color: '#E8EEF7' }}&gt;无电路仿真器&lt;/Text&gt;&#13;&#10;                    &lt;Text style={{ fontSize: 15, color: '#9FB3CC', lineHeight: 1.5 }}&gt;新增 MNA 求解器（DC 牛顿 / 瞬态后向欧拉 / AC 复数）。&lt;/Text&gt;&#13;&#10;                    &lt;Text style={{ fontSize: 13, color: '#5B7BB0', fontFamily: 'Consolas' }}&gt;D-150 (E1)&lt;/Text&gt;&#13;&#10;                &lt;/Box&gt;&#13;&#10;            &lt;/Box&gt;&#13;&#10;            &lt;Box style={{ flexDirection: 'row', gap: 12, alignItems: 'flex-start' }}&gt;&#13;&#10;                &lt;Text style={{ fontSize: 18, fontWeight: 'bold', color: '#2563EB', fontFamily: 'Consolas', width: 30 }}&gt;3&lt;/Text&gt;&#13;&#10;                &lt;Box style={{ flexDirection: 'column', gap: 2, flex: 1 }}&gt;&#13;&#10;                    &lt;Text style={{ fontSize: 19, fontWeight: 'bold', color: '#E8EEF7' }}&gt;无模拟计算原语&lt;/Text&gt;&#13;&#10;                    &lt;Text style={{ fontSize: 15, color: '#9FB3CC', lineHeight: 1.5 }}&gt;新增参数化 N×M MVM 阵列 + 数据通路（DAC→阵列→ADC）。&lt;/Text&gt;&#13;&#10;                    &lt;Text style={{ fontSize: 13, color: '#5B7BB0', fontFamily: 'Consolas' }}&gt;D-151/152 (E2/E3)&lt;/Text&gt;&#13;&#10;                &lt;/Box&gt;&#13;&#10;            &lt;/Box&gt;&#13;&#10;            &lt;Box style={{ flexDirection: 'row', gap: 12, alignItems: 'flex-start' }}&gt;&#13;&#10;                &lt;Text style={{ fontSize: 18, fontWeight: 'bold', color: '#2563EB', fontFamily: 'Consolas', width: 30 }}&gt;4&lt;/Text&gt;&#13;&#10;                &lt;Box style={{ flexDirection: 'column', gap: 2, flex: 1 }}&gt;&#13;&#10;                    &lt;Text style={{ fontSize: 19, fontWeight: 'bold', color: '#E8EEF7' }}&gt;无规模定标与诚实护栏&lt;/Text&gt;&#13;&#10;                    &lt;Text style={{ fontSize: 15, color: '#9FB3CC', lineHeight: 1.5 }}&gt;新增层输出定标 + 诚实边界机器化护栏 + 能力清单。&lt;/Text&gt;&#13;&#10;                    &lt;Text style={{ fontSize: 13, color: '#5B7BB0', fontFamily: 'Consolas' }}&gt;D-153/154 (E4/E5)&lt;/Text&gt;&#13;&#10;                &lt;/Box&gt;&#13;&#10;            &lt;/Box&gt;&#13;&#10;        &lt;/Box&gt;&#13;&#10;        &lt;Box style={{ flexDirection: 'column', gap: 16, flex: 1 }}&gt;&#13;&#10;            &lt;Box style={{ flexDirection: 'row', gap: 12, alignItems: 'flex-start' }}&gt;&#13;&#10;                &lt;Text style={{ fontSize: 18, fontWeight: 'bold', color: '#2563EB', fontFamily: 'Consolas', width: 30 }}&gt;5&lt;/Text&gt;&#13;&#10;                &lt;Box style={{ flexDirection: 'column', gap: 2, flex: 1 }}&gt;&#13;&#10;                    &lt;Text style={{ fontSize: 19, fontWeight: 'bold', color: '#E8EEF7' }}&gt;无版图链&lt;/Text&gt;&#13;&#10;                    &lt;Text style={{ fontSize: 15, color: '#9FB3CC', lineHeight: 1.5 }}&gt;新增电子版图层栈 + 1T 阵列 P&amp;R + 几何 DRC/LVS + AREF 层次化 GDS。&lt;/Text&gt;&#13;&#10;                    &lt;Text style={{ fontSize: 13, color: '#5B7BB0', fontFamily: 'Consolas' }}&gt;D-156 (E6)&lt;/Text&gt;&#13;&#10;                &lt;/Box&gt;&#13;&#10;            &lt;/Box&gt;&#13;&#10;            &lt;Box style={{ flexDirection: 'row', gap: 12, alignItems: 'flex-start' }}&gt;&#13;&#10;                &lt;Text style={{ fontSize: 18, fontWeight: 'bold', color: '#2563EB', fontFamily: 'Consolas', width: 30 }}&gt;6&lt;/Text&gt;&#13;&#10;                &lt;Box style={{ flexDirection: 'column', gap: 2, flex: 1 }}&gt;&#13;&#10;                    &lt;Text style={{ fontSize: 19, fontWeight: 'bold', color: '#E8EEF7' }}&gt;无寄生后仿&lt;/Text&gt;&#13;&#10;                    &lt;Text style={{ fontSize: 15, color: '#9FB3CC', lineHeight: 1.5 }}&gt;新增导线 RC 闭式 + R 梯网络 + IR drop / sneak path + Elmore。&lt;/Text&gt;&#13;&#10;                    &lt;Text style={{ fontSize: 13, color: '#5B7BB0', fontFamily: 'Consolas' }}&gt;D-157 (E7)&lt;/Text&gt;&#13;&#10;                &lt;/Box&gt;&#13;&#10;            &lt;/Box&gt;&#13;&#10;            &lt;Box style={{ flexDirection: 'row', gap: 12, alignItems: 'flex-start' }}&gt;&#13;&#10;                &lt;Text style={{ fontSize: 18, fontWeight: 'bold', color: '#2563EB', fontFamily: 'Consolas', width: 30 }}&gt;7&lt;/Text&gt;&#13;&#10;                &lt;Box style={{ flexDirection: 'column', gap: 2, flex: 1 }}&gt;&#13;&#10;                    &lt;Text style={{ fontSize: 19, fontWeight: 'bold', color: '#E8EEF7' }}&gt;无失配/噪声模型&lt;/Text&gt;&#13;&#10;                    &lt;Text style={{ fontSize: 15, color: '#9FB3CC', lineHeight: 1.5 }}&gt;新增 Pelgrom 失配 + 温度 + 热/闪烁噪声 + Monte Carlo + 校准层级。&lt;/Text&gt;&#13;&#10;                    &lt;Text style={{ fontSize: 13, color: '#5B7BB0', fontFamily: 'Consolas' }}&gt;D-158 (E8)&lt;/Text&gt;&#13;&#10;                &lt;/Box&gt;&#13;&#10;            &lt;/Box&gt;&#13;&#10;            &lt;Box style={{ flexDirection: 'row', gap: 12, alignItems: 'flex-start' }}&gt;&#13;&#10;                &lt;Text style={{ fontSize: 18, fontWeight: 'bold', color: '#2563EB', fontFamily: 'Consolas', width: 30 }}&gt;8&lt;/Text&gt;&#13;&#10;                &lt;Box style={{ flexDirection: 'column', gap: 2, flex: 1 }}&gt;&#13;&#10;                    &lt;Text style={{ fontSize: 19, fontWeight: 'bold', color: '#E8EEF7' }}&gt;无千级规模能力&lt;/Text&gt;&#13;&#10;                    &lt;Text style={{ fontSize: 15, color: '#9FB3CC', lineHeight: 1.5 }}&gt;新增层次化 O(N) 出图 + 一维三对角 IR-drop + 可及规模上界。&lt;/Text&gt;&#13;&#10;                    &lt;Text style={{ fontSize: 13, color: '#5B7BB0', fontFamily: 'Consolas' }}&gt;D-159 (E9)&lt;/Text&gt;&#13;&#10;                &lt;/Box&gt;&#13;&#10;            &lt;/Box&gt;&#13;&#10;        &lt;/Box&gt;&#13;&#10;    &lt;/Box&gt;&#13;&#10;    &lt;Box style={{ flexDirection: 'row', alignItems: 'center', justifyContent: 'space-between', borderTop: '1px solid rgba(159,179,204,0.25)', paddingTop: 16 }}&gt;&#13;&#10;        &lt;Text style={{ fontSize: 16, color: '#9FB3CC' }}&gt;LDA · 电子计算芯片（电子征程「吃狗粮」E1–E9 + E10 收官）&lt;/Text&gt;&#13;&#10;        &lt;Text style={{ fontSize: 16, color: '#9FB3CC', fontFamily: 'Consolas' }}&gt;02 / 0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10820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吃狗粮</a:t>
            </a:r>
            <a:r>
              <a:rPr lang="en-US" sz="33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逼出并补齐平台八块真短板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85800" y="1209675"/>
            <a:ext cx="1082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客户使用前，我们自己先使用并检验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85800" y="1533525"/>
            <a:ext cx="108204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此前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 xml:space="preserve"> LDA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电子域只到行为级——本征程新增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 xml:space="preserve"> lda/lda_l2/ecore/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包（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模块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11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条能力面入册）逐一补齐。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085850" y="2314575"/>
            <a:ext cx="4848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无晶体管级模型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85850" y="2552700"/>
            <a:ext cx="4848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新增长沟道平方律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NMOS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（三区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gm/gds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解析）。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85850" y="2828925"/>
            <a:ext cx="4848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7BB0"/>
                </a:solidFill>
                <a:latin typeface="Consolas"/>
                <a:ea typeface="Consolas"/>
              </a:rPr>
              <a:t>D-150 (E1)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85800" y="31337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085850" y="3133725"/>
            <a:ext cx="4848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无电路仿真器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85850" y="3371850"/>
            <a:ext cx="4848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新增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MNA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求解器（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DC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牛顿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瞬态后向欧拉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/ AC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复数）。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085850" y="3648075"/>
            <a:ext cx="4848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7BB0"/>
                </a:solidFill>
                <a:latin typeface="Consolas"/>
                <a:ea typeface="Consolas"/>
              </a:rPr>
              <a:t>D-150 (E1)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5800" y="39528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085850" y="3952875"/>
            <a:ext cx="4848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无模拟计算原语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5850" y="4191000"/>
            <a:ext cx="4848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新增参数化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N×M MVM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阵列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数据通路（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DAC→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阵列→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ADC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85850" y="4467225"/>
            <a:ext cx="4848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7BB0"/>
                </a:solidFill>
                <a:latin typeface="Consolas"/>
                <a:ea typeface="Consolas"/>
              </a:rPr>
              <a:t>D-151/152 (E2/E3)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47720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Consolas"/>
                <a:ea typeface="Consolas"/>
              </a:rPr>
              <a:t>4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85850" y="4772025"/>
            <a:ext cx="4848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无规模定标与诚实护栏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85850" y="5010150"/>
            <a:ext cx="4848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新增层输出定标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诚实边界机器化护栏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能力清单。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85850" y="5286375"/>
            <a:ext cx="4848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7BB0"/>
                </a:solidFill>
                <a:latin typeface="Consolas"/>
                <a:ea typeface="Consolas"/>
              </a:rPr>
              <a:t>D-153/154 (E4/E5)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257925" y="23145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657975" y="2314575"/>
            <a:ext cx="4848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无版图链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657975" y="2552700"/>
            <a:ext cx="4848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新增电子版图层栈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+ 1T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阵列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P&amp;R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几何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DRC/LVS + AREF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层次化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GDS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657975" y="2828925"/>
            <a:ext cx="4848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7BB0"/>
                </a:solidFill>
                <a:latin typeface="Consolas"/>
                <a:ea typeface="Consolas"/>
              </a:rPr>
              <a:t>D-156 (E6)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257925" y="31337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657975" y="3133725"/>
            <a:ext cx="4848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无寄生后仿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657975" y="3371850"/>
            <a:ext cx="4848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新增导线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RC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闭式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R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梯网络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IR drop / sneak path + Elmore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657975" y="3648075"/>
            <a:ext cx="4848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7BB0"/>
                </a:solidFill>
                <a:latin typeface="Consolas"/>
                <a:ea typeface="Consolas"/>
              </a:rPr>
              <a:t>D-157 (E7)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257925" y="39528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Consolas"/>
                <a:ea typeface="Consolas"/>
              </a:rPr>
              <a:t>7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657975" y="3952875"/>
            <a:ext cx="4848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无失配</a:t>
            </a:r>
            <a:r>
              <a:rPr lang="en-US" sz="1425" b="1">
                <a:solidFill>
                  <a:srgbClr val="E8EEF7"/>
                </a:solidFill>
                <a:latin typeface="Microsoft YaHei"/>
                <a:ea typeface="Microsoft YaHei"/>
              </a:rPr>
              <a:t>/</a:t>
            </a: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噪声模型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657975" y="4191000"/>
            <a:ext cx="4848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新增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Pelgrom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失配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温度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热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闪烁噪声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Monte Carlo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校准层级。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657975" y="4467225"/>
            <a:ext cx="4848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7BB0"/>
                </a:solidFill>
                <a:latin typeface="Consolas"/>
                <a:ea typeface="Consolas"/>
              </a:rPr>
              <a:t>D-158 (E8)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257925" y="47720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657975" y="4772025"/>
            <a:ext cx="4848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7"/>
                </a:solidFill>
                <a:latin typeface="Microsoft YaHei"/>
                <a:ea typeface="Microsoft YaHei"/>
              </a:rPr>
              <a:t>无千级规模能力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657975" y="5010150"/>
            <a:ext cx="48482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新增层次化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O(N)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出图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一维三对角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IR-drop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可及规模上界。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657975" y="5286375"/>
            <a:ext cx="4848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7BB0"/>
                </a:solidFill>
                <a:latin typeface="Consolas"/>
                <a:ea typeface="Consolas"/>
              </a:rPr>
              <a:t>D-159 (E9)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85800" y="5895975"/>
            <a:ext cx="10820400" cy="361950"/>
          </a:xfrm>
          <a:custGeom>
            <a:pathLst>
              <a:path w="1136" h="38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85800" y="6057900"/>
            <a:ext cx="426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电子计算芯片（电子征程「吃狗粮」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E1–E9 + E10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收官）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915650" y="60579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02 / 06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0" name="" descr="&lt;Slide style={{ width: 1280, height: 720, background: '#0A1120', padding: '64px 72px', flexDirection: 'column', justifyContent: 'space-between' }}&gt;&#13;&#10;    &lt;Box style={{ flexDirection: 'column', gap: 10 }}&gt;&#13;&#10;        &lt;Text style={{ fontSize: 44, fontWeight: 'bold', color: '#E8EEF7' }}&gt;九段征程 · 全程在 LDA 内闭环&lt;/Text&gt;&#13;&#10;        &lt;Text style={{ fontSize: 19, color: '#2563EB', fontWeight: 'bold' }}&gt;E1 基座 → E2 阵列 → E3 数据通路 → E4 规模 → E5 硬化 → E6 版图 → E7 寄生 → E8 失配 → E9 规模压力&lt;/Text&gt;&#13;&#10;        &lt;Text style={{ fontSize: 16, color: '#9FB3CC' }}&gt;门禁合计 188 判据（含 31 条突变探针）+ 10 道常驻门禁 · D-150…D-159 · E10（D-160）收官。&lt;/Text&gt;&#13;&#10;    &lt;/Box&gt;&#13;&#10;    &lt;Box style={{ flexDirection: 'row', gap: 34, alignItems: 'flex-start' }}&gt;&#13;&#10;        &lt;Box style={{ flexDirection: 'column', gap: 14, flex: 1 }}&gt;&#13;&#10;            &lt;Box style={{ flexDirection: 'row', gap: 12, alignItems: 'flex-start' }}&gt;&#13;&#10;                &lt;Text style={{ fontSize: 17, fontWeight: 'bold', color: '#2563EB', fontFamily: 'Consolas', width: 34 }}&gt;E1&lt;/Text&gt;&#13;&#10;                &lt;Box style={{ flexDirection: 'column', gap: 1, flex: 1 }}&gt;&#13;&#10;                    &lt;Text style={{ fontSize: 16, fontWeight: 'bold', color: '#E8EEF7' }}&gt;基座：晶体管模型 + MNA 仿真器 + 最小计算单元&lt;/Text&gt;&#13;&#10;                    &lt;Text style={{ fontSize: 13, color: '#9FB3CC', lineHeight: 1.45 }}&gt;RC 瞬态 vs 指数 &amp;lt;2e-4 · AC vs 闭式 &amp;lt;1e-13&lt;/Text&gt;&#13;&#10;                &lt;/Box&gt;&#13;&#10;            &lt;/Box&gt;&#13;&#10;            &lt;Box style={{ flexDirection: 'row', gap: 12, alignItems: 'flex-start' }}&gt;&#13;&#10;                &lt;Text style={{ fontSize: 17, fontWeight: 'bold', color: '#2563EB', fontFamily: 'Consolas', width: 34 }}&gt;E2&lt;/Text&gt;&#13;&#10;                &lt;Box style={{ flexDirection: 'column', gap: 1, flex: 1 }}&gt;&#13;&#10;                    &lt;Text style={{ fontSize: 16, fontWeight: 'bold', color: '#E8EEF7' }}&gt;参数化 N×M 模拟 MVM 交叉阵列&lt;/Text&gt;&#13;&#10;                    &lt;Text style={{ fontSize: 13, color: '#9FB3CC', lineHeight: 1.45 }}&gt;理想 8×8 &amp;lt;2e-4 · transistor 4×4 &amp;lt;2.4e-4 · OTA 增益 ∝ Rd&lt;/Text&gt;&#13;&#10;                &lt;/Box&gt;&#13;&#10;            &lt;/Box&gt;&#13;&#10;            &lt;Box style={{ flexDirection: 'row', gap: 12, alignItems: 'flex-start' }}&gt;&#13;&#10;                &lt;Text style={{ fontSize: 17, fontWeight: 'bold', color: '#2563EB', fontFamily: 'Consolas', width: 34 }}&gt;E3&lt;/Text&gt;&#13;&#10;                &lt;Box style={{ flexDirection: 'column', gap: 1, flex: 1 }}&gt;&#13;&#10;                    &lt;Text style={{ fontSize: 16, fontWeight: 'bold', color: '#E8EEF7' }}&gt;MVM 数据通路（DAC→阵列→ADC、多层、分块）&lt;/Text&gt;&#13;&#10;                    &lt;Text style={{ fontSize: 13, color: '#9FB3CC', lineHeight: 1.45 }}&gt;单层 8bit 0.0122 · 2 层 MLP 0.044 · 分块=全阵&lt;/Text&gt;&#13;&#10;                &lt;/Box&gt;&#13;&#10;            &lt;/Box&gt;&#13;&#10;            &lt;Box style={{ flexDirection: 'row', gap: 12, alignItems: 'flex-start' }}&gt;&#13;&#10;                &lt;Text style={{ fontSize: 17, fontWeight: 'bold', color: '#2563EB', fontFamily: 'Consolas', width: 34 }}&gt;E4&lt;/Text&gt;&#13;&#10;                &lt;Box style={{ flexDirection: 'column', gap: 1, flex: 1 }}&gt;&#13;&#10;                    &lt;Text style={{ fontSize: 16, fontWeight: 'bold', color: '#E8EEF7' }}&gt;规模对标（至 256×256 = 65536 突触）&lt;/Text&gt;&#13;&#10;                    &lt;Text style={{ fontSize: 13, color: '#9FB3CC', lineHeight: 1.45 }}&gt;相对误差有界 0.018→0.030 · 绝对误差 ∝N 0.08→0.54&lt;/Text&gt;&#13;&#10;                &lt;/Box&gt;&#13;&#10;            &lt;/Box&gt;&#13;&#10;            &lt;Box style={{ flexDirection: 'row', gap: 12, alignItems: 'flex-start' }}&gt;&#13;&#10;                &lt;Text style={{ fontSize: 17, fontWeight: 'bold', color: '#2563EB', fontFamily: 'Consolas', width: 34 }}&gt;E5&lt;/Text&gt;&#13;&#10;                &lt;Box style={{ flexDirection: 'column', gap: 1, flex: 1 }}&gt;&#13;&#10;                    &lt;Text style={{ fontSize: 16, fontWeight: 'bold', color: '#E8EEF7' }}&gt;平台能力硬化：能力清单 + 守护门禁&lt;/Text&gt;&#13;&#10;                    &lt;Text style={{ fontSize: 13, color: '#9FB3CC', lineHeight: 1.45 }}&gt;清单 ↔ 模块/符号 双向完备 · 诚实边界机器化&lt;/Text&gt;&#13;&#10;                &lt;/Box&gt;&#13;&#10;            &lt;/Box&gt;&#13;&#10;        &lt;/Box&gt;&#13;&#10;        &lt;Box style={{ flexDirection: 'column', gap: 14, flex: 1 }}&gt;&#13;&#10;            &lt;Box style={{ flexDirection: 'row', gap: 12, alignItems: 'flex-start' }}&gt;&#13;&#10;                &lt;Text style={{ fontSize: 17, fontWeight: 'bold', color: '#2563EB', fontFamily: 'Consolas', width: 34 }}&gt;E6&lt;/Text&gt;&#13;&#10;                &lt;Box style={{ flexDirection: 'column', gap: 1, flex: 1 }}&gt;&#13;&#10;                    &lt;Text style={{ fontSize: 16, fontWeight: 'bold', color: '#E8EEF7' }}&gt;版图与几何签核（首次直出真 GDS）&lt;/Text&gt;&#13;&#10;                    &lt;Text style={{ fontSize: 13, color: '#9FB3CC', lineHeight: 1.45 }}&gt;4×4 = 120 元素 / 8.40×8.90 µm² / GDS 936 B · 8×8 双 ACCEPT&lt;/Text&gt;&#13;&#10;                &lt;/Box&gt;&#13;&#10;            &lt;/Box&gt;&#13;&#10;            &lt;Box style={{ flexDirection: 'row', gap: 12, alignItems: 'flex-start' }}&gt;&#13;&#10;                &lt;Text style={{ fontSize: 17, fontWeight: 'bold', color: '#2563EB', fontFamily: 'Consolas', width: 34 }}&gt;E7&lt;/Text&gt;&#13;&#10;                &lt;Box style={{ flexDirection: 'column', gap: 1, flex: 1 }}&gt;&#13;&#10;                    &lt;Text style={{ fontSize: 16, fontWeight: 'bold', color: '#E8EEF7' }}&gt;寄生提取与后仿（有阻互连）&lt;/Text&gt;&#13;&#10;                    &lt;Text style={{ fontSize: 13, color: '#9FB3CC', lineHeight: 1.45 }}&gt;R□ = 0.084 Ω/□ · IR drop N=4 0.42%→N=32 27.0% · sneak 7.26×&lt;/Text&gt;&#13;&#10;                &lt;/Box&gt;&#13;&#10;            &lt;/Box&gt;&#13;&#10;            &lt;Box style={{ flexDirection: 'row', gap: 12, alignItems: 'flex-start' }}&gt;&#13;&#10;                &lt;Text style={{ fontSize: 17, fontWeight: 'bold', color: '#2563EB', fontFamily: 'Consolas', width: 34 }}&gt;E8&lt;/Text&gt;&#13;&#10;                &lt;Box style={{ flexDirection: 'column', gap: 1, flex: 1 }}&gt;&#13;&#10;                    &lt;Text style={{ fontSize: 16, fontWeight: 'bold', color: '#E8EEF7' }}&gt;非理想/失配/噪声 + 校准层级&lt;/Text&gt;&#13;&#10;                    &lt;Text style={{ fontSize: 13, color: '#9FB3CC', lineHeight: 1.45 }}&gt;σ_ΔVth 5.00 mV · σ_rel·√N ≈ 0.0186（1/√N）· L0 1.70%→L2 0.074%&lt;/Text&gt;&#13;&#10;                &lt;/Box&gt;&#13;&#10;            &lt;/Box&gt;&#13;&#10;            &lt;Box style={{ flexDirection: 'row', gap: 12, alignItems: 'flex-start' }}&gt;&#13;&#10;                &lt;Text style={{ fontSize: 17, fontWeight: 'bold', color: '#2563EB', fontFamily: 'Consolas', width: 34 }}&gt;E9&lt;/Text&gt;&#13;&#10;                &lt;Box style={{ flexDirection: 'column', gap: 1, flex: 1 }}&gt;&#13;&#10;                    &lt;Text style={{ fontSize: 16, fontWeight: 'bold', color: '#E8EEF7' }}&gt;千级阵列规模压力 + 诚实对标&lt;/Text&gt;&#13;&#10;                    &lt;Text style={{ fontSize: 13, color: '#9FB3CC', lineHeight: 1.45 }}&gt;1024² 层次化 GDS 86.6 KB · 压缩比 3571× · 5% 预算 ⇒ N≤18&lt;/Text&gt;&#13;&#10;                &lt;/Box&gt;&#13;&#10;            &lt;/Box&gt;&#13;&#10;        &lt;/Box&gt;&#13;&#10;    &lt;/Box&gt;&#13;&#10;    &lt;Box style={{ flexDirection: 'row', alignItems: 'center', justifyContent: 'space-between', borderTop: '1px solid rgba(159,179,204,0.25)', paddingTop: 16 }}&gt;&#13;&#10;        &lt;Text style={{ fontSize: 16, color: '#9FB3CC' }}&gt;LDA · 电子计算芯片（电子征程「吃狗粮」E1–E9 + E10 收官）&lt;/Text&gt;&#13;&#10;        &lt;Text style={{ fontSize: 16, color: '#9FB3CC', fontFamily: 'Consolas' }}&gt;03 / 0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10820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九段征程</a:t>
            </a:r>
            <a:r>
              <a:rPr lang="en-US" sz="33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全程在</a:t>
            </a:r>
            <a:r>
              <a:rPr lang="en-US" sz="33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LDA </a:t>
            </a: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内闭环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1209675"/>
            <a:ext cx="10820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E1 </a:t>
            </a: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基座</a:t>
            </a:r>
            <a:r>
              <a:rPr lang="en-US" sz="14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E2 </a:t>
            </a: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阵列</a:t>
            </a:r>
            <a:r>
              <a:rPr lang="en-US" sz="14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E3 </a:t>
            </a: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数据通路</a:t>
            </a:r>
            <a:r>
              <a:rPr lang="en-US" sz="14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E4 </a:t>
            </a: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规模</a:t>
            </a:r>
            <a:r>
              <a:rPr lang="en-US" sz="14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E5 </a:t>
            </a: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硬化</a:t>
            </a:r>
            <a:r>
              <a:rPr lang="en-US" sz="14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E6 </a:t>
            </a: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版图</a:t>
            </a:r>
            <a:r>
              <a:rPr lang="en-US" sz="14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E7 </a:t>
            </a: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寄生</a:t>
            </a:r>
            <a:r>
              <a:rPr lang="en-US" sz="14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E8 </a:t>
            </a: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失配</a:t>
            </a:r>
            <a:r>
              <a:rPr lang="en-US" sz="14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E9 </a:t>
            </a: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规模压力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5800" y="152400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门禁合计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188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判据（含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31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条突变探针）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+ 10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道常驻门禁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D-150…D-159 · E10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D-160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）收官。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E1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23950" y="249555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基座：晶体管模型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+ MNA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仿真器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最小计算单元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23950" y="269557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RC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瞬态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指数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&lt;2e-4 · AC vs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闭式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&lt;1e-13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E2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23950" y="304800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参数化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N×M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模拟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MVM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交叉阵列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23950" y="324802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理想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8×8 &lt;2e-4 · transistor 4×4 &lt;2.4e-4 · OTA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增益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∝ Rd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5800" y="36004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E3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23950" y="360045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MVM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数据通路（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>DAC→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阵列→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>ADC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、多层、分块）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23950" y="380047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单层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8bit 0.0122 · 2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层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MLP 0.044 ·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分块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>=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全阵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E4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23950" y="415290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规模对标（至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256×256 = 65536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突触）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23950" y="435292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相对误差有界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0.018→0.030 ·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绝对误差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∝N 0.08→0.54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85800" y="47053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E5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23950" y="470535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平台能力硬化：能力清单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守护门禁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23950" y="490537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清单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↔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模块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>/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符号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双向完备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诚实边界机器化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257925" y="24955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E6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696075" y="249555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版图与几何签核（首次直出真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GDS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696075" y="269557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4×4 = 120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元素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/ 8.40×8.90 µm² / GDS 936 B · 8×8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双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ACCEPT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257925" y="30480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E7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696075" y="304800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寄生提取与后仿（有阻互连）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696075" y="324802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>R□ = 0.084 Ω/□ · IR drop N=4 0.42%→N=32 27.0% · sneak 7.26×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257925" y="36004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E8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696075" y="360045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非理想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>/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失配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>/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噪声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校准层级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696075" y="380047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>σ_ΔVth 5.00 mV · σ_rel·√N ≈ 0.0186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>1/√N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）·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L0 1.70%→L2 0.074%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257925" y="41529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E9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696075" y="415290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千级阵列规模压力</a:t>
            </a:r>
            <a:r>
              <a:rPr lang="en-US" sz="12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诚实对标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696075" y="435292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1024²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层次化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GDS 86.6 KB ·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压缩比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3571× · 5% </a:t>
            </a:r>
            <a:r>
              <a:rPr lang="zh-CN" sz="975">
                <a:solidFill>
                  <a:srgbClr val="9FB3CC"/>
                </a:solidFill>
                <a:latin typeface="Microsoft YaHei"/>
                <a:ea typeface="Microsoft YaHei"/>
              </a:rPr>
              <a:t>预算</a:t>
            </a:r>
            <a:r>
              <a:rPr lang="en-US" sz="975">
                <a:solidFill>
                  <a:srgbClr val="9FB3CC"/>
                </a:solidFill>
                <a:latin typeface="Microsoft YaHei"/>
                <a:ea typeface="Microsoft YaHei"/>
              </a:rPr>
              <a:t xml:space="preserve"> ⇒ N≤18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85800" y="5895975"/>
            <a:ext cx="10820400" cy="361950"/>
          </a:xfrm>
          <a:custGeom>
            <a:pathLst>
              <a:path w="1136" h="38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85800" y="6057900"/>
            <a:ext cx="426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电子计算芯片（电子征程「吃狗粮」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E1–E9 + E10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收官）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915650" y="60579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03 / 06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style={{ width: 1280, height: 720, background: '#0A1120', padding: '64px 72px', flexDirection: 'column', justifyContent: 'space-between' }}&gt;&#13;&#10;    &lt;Box style={{ flexDirection: 'column', gap: 10 }}&gt;&#13;&#10;        &lt;Text style={{ fontSize: 44, fontWeight: 'bold', color: '#E8EEF7' }}&gt;关键结果 · E6–E9 四块新能力面&lt;/Text&gt;&#13;&#10;        &lt;Text style={{ fontSize: 20, color: '#2563EB', fontWeight: 'bold' }}&gt;从「设计出电路」到「能签核、能后仿、能标定、能压测」&lt;/Text&gt;&#13;&#10;        &lt;Text style={{ fontSize: 16, color: '#9FB3CC' }}&gt;全部为设计期验证（非流片实测）· 判决为死标量比对（闭式物理律 golden）· 零外部 SPICE / 商业 EDA 引擎。&lt;/Text&gt;&#13;&#10;    &lt;/Box&gt;&#13;&#10;    &lt;Box style={{ flexDirection: 'row', gap: 18, alignItems: 'stretch' }}&gt;&#13;&#10;        &lt;Box style={{ background: 'rgba(255,255,255,0.05)', borderRadius: 12, padding: '18px 22px', flexDirection: 'column', gap: 8, flex: 1 }}&gt;&#13;&#10;            &lt;Text style={{ fontSize: 17, fontWeight: 'bold', color: '#2563EB', fontFamily: 'Consolas' }}&gt;E6&lt;/Text&gt;&#13;&#10;            &lt;Text style={{ fontSize: 20, fontWeight: 'bold', color: '#E8EEF7' }}&gt;版图与几何签核&lt;/Text&gt;&#13;&#10;            &lt;Text style={{ fontSize: 15, color: '#9FB3CC', lineHeight: 1.5 }}&gt;· 1T 单元 7 元素（DIFF/POLY/CONT×2/M1/VIA1）&lt;/Text&gt;&#13;&#10;            &lt;Text style={{ fontSize: 15, color: '#9FB3CC', lineHeight: 1.5 }}&gt;· 4×4 = 120 元素 / 8.40×8.90 µm²&lt;/Text&gt;&#13;&#10;            &lt;Text style={{ fontSize: 15, color: '#9FB3CC', lineHeight: 1.5 }}&gt;· 真 GDS 936 B（AREF 层次化 top 9）&lt;/Text&gt;&#13;&#10;            &lt;Text style={{ fontSize: 15, color: '#9FB3CC', lineHeight: 1.5 }}&gt;· 8×8 = 464 元素 · DRC/LVS 双 ACCEPT&lt;/Text&gt;&#13;&#10;            &lt;Text style={{ fontSize: 15, color: '#9FB3CC', lineHeight: 1.5 }}&gt;· 几何回提 W/L = 1.20/0.30 µm 逐单元一致&lt;/Text&gt;&#13;&#10;        &lt;/Box&gt;&#13;&#10;        &lt;Box style={{ background: 'rgba(255,255,255,0.05)', borderRadius: 12, padding: '18px 22px', flexDirection: 'column', gap: 8, flex: 1 }}&gt;&#13;&#10;            &lt;Text style={{ fontSize: 17, fontWeight: 'bold', color: '#2563EB', fontFamily: 'Consolas' }}&gt;E7&lt;/Text&gt;&#13;&#10;            &lt;Text style={{ fontSize: 20, fontWeight: 'bold', color: '#E8EEF7' }}&gt;寄生提取与后仿&lt;/Text&gt;&#13;&#10;            &lt;Text style={{ fontSize: 15, color: '#9FB3CC', lineHeight: 1.5 }}&gt;· 导线 RC 闭式 R = ρL/(W·t) ≡ R□·L/W&lt;/Text&gt;&#13;&#10;            &lt;Text style={{ fontSize: 15, color: '#9FB3CC', lineHeight: 1.5 }}&gt;· R□(M1) = 0.084 Ω/□ · τ_row = 3.1 fs&lt;/Text&gt;&#13;&#10;            &lt;Text style={{ fontSize: 15, color: '#9FB3CC', lineHeight: 1.5 }}&gt;· IR drop：N=4 0.42% → N=32 27.0%（∝N²）&lt;/Text&gt;&#13;&#10;            &lt;Text style={{ fontSize: 15, color: '#9FB3CC', lineHeight: 1.5 }}&gt;· sneak 比例：1.29× → 7.26×&lt;/Text&gt;&#13;&#10;            &lt;Text style={{ fontSize: 15, color: '#9FB3CC', lineHeight: 1.5 }}&gt;· R=0 ≡ 解析 golden（max|Δ| = 1.08e-19）&lt;/Text&gt;&#13;&#10;        &lt;/Box&gt;&#13;&#10;    &lt;/Box&gt;&#13;&#10;    &lt;Box style={{ flexDirection: 'row', gap: 18, alignItems: 'stretch' }}&gt;&#13;&#10;        &lt;Box style={{ background: 'rgba(255,255,255,0.05)', borderRadius: 12, padding: '18px 22px', flexDirection: 'column', gap: 8, flex: 1 }}&gt;&#13;&#10;            &lt;Text style={{ fontSize: 17, fontWeight: 'bold', color: '#2563EB', fontFamily: 'Consolas' }}&gt;E8&lt;/Text&gt;&#13;&#10;            &lt;Text style={{ fontSize: 20, fontWeight: 'bold', color: '#E8EEF7' }}&gt;失配 / 噪声 / 校准&lt;/Text&gt;&#13;&#10;            &lt;Text style={{ fontSize: 15, color: '#9FB3CC', lineHeight: 1.5 }}&gt;· Pelgrom σ_ΔVth = 5.00 mV @ 1.20/0.30 µm&lt;/Text&gt;&#13;&#10;            &lt;Text style={{ fontSize: 15, color: '#9FB3CC', lineHeight: 1.5 }}&gt;· 温度：Vth 25→85°C −60 mV · µ 比 0.760&lt;/Text&gt;&#13;&#10;            &lt;Text style={{ fontSize: 15, color: '#9FB3CC', lineHeight: 1.5 }}&gt;· 热噪声 4kTγg_m = 1.098e-23 A²/Hz&lt;/Text&gt;&#13;&#10;            &lt;Text style={{ fontSize: 15, color: '#9FB3CC', lineHeight: 1.5 }}&gt;· MC 8×8 σ_rel = 0.654% · σ_rel·√N ≈ 0.0186&lt;/Text&gt;&#13;&#10;            &lt;Text style={{ fontSize: 15, color: '#9FB3CC', lineHeight: 1.5 }}&gt;· 校准 L0 1.696% → L1 0.212% → L2 0.0743%&lt;/Text&gt;&#13;&#10;        &lt;/Box&gt;&#13;&#10;        &lt;Box style={{ background: 'rgba(255,255,255,0.05)', borderRadius: 12, padding: '18px 22px', flexDirection: 'column', gap: 8, flex: 1 }}&gt;&#13;&#10;            &lt;Text style={{ fontSize: 17, fontWeight: 'bold', color: '#2563EB', fontFamily: 'Consolas' }}&gt;E9&lt;/Text&gt;&#13;&#10;            &lt;Text style={{ fontSize: 20, fontWeight: 'bold', color: '#E8EEF7' }}&gt;千级阵列规模压力&lt;/Text&gt;&#13;&#10;            &lt;Text style={{ fontSize: 15, color: '#9FB3CC', lineHeight: 1.5 }}&gt;· 1024² 层次化 GDS 86.6 KB / top 2049 条&lt;/Text&gt;&#13;&#10;            &lt;Text style={{ fontSize: 15, color: '#9FB3CC', lineHeight: 1.5 }}&gt;· 压缩比 3571×（不物化 N²）&lt;/Text&gt;&#13;&#10;            &lt;Text style={{ fontSize: 15, color: '#9FB3CC', lineHeight: 1.5 }}&gt;· 1D 三对角 ≡ 2D 稠密 MNA（≤1.7e-13）&lt;/Text&gt;&#13;&#10;            &lt;Text style={{ fontSize: 15, color: '#9FB3CC', lineHeight: 1.5 }}&gt;· 三重规模律：IR drop ∝N² · 面积 ∝N² · 失配 ∝1/√N&lt;/Text&gt;&#13;&#10;            &lt;Text style={{ fontSize: 15, color: '#9FB3CC', lineHeight: 1.5 }}&gt;· 可及上界：5% 预算 ⇒ N≤18（被动单端驱动）&lt;/Text&gt;&#13;&#10;        &lt;/Box&gt;&#13;&#10;    &lt;/Box&gt;&#13;&#10;    &lt;Box style={{ flexDirection: 'row', alignItems: 'center', justifyContent: 'space-between', borderTop: '1px solid rgba(159,179,204,0.25)', paddingTop: 16 }}&gt;&#13;&#10;        &lt;Text style={{ fontSize: 16, color: '#9FB3CC' }}&gt;LDA · 电子计算芯片（电子征程「吃狗粮」E1–E9 + E10 收官）&lt;/Text&gt;&#13;&#10;        &lt;Text style={{ fontSize: 16, color: '#9FB3CC', fontFamily: 'Consolas' }}&gt;04 / 0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10820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关键结果</a:t>
            </a:r>
            <a:r>
              <a:rPr lang="en-US" sz="33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E6–E9 </a:t>
            </a: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四块新能力面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85800" y="1209675"/>
            <a:ext cx="1082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从「设计出电路」到「能签核、能后仿、能标定、能压测」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1533525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全部为设计期验证（非流片实测）·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判决为死标量比对（闭式物理律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golden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）·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零外部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SPICE /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商业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EDA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引擎。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85800" y="1724025"/>
            <a:ext cx="5324475" cy="25146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95350" y="1895475"/>
            <a:ext cx="4905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E6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95350" y="2171700"/>
            <a:ext cx="4905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版图与几何签核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95350" y="247650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1T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元素（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DIFF/POLY/CONT×2/M1/VIA1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95350" y="2809875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4×4 = 120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元素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/ 8.40×8.90 µm²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95350" y="314325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真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GDS 936 B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AREF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层次化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top 9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95350" y="3476625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8×8 = 464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元素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DRC/LVS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双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ACCEPT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95350" y="381000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几何回提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W/L = 1.20/0.30 µm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逐单元一致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181725" y="1724025"/>
            <a:ext cx="5324475" cy="25146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391275" y="1895475"/>
            <a:ext cx="4905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E7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391275" y="2171700"/>
            <a:ext cx="4905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寄生提取与后仿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391275" y="247650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导线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RC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闭式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R = ρL/(W·t) ≡ R□·L/W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391275" y="2809875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· R□(M1) = 0.084 Ω/□ · τ_row = 3.1 fs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391275" y="314325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· IR drop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N=4 0.42% → N=32 27.0%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（∝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N²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391275" y="3476625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sneak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比例：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1.29× → 7.26×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391275" y="381000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R=0 ≡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解析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golden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max|Δ| = 1.08e-19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85800" y="4238625"/>
            <a:ext cx="5324475" cy="25146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95350" y="4410075"/>
            <a:ext cx="4905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E8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95350" y="4686300"/>
            <a:ext cx="4905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失配</a:t>
            </a:r>
            <a:r>
              <a:rPr lang="en-US" sz="15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噪声</a:t>
            </a:r>
            <a:r>
              <a:rPr lang="en-US" sz="15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校准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95350" y="499110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· Pelgrom σ_ΔVth = 5.00 mV @ 1.20/0.30 µm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95350" y="5324475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温度：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Vth 25→85°C −60 mV · µ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比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0.760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95350" y="565785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热噪声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4kTγg_m = 1.098e-23 A²/Hz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95350" y="5991225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· MC 8×8 σ_rel = 0.654% · σ_rel·√N ≈ 0.0186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95350" y="632460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校准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L0 1.696% → L1 0.212% → L2 0.0743%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181725" y="4238625"/>
            <a:ext cx="5324475" cy="251460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391275" y="4410075"/>
            <a:ext cx="4905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563EB"/>
                </a:solidFill>
                <a:latin typeface="Consolas"/>
                <a:ea typeface="Consolas"/>
              </a:rPr>
              <a:t>E9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391275" y="4686300"/>
            <a:ext cx="4905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7"/>
                </a:solidFill>
                <a:latin typeface="Microsoft YaHei"/>
                <a:ea typeface="Microsoft YaHei"/>
              </a:rPr>
              <a:t>千级阵列规模压力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391275" y="499110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1024²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层次化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GDS 86.6 KB / top 2049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391275" y="5324475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压缩比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3571×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（不物化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N²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391275" y="565785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1D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三对角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≡ 2D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稠密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MNA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（≤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1.7e-13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391275" y="5991225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三重规模律：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IR drop ∝N²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面积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∝N²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失配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∝1/√N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391275" y="6324600"/>
            <a:ext cx="4905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可及上界：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5%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预算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⇒ N≤18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（被动单端驱动）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85800" y="6753225"/>
            <a:ext cx="10820400" cy="361950"/>
          </a:xfrm>
          <a:custGeom>
            <a:pathLst>
              <a:path w="1136" h="38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85800" y="6915150"/>
            <a:ext cx="426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电子计算芯片（电子征程「吃狗粮」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E1–E9 + E10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收官）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915650" y="691515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04 / 06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35" name="" descr="&lt;Slide style={{ width: 1280, height: 720, background: '#0A1120', padding: '64px 72px', flexDirection: 'column', justifyContent: 'space-between' }}&gt;&#13;&#10;    &lt;Box style={{ flexDirection: 'column', gap: 10 }}&gt;&#13;&#10;        &lt;Text style={{ fontSize: 44, fontWeight: 'bold', color: '#E8EEF7' }}&gt;先进性定位 · 架构族对齐&lt;/Text&gt;&#13;&#10;        &lt;Text style={{ fontSize: 20, color: '#2563EB', fontWeight: 'bold' }}&gt;同族可比 · 不同层级 · 不做数值超越比较&lt;/Text&gt;&#13;&#10;        &lt;Text style={{ fontSize: 16, color: '#9FB3CC' }}&gt;LDA 是设计 &amp;amp; 验证工具链（非流片芯片）⇒ 不报任何 TOPS / TOPS-W / fJ/op。&lt;/Text&gt;&#13;&#10;    &lt;/Box&gt;&#13;&#10;    &lt;Box style={{ flexDirection: 'column', gap: 16 }}&gt;&#13;&#10;            &lt;Box style={{ flexDirection: 'row', gap: 14, alignItems: 'flex-start' }}&gt;&#13;&#10;                &lt;Text style={{ fontSize: 16, fontWeight: 'bold', color: '#E8EEF7', width: 120 }}&gt;架构族&lt;/Text&gt;&#13;&#10;                &lt;Text style={{ fontSize: 15, color: '#9FB3CC', width: 330, lineHeight: 1.45 }}&gt;analog CIM MVM 交叉阵列&lt;/Text&gt;&#13;&#10;                &lt;Text style={{ fontSize: 15, color: '#2563EB', flex: 1, lineHeight: 1.45 }}&gt;→ 本案例同族（电子版「光子 MZI 网格」）&lt;/Text&gt;&#13;&#10;            &lt;/Box&gt;&#13;&#10;            &lt;Box style={{ flexDirection: 'row', gap: 14, alignItems: 'flex-start' }}&gt;&#13;&#10;                &lt;Text style={{ fontSize: 16, fontWeight: 'bold', color: '#E8EEF7', width: 120 }}&gt;工具链来源&lt;/Text&gt;&#13;&#10;                &lt;Text style={{ fontSize: 15, color: '#9FB3CC', width: 330, lineHeight: 1.45 }}&gt;闭源 CAD/PDK + 商业 SPICE&lt;/Text&gt;&#13;&#10;                &lt;Text style={{ fontSize: 15, color: '#2563EB', flex: 1, lineHeight: 1.45 }}&gt;→ 开源 MIT · 零外部 SPICE/EDA 引擎（自研 · 纯 numpy/标准库）&lt;/Text&gt;&#13;&#10;            &lt;/Box&gt;&#13;&#10;            &lt;Box style={{ flexDirection: 'row', gap: 14, alignItems: 'flex-start' }}&gt;&#13;&#10;                &lt;Text style={{ fontSize: 16, fontWeight: 'bold', color: '#E8EEF7', width: 120 }}&gt;版图与签核&lt;/Text&gt;&#13;&#10;                &lt;Text style={{ fontSize: 15, color: '#9FB3CC', width: 330, lineHeight: 1.45 }}&gt;商业版图工具 + 代工 PDK&lt;/Text&gt;&#13;&#10;                &lt;Text style={{ fontSize: 15, color: '#2563EB', flex: 1, lineHeight: 1.45 }}&gt;→ 自研电子版图层栈 + 几何 DRC/LVS + GDSII 编码器 + AREF 层次化&lt;/Text&gt;&#13;&#10;            &lt;/Box&gt;&#13;&#10;            &lt;Box style={{ flexDirection: 'row', gap: 14, alignItems: 'flex-start' }}&gt;&#13;&#10;                &lt;Text style={{ fontSize: 16, fontWeight: 'bold', color: '#E8EEF7', width: 120 }}&gt;判决路径&lt;/Text&gt;&#13;&#10;                &lt;Text style={{ fontSize: 15, color: '#9FB3CC', width: 330, lineHeight: 1.45 }}&gt;实测 + 数值仿真混合&lt;/Text&gt;&#13;&#10;                &lt;Text style={{ fontSize: 15, color: '#2563EB', flex: 1, lineHeight: 1.45 }}&gt;→ LLM 不进判决路径（死标量比对 · 闭式物理律 golden）&lt;/Text&gt;&#13;&#10;            &lt;/Box&gt;&#13;&#10;            &lt;Box style={{ flexDirection: 'row', gap: 14, alignItems: 'flex-start' }}&gt;&#13;&#10;                &lt;Text style={{ fontSize: 16, fontWeight: 'bold', color: '#E8EEF7', width: 120 }}&gt;能效口径&lt;/Text&gt;&#13;&#10;                &lt;Text style={{ fontSize: 15, color: '#9FB3CC', width: 330, lineHeight: 1.45 }}&gt;有实测/宣称 TOPS 与 W&lt;/Text&gt;&#13;&#10;                &lt;Text style={{ fontSize: 15, color: '#2563EB', flex: 1, lineHeight: 1.45 }}&gt;→ 不报能效/吞吐（口径不同，不可比数）&lt;/Text&gt;&#13;&#10;            &lt;/Box&gt;&#13;&#10;    &lt;/Box&gt;&#13;&#10;    &lt;Box style={{ flexDirection: 'column', gap: 8, background: 'rgba(255,255,255,0.05)', borderRadius: 12, padding: '14px 22px' }}&gt;&#13;&#10;        &lt;Text style={{ fontSize: 14, color: '#9FB3CC' }}&gt;公开 landmark（A 级公开来源 · 照录 · 未验证 · 仅背景坐标 · 不同台比较）&lt;/Text&gt;&#13;&#10;        &lt;Text style={{ fontSize: 15, color: '#E8EEF7', lineHeight: 1.5 }}&gt;Mythic M1076 AMP：analog compute-in-memory MVM（flash array + on-die ADC）· up to 25 TOPS · typ. 3–4 W · 76 AMP tiles · 80M weights · INT4/INT8&lt;/Text&gt;&#13;&#10;    &lt;/Box&gt;&#13;&#10;    &lt;Box style={{ flexDirection: 'row', alignItems: 'center', justifyContent: 'space-between', borderTop: '1px solid rgba(159,179,204,0.25)', paddingTop: 16 }}&gt;&#13;&#10;        &lt;Text style={{ fontSize: 16, color: '#9FB3CC' }}&gt;LDA · 电子计算芯片（电子征程「吃狗粮」E1–E9 + E10 收官）&lt;/Text&gt;&#13;&#10;        &lt;Text style={{ fontSize: 16, color: '#9FB3CC', fontFamily: 'Consolas' }}&gt;05 / 0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10820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先进性定位</a:t>
            </a:r>
            <a:r>
              <a:rPr lang="en-US" sz="33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架构族对齐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85800" y="1209675"/>
            <a:ext cx="1082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同族可比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不同层级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不做数值超越比较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85800" y="1533525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LDA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是设计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&amp;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验证工具链（非流片芯片）⇒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不报任何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TOPS / TOPS-W / fJ/op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85800" y="214312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架构族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962150" y="21431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analog CIM MVM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交叉阵列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238750" y="2143125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本案例同族（电子版「光子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MZI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网格」）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85800" y="25527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工具链来源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962150" y="25527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闭源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CAD/PDK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商业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SPICE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238750" y="2552700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开源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MIT ·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零外部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SPICE/EDA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引擎（自研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纯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numpy/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标准库）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85800" y="296227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版图与签核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962150" y="296227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商业版图工具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代工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PDK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238750" y="2962275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自研电子版图层栈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几何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DRC/LVS + GDSII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编码器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+ AREF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层次化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85800" y="33718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判决路径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962150" y="337185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实测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数值仿真混合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238750" y="3371850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→ LLM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不进判决路径（死标量比对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闭式物理律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 golden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85800" y="378142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能效口径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962150" y="37814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有实测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宣称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TOPS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W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238750" y="3781425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不报能效</a:t>
            </a:r>
            <a:r>
              <a:rPr lang="en-US" sz="1125">
                <a:solidFill>
                  <a:srgbClr val="2563E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2563EB"/>
                </a:solidFill>
                <a:latin typeface="Microsoft YaHei"/>
                <a:ea typeface="Microsoft YaHei"/>
              </a:rPr>
              <a:t>吞吐（口径不同，不可比数）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85800" y="4457700"/>
            <a:ext cx="10820400" cy="1019175"/>
          </a:xfrm>
          <a:prstGeom prst="roundRect">
            <a:avLst>
              <a:gd name="adj" fmla="val 11215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95350" y="4591050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公开</a:t>
            </a:r>
            <a:r>
              <a:rPr lang="en-US" sz="1050">
                <a:solidFill>
                  <a:srgbClr val="9FB3CC"/>
                </a:solidFill>
                <a:latin typeface="Microsoft YaHei"/>
                <a:ea typeface="Microsoft YaHei"/>
              </a:rPr>
              <a:t xml:space="preserve"> landmark</a:t>
            </a: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9FB3CC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级公开来源</a:t>
            </a:r>
            <a:r>
              <a:rPr lang="en-US" sz="1050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照录</a:t>
            </a:r>
            <a:r>
              <a:rPr lang="en-US" sz="1050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未验证</a:t>
            </a:r>
            <a:r>
              <a:rPr lang="en-US" sz="1050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仅背景坐标</a:t>
            </a:r>
            <a:r>
              <a:rPr lang="en-US" sz="1050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FB3CC"/>
                </a:solidFill>
                <a:latin typeface="Microsoft YaHei"/>
                <a:ea typeface="Microsoft YaHei"/>
              </a:rPr>
              <a:t>不同台比较）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95350" y="4829175"/>
            <a:ext cx="10401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7"/>
                </a:solidFill>
                <a:latin typeface="Microsoft YaHei"/>
                <a:ea typeface="Microsoft YaHei"/>
              </a:rPr>
              <a:t>Mythic M1076 AMP</a:t>
            </a:r>
            <a:r>
              <a:rPr lang="zh-CN" sz="1125">
                <a:solidFill>
                  <a:srgbClr val="E8EEF7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E8EEF7"/>
                </a:solidFill>
                <a:latin typeface="Microsoft YaHei"/>
                <a:ea typeface="Microsoft YaHei"/>
              </a:rPr>
              <a:t>analog compute-in-memory MVM</a:t>
            </a:r>
            <a:r>
              <a:rPr lang="zh-CN" sz="1125">
                <a:solidFill>
                  <a:srgbClr val="E8EEF7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E8EEF7"/>
                </a:solidFill>
                <a:latin typeface="Microsoft YaHei"/>
                <a:ea typeface="Microsoft YaHei"/>
              </a:rPr>
              <a:t>flash array + on-die ADC</a:t>
            </a:r>
            <a:r>
              <a:rPr lang="zh-CN" sz="1125">
                <a:solidFill>
                  <a:srgbClr val="E8EEF7"/>
                </a:solidFill>
                <a:latin typeface="Microsoft YaHei"/>
                <a:ea typeface="Microsoft YaHei"/>
              </a:rPr>
              <a:t>）·</a:t>
            </a:r>
            <a:r>
              <a:rPr lang="en-US" sz="1125">
                <a:solidFill>
                  <a:srgbClr val="E8EEF7"/>
                </a:solidFill>
                <a:latin typeface="Microsoft YaHei"/>
                <a:ea typeface="Microsoft YaHei"/>
              </a:rPr>
              <a:t xml:space="preserve"> up to 25 TOPS · typ. 3–4 W · 76 AMP tiles · 80M weights · INT4/INT8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85800" y="5895975"/>
            <a:ext cx="10820400" cy="361950"/>
          </a:xfrm>
          <a:custGeom>
            <a:pathLst>
              <a:path w="1136" h="38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85800" y="6057900"/>
            <a:ext cx="426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电子计算芯片（电子征程「吃狗粮」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E1–E9 + E10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收官）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915650" y="60579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05 / 06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61" name="" descr="&lt;Slide style={{ width: 1280, height: 720, background: '#0A1120', padding: '64px 72px', flexDirection: 'column', justifyContent: 'space-between' }}&gt;&#13;&#10;    &lt;Box style={{ flexDirection: 'column', gap: 14 }}&gt;&#13;&#10;        &lt;Text style={{ fontSize: 44, fontWeight: 'bold', color: '#E8EEF7' }}&gt;收尾 · 电子征程 E1–E9 全链 + E10 收官&lt;/Text&gt;&#13;&#10;        &lt;Text style={{ fontSize: 22, color: '#9FB3CC', lineHeight: 1.6 }}&gt;从「平台无晶体管级模型、无电路仿真器、无版图链」&lt;/Text&gt;&#13;&#10;        &lt;Text style={{ fontSize: 24, fontWeight: 'bold', color: '#2563EB', lineHeight: 1.5 }}&gt;到「能设计 → 签核 → 后仿 → 标定 → 规模压测的完整电子芯片设计链」&lt;/Text&gt;&#13;&#10;    &lt;/Box&gt;&#13;&#10;    &lt;Box style={{ flexDirection: 'row', gap: 16, alignItems: 'stretch' }}&gt;&#13;&#10;            &lt;Box style={{ background: 'rgba(255,255,255,0.05)', borderRadius: 12, padding: '16px 22px', flexDirection: 'column', gap: 6, flex: 1 }}&gt;&#13;&#10;                &lt;Text style={{ fontSize: 19, fontWeight: 'bold', color: '#2563EB' }}&gt;四条路线已吃狗粮&lt;/Text&gt;&#13;&#10;                &lt;Text style={{ fontSize: 15, color: '#9FB3CC', lineHeight: 1.5 }}&gt;光子计算 M1–M5 · 光量子 LOQC · 超导 transmon S1–S5 · 电子计算 E1–E9（首次直出真 GDS）&lt;/Text&gt;&#13;&#10;            &lt;/Box&gt;&#13;&#10;            &lt;Box style={{ background: 'rgba(255,255,255,0.05)', borderRadius: 12, padding: '16px 22px', flexDirection: 'column', gap: 6, flex: 1 }}&gt;&#13;&#10;                &lt;Text style={{ fontSize: 19, fontWeight: 'bold', color: '#2563EB' }}&gt;能力已硬化&lt;/Text&gt;&#13;&#10;                &lt;Text style={{ fontSize: 15, color: '#9FB3CC', lineHeight: 1.5 }}&gt;ecore 能力清单（11 条 · 单一真源）+ 双向完备守护门禁（scope 扩至 e1~e10）⇒ 能力面不再静默失守&lt;/Text&gt;&#13;&#10;            &lt;/Box&gt;&#13;&#10;            &lt;Box style={{ background: 'rgba(255,255,255,0.05)', borderRadius: 12, padding: '16px 22px', flexDirection: 'column', gap: 6, flex: 1 }}&gt;&#13;&#10;                &lt;Text style={{ fontSize: 19, fontWeight: 'bold', color: '#2563EB' }}&gt;对外可验货&lt;/Text&gt;&#13;&#10;                &lt;Text style={{ fontSize: 15, color: '#9FB3CC', lineHeight: 1.5 }}&gt;WebUI 只读案例卡 GET /api/ecore_demo（免登录 · 零重计算 · 九段 + 四块能力面 + 9 条诚实边界）&lt;/Text&gt;&#13;&#10;            &lt;/Box&gt;&#13;&#10;    &lt;/Box&gt;&#13;&#10;    &lt;Box style={{ flexDirection: 'column', gap: 8, background: 'rgba(255,255,255,0.05)', borderRadius: 12, padding: '14px 22px' }}&gt;&#13;&#10;        &lt;Text style={{ fontSize: 16, fontWeight: 'bold', color: '#E8EEF7' }}&gt;诚实边界&lt;/Text&gt;&#13;&#10;        &lt;Text style={{ fontSize: 15, color: '#9FB3CC', lineHeight: 1.5 }}&gt;设计期验证 · 非流片实测 · 工艺参数为公开典型量级（非 PDK）· 几何判据 bbox 级 · 寄生一阶闭式 · 规模模型 1D 行线 · 不报 fabricated 能效 · landmark 仅背景坐标&lt;/Text&gt;&#13;&#10;    &lt;/Box&gt;&#13;&#10;    &lt;Box style={{ flexDirection: 'row', alignItems: 'center', justifyContent: 'space-between', borderTop: '1px solid rgba(159,179,204,0.25)', paddingTop: 16 }}&gt;&#13;&#10;        &lt;Text style={{ fontSize: 16, color: '#9FB3CC' }}&gt;LDA · 开源 Agent-native 光 / 量 / 电子 EDA（MIT）· 电子计算征程 E1–E10（D-150…D-160）&lt;/Text&gt;&#13;&#10;        &lt;Text style={{ fontSize: 16, color: '#9FB3CC', fontFamily: 'Consolas' }}&gt;06 / 0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1120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5800" y="609600"/>
            <a:ext cx="10820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收尾</a:t>
            </a:r>
            <a:r>
              <a:rPr lang="en-US" sz="33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电子征程</a:t>
            </a:r>
            <a:r>
              <a:rPr lang="en-US" sz="33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E1–E9 </a:t>
            </a: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全链</a:t>
            </a:r>
            <a:r>
              <a:rPr lang="en-US" sz="3300" b="1">
                <a:solidFill>
                  <a:srgbClr val="E8EEF7"/>
                </a:solidFill>
                <a:latin typeface="Microsoft YaHei"/>
                <a:ea typeface="Microsoft YaHei"/>
              </a:rPr>
              <a:t xml:space="preserve"> + E10 </a:t>
            </a:r>
            <a:r>
              <a:rPr lang="zh-CN" sz="3300" b="1">
                <a:solidFill>
                  <a:srgbClr val="E8EEF7"/>
                </a:solidFill>
                <a:latin typeface="Microsoft YaHei"/>
                <a:ea typeface="Microsoft YaHei"/>
              </a:rPr>
              <a:t>收官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1247775"/>
            <a:ext cx="108204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9FB3CC"/>
                </a:solidFill>
                <a:latin typeface="Microsoft YaHei"/>
                <a:ea typeface="Microsoft YaHei"/>
              </a:rPr>
              <a:t>从「平台无晶体管级模型、无电路仿真器、无版图链」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179070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到「能设计</a:t>
            </a:r>
            <a:r>
              <a:rPr lang="en-US" sz="18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签核</a:t>
            </a:r>
            <a:r>
              <a:rPr lang="en-US" sz="18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后仿</a:t>
            </a:r>
            <a:r>
              <a:rPr lang="en-US" sz="18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标定</a:t>
            </a:r>
            <a:r>
              <a:rPr lang="en-US" sz="1800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800" b="1">
                <a:solidFill>
                  <a:srgbClr val="2563EB"/>
                </a:solidFill>
                <a:latin typeface="Microsoft YaHei"/>
                <a:ea typeface="Microsoft YaHei"/>
              </a:rPr>
              <a:t>规模压测的完整电子芯片设计链」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85800" y="2638425"/>
            <a:ext cx="3505200" cy="1352550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95350" y="2790825"/>
            <a:ext cx="3086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四条路线已吃狗粮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95350" y="3067050"/>
            <a:ext cx="30861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光子计算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M1–M5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光量子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LOQC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超导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transmon S1–S5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电子计算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E1–E9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（首次直出真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GDS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4343400" y="2638425"/>
            <a:ext cx="3505200" cy="1352550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552950" y="2790825"/>
            <a:ext cx="3086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能力已硬化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552950" y="3067050"/>
            <a:ext cx="30861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ecore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能力清单（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11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条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单一真源）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双向完备守护门禁（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scope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扩至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e1~e10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）⇒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能力面不再静默失守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001000" y="2638425"/>
            <a:ext cx="3505200" cy="1352550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210550" y="2790825"/>
            <a:ext cx="3086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Microsoft YaHei"/>
                <a:ea typeface="Microsoft YaHei"/>
              </a:rPr>
              <a:t>对外可验货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210550" y="3067050"/>
            <a:ext cx="30861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WebUI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只读案例卡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GET /api/ecore_demo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（免登录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零重计算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九段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四块能力面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+ 9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条诚实边界）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4419600"/>
            <a:ext cx="10820400" cy="1047750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95350" y="4552950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7"/>
                </a:solidFill>
                <a:latin typeface="Microsoft YaHei"/>
                <a:ea typeface="Microsoft YaHei"/>
              </a:rPr>
              <a:t>诚实边界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95350" y="4819650"/>
            <a:ext cx="10401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设计期验证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非流片实测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工艺参数为公开典型量级（非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PDK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）·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几何判据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bbox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级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寄生一阶闭式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规模模型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1D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行线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不报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fabricated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能效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 xml:space="preserve"> · landmark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仅背景坐标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85800" y="5895975"/>
            <a:ext cx="10820400" cy="361950"/>
          </a:xfrm>
          <a:custGeom>
            <a:pathLst>
              <a:path w="1136" h="38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9FB3CC">
              <a:alpha val="25000"/>
            </a:srgbClr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85800" y="6057900"/>
            <a:ext cx="6505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LDA ·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开源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Agent-native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光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量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电子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EDA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MIT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）·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电子计算征程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 xml:space="preserve"> E1–E10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D-150…D-160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915650" y="6057900"/>
            <a:ext cx="59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B3CC"/>
                </a:solidFill>
                <a:latin typeface="Consolas"/>
                <a:ea typeface="Consolas"/>
              </a:rPr>
              <a:t>06 / 06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2026-09-30T21:35:17Z</dcterms:created>
  <dcterms:modified xsi:type="dcterms:W3CDTF">2026-09-30T21:35:17Z</dcterms:modified>
</cp:coreProperties>
</file>