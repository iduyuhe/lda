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slideMasters/slideMaster1.xml" ContentType="application/vnd.openxmlformats-officedocument.presentationml.slideMaster+xml"/>
  <Override PartName="/ppt/viewProps.xml" ContentType="application/vnd.openxmlformats-officedocument.presentationml.viewProps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7"/>
  </p:notesMasterIdLst>
  <p:sldIdLst>
    <p:sldId id="256" r:id="rId1"/>
    <p:sldId id="257" r:id="rId2"/>
    <p:sldId id="258" r:id="rId3"/>
    <p:sldId id="259" r:id="rId4"/>
    <p:sldId id="260" r:id="rId5"/>
    <p:sldId id="261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 /><Relationship Id="rId0" Type="http://schemas.openxmlformats.org/officeDocument/2006/relationships/slideMaster" Target="slideMasters/slideMaster1.xml" /><Relationship Id="rId10" Type="http://schemas.openxmlformats.org/officeDocument/2006/relationships/viewProps" Target="viewProps.xml" /><Relationship Id="rId4" Type="http://schemas.openxmlformats.org/officeDocument/2006/relationships/slide" Target="slides/slide4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notesMaster" Target="notesMasters/notesMaster1.xml" /><Relationship Id="rId8" Type="http://schemas.openxmlformats.org/officeDocument/2006/relationships/presProps" Target="presProps.xml" /><Relationship Id="rId9" Type="http://schemas.openxmlformats.org/officeDocument/2006/relationships/tableStyles" Target="tableStyles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 width: 1280, height: 720, background: '#0A1120', padding: '64px 72px', flexDirection: 'column', justifyContent: 'space-between' }}&gt;&#10;    &lt;Box style={{ flexDirection: 'row', alignItems: 'center', justifyContent: 'space-between', height: 470 }}&gt;&#10;        &lt;Box style={{ flexDirection: 'column', gap: 18, width: 620 }}&gt;&#10;            &lt;Box style={{ flexDirection: 'row', alignItems: 'center', gap: 14 }}&gt;&#10;                &lt;Box style={{ width: 6, height: 32, background: '#2563EB', borderRadius: 3 }} /&gt;&#10;                &lt;Text style={{ fontSize: 19, color: '#9FB3CC' }}&gt;LDA · 开源 Agent 原生光 / 量 / 电子芯片设计软件&lt;/Text&gt;&#10;            &lt;/Box&gt;&#10;            &lt;Text style={{ fontSize: 62, fontWeight: 'bold', color: '#E8EEF7', lineHeight: 1.12 }}&gt;LDA 电子计算芯片&lt;/Text&gt;&#10;            &lt;Text style={{ fontSize: 30, fontWeight: 'bold', color: '#2563EB' }}&gt;模拟计算核 · MVM 交叉阵列&lt;/Text&gt;&#10;            &lt;Text style={{ fontSize: 20, color: '#9FB3CC', lineHeight: 1.7 }}&gt;电子版的「光子 MZI 网格」：行电压 × 交叉点电导 → 列电流求和 → TIA 转电压。用 LDA 亲手设计，从晶体管级模型一路走到完整模拟计算数据通路。吃狗粮第三征程。&lt;/Text&gt;&#10;        &lt;/Box&gt;&#10;        &lt;Box style={{ flexDirection: 'column', gap: 16 }}&gt;&#10;            &lt;Box style={{ background: 'rgba(255,255,255,0.05)', borderRadius: 12, padding: '16px 26px', width: 430, flexDirection: 'column', gap: 4 }}&gt;&#10;                &lt;Text style={{ fontSize: 68, fontWeight: 'bold', color: '#2563EB', fontFamily: 'Consolas' }}&gt;65,536&lt;/Text&gt;&#10;                &lt;Text style={{ fontSize: 16, color: '#9FB3CC' }}&gt;交叉点（256×256 突触）容量&lt;/Text&gt;&#10;            &lt;/Box&gt;&#10;            &lt;Box style={{ background: 'rgba(255,255,255,0.05)', borderRadius: 12, padding: '16px 26px', width: 430, flexDirection: 'column', gap: 4 }}&gt;&#10;                &lt;Text style={{ fontSize: 68, fontWeight: 'bold', color: '#2563EB', fontFamily: 'Consolas' }}&gt;0.0122&lt;/Text&gt;&#10;                &lt;Text style={{ fontSize: 16, color: '#9FB3CC' }}&gt;数据通路单层 8bit 误差&lt;/Text&gt;&#10;            &lt;/Box&gt;&#10;            &lt;Box style={{ background: 'rgba(255,255,255,0.05)', borderRadius: 12, padding: '16px 26px', width: 430, flexDirection: 'column', gap: 4 }}&gt;&#10;                &lt;Text style={{ fontSize: 40, fontWeight: 'bold', color: '#2563EB', fontFamily: 'Consolas' }}&gt;28&lt;/Text&gt;&#10;                &lt;Text style={{ fontSize: 16, color: '#9FB3CC' }}&gt;门禁判据（+ 5 道常驻门禁）&lt;/Text&gt;&#10;            &lt;/Box&gt;&#10;        &lt;/Box&gt;&#10;    &lt;/Box&gt;&#10;    &lt;Box style={{ flexDirection: 'row', alignItems: 'center', justifyContent: 'space-between', borderTop: '1px solid rgba(159,179,204,0.25)', paddingTop: 16 }}&gt;&#10;        &lt;Text style={{ fontSize: 16, color: '#9FB3CC' }}&gt;LDA · 电子计算芯片（电子征程「吃狗粮」E1–E5）&lt;/Text&gt;&#10;        &lt;Text style={{ fontSize: 16, color: '#9FB3CC', fontFamily: 'Consolas' }}&gt;01 / 0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A1120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685800" y="1285875"/>
            <a:ext cx="57150" cy="3048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876300" y="1333500"/>
            <a:ext cx="40481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9FB3CC"/>
                </a:solidFill>
                <a:latin typeface="Microsoft YaHei"/>
                <a:ea typeface="Microsoft YaHei"/>
              </a:rPr>
              <a:t xml:space="preserve">LDA · </a:t>
            </a:r>
            <a:r>
              <a:rPr lang="zh-CN" sz="1425">
                <a:solidFill>
                  <a:srgbClr val="9FB3CC"/>
                </a:solidFill>
                <a:latin typeface="Microsoft YaHei"/>
                <a:ea typeface="Microsoft YaHei"/>
              </a:rPr>
              <a:t>开源</a:t>
            </a:r>
            <a:r>
              <a:rPr lang="en-US" sz="1425">
                <a:solidFill>
                  <a:srgbClr val="9FB3CC"/>
                </a:solidFill>
                <a:latin typeface="Microsoft YaHei"/>
                <a:ea typeface="Microsoft YaHei"/>
              </a:rPr>
              <a:t xml:space="preserve"> Agent </a:t>
            </a:r>
            <a:r>
              <a:rPr lang="zh-CN" sz="1425">
                <a:solidFill>
                  <a:srgbClr val="9FB3CC"/>
                </a:solidFill>
                <a:latin typeface="Microsoft YaHei"/>
                <a:ea typeface="Microsoft YaHei"/>
              </a:rPr>
              <a:t>原生光</a:t>
            </a:r>
            <a:r>
              <a:rPr lang="en-US" sz="1425">
                <a:solidFill>
                  <a:srgbClr val="9FB3CC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425">
                <a:solidFill>
                  <a:srgbClr val="9FB3CC"/>
                </a:solidFill>
                <a:latin typeface="Microsoft YaHei"/>
                <a:ea typeface="Microsoft YaHei"/>
              </a:rPr>
              <a:t>量</a:t>
            </a:r>
            <a:r>
              <a:rPr lang="en-US" sz="1425">
                <a:solidFill>
                  <a:srgbClr val="9FB3CC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425">
                <a:solidFill>
                  <a:srgbClr val="9FB3CC"/>
                </a:solidFill>
                <a:latin typeface="Microsoft YaHei"/>
                <a:ea typeface="Microsoft YaHei"/>
              </a:rPr>
              <a:t>电子芯片设计软件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85800" y="1762125"/>
            <a:ext cx="5905500" cy="800100"/>
          </a:xfrm>
          <a:prstGeom prst="rect"/>
        </p:spPr>
        <p:txBody>
          <a:bodyPr wrap="none" lIns="0" tIns="0" rIns="0" bIns="0"/>
          <a:p>
            <a:pPr>
              <a:lnSpc>
                <a:spcPct val="112000"/>
              </a:lnSpc>
            </a:pPr>
            <a:r>
              <a:rPr lang="en-US" sz="465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LDA </a:t>
            </a:r>
            <a:r>
              <a:rPr lang="zh-CN" sz="4650" b="1">
                <a:solidFill>
                  <a:srgbClr val="E8EEF7"/>
                </a:solidFill>
                <a:latin typeface="Microsoft YaHei"/>
                <a:ea typeface="Microsoft YaHei"/>
              </a:rPr>
              <a:t>电子计算芯片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685800" y="2733675"/>
            <a:ext cx="5905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2563EB"/>
                </a:solidFill>
                <a:latin typeface="Microsoft YaHei"/>
                <a:ea typeface="Microsoft YaHei"/>
              </a:rPr>
              <a:t>模拟计算核</a:t>
            </a:r>
            <a:r>
              <a:rPr lang="en-US" sz="2250" b="1">
                <a:solidFill>
                  <a:srgbClr val="2563EB"/>
                </a:solidFill>
                <a:latin typeface="Microsoft YaHei"/>
                <a:ea typeface="Microsoft YaHei"/>
              </a:rPr>
              <a:t xml:space="preserve"> · MVM </a:t>
            </a:r>
            <a:r>
              <a:rPr lang="zh-CN" sz="2250" b="1">
                <a:solidFill>
                  <a:srgbClr val="2563EB"/>
                </a:solidFill>
                <a:latin typeface="Microsoft YaHei"/>
                <a:ea typeface="Microsoft YaHei"/>
              </a:rPr>
              <a:t>交叉阵列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85800" y="3248025"/>
            <a:ext cx="5905500" cy="1171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500">
                <a:solidFill>
                  <a:srgbClr val="9FB3CC"/>
                </a:solidFill>
                <a:latin typeface="Microsoft YaHei"/>
                <a:ea typeface="Microsoft YaHei"/>
              </a:rPr>
              <a:t>电子版的「光子</a:t>
            </a:r>
            <a:r>
              <a:rPr lang="en-US" sz="1500">
                <a:solidFill>
                  <a:srgbClr val="9FB3CC"/>
                </a:solidFill>
                <a:latin typeface="Microsoft YaHei"/>
                <a:ea typeface="Microsoft YaHei"/>
              </a:rPr>
              <a:t xml:space="preserve"> MZI </a:t>
            </a:r>
            <a:r>
              <a:rPr lang="zh-CN" sz="1500">
                <a:solidFill>
                  <a:srgbClr val="9FB3CC"/>
                </a:solidFill>
                <a:latin typeface="Microsoft YaHei"/>
                <a:ea typeface="Microsoft YaHei"/>
              </a:rPr>
              <a:t>网格」：行电压</a:t>
            </a:r>
            <a:r>
              <a:rPr lang="en-US" sz="1500">
                <a:solidFill>
                  <a:srgbClr val="9FB3CC"/>
                </a:solidFill>
                <a:latin typeface="Microsoft YaHei"/>
                <a:ea typeface="Microsoft YaHei"/>
              </a:rPr>
              <a:t xml:space="preserve"> × </a:t>
            </a:r>
            <a:r>
              <a:rPr lang="zh-CN" sz="1500">
                <a:solidFill>
                  <a:srgbClr val="9FB3CC"/>
                </a:solidFill>
                <a:latin typeface="Microsoft YaHei"/>
                <a:ea typeface="Microsoft YaHei"/>
              </a:rPr>
              <a:t>交叉点电导</a:t>
            </a:r>
            <a:r>
              <a:rPr lang="en-US" sz="1500">
                <a:solidFill>
                  <a:srgbClr val="9FB3CC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500">
                <a:solidFill>
                  <a:srgbClr val="9FB3CC"/>
                </a:solidFill>
                <a:latin typeface="Microsoft YaHei"/>
                <a:ea typeface="Microsoft YaHei"/>
              </a:rPr>
              <a:t>列电流求和</a:t>
            </a:r>
            <a:r>
              <a:rPr lang="en-US" sz="1500">
                <a:solidFill>
                  <a:srgbClr val="9FB3CC"/>
                </a:solidFill>
                <a:latin typeface="Microsoft YaHei"/>
                <a:ea typeface="Microsoft YaHei"/>
              </a:rPr>
              <a:t xml:space="preserve"> → TIA </a:t>
            </a:r>
            <a:r>
              <a:rPr lang="zh-CN" sz="1500">
                <a:solidFill>
                  <a:srgbClr val="9FB3CC"/>
                </a:solidFill>
                <a:latin typeface="Microsoft YaHei"/>
                <a:ea typeface="Microsoft YaHei"/>
              </a:rPr>
              <a:t>转电压。用</a:t>
            </a:r>
            <a:r>
              <a:rPr lang="en-US" sz="1500">
                <a:solidFill>
                  <a:srgbClr val="9FB3CC"/>
                </a:solidFill>
                <a:latin typeface="Microsoft YaHei"/>
                <a:ea typeface="Microsoft YaHei"/>
              </a:rPr>
              <a:t xml:space="preserve"> LDA </a:t>
            </a:r>
            <a:r>
              <a:rPr lang="zh-CN" sz="1500">
                <a:solidFill>
                  <a:srgbClr val="9FB3CC"/>
                </a:solidFill>
                <a:latin typeface="Microsoft YaHei"/>
                <a:ea typeface="Microsoft YaHei"/>
              </a:rPr>
              <a:t>亲手设计，从晶体管级模型一路走到完整模拟计算数据通路。吃狗粮第三征程。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7410450" y="885825"/>
            <a:ext cx="4095750" cy="1314450"/>
          </a:xfrm>
          <a:prstGeom prst="roundRect">
            <a:avLst>
              <a:gd name="adj" fmla="val 869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58100" y="1038225"/>
            <a:ext cx="3600450" cy="7810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100" b="1">
                <a:solidFill>
                  <a:srgbClr val="2563EB"/>
                </a:solidFill>
                <a:latin typeface="Consolas"/>
                <a:ea typeface="Consolas"/>
              </a:rPr>
              <a:t>65,536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7658100" y="1857375"/>
            <a:ext cx="3600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交叉点（</a:t>
            </a:r>
            <a:r>
              <a:rPr lang="en-US" sz="1200">
                <a:solidFill>
                  <a:srgbClr val="9FB3CC"/>
                </a:solidFill>
                <a:latin typeface="Microsoft YaHei"/>
                <a:ea typeface="Microsoft YaHei"/>
              </a:rPr>
              <a:t xml:space="preserve">256×256 </a:t>
            </a: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突触）容量</a:t>
            </a:r>
            <a:endParaRPr/>
          </a:p>
        </p:txBody>
      </p:sp>
      <p:sp>
        <p:nvSpPr>
          <p:cNvPr id="11" name=""/>
          <p:cNvSpPr/>
          <p:nvPr/>
        </p:nvSpPr>
        <p:spPr>
          <a:xfrm rot="0" flipH="0" flipV="0">
            <a:off x="7410450" y="2352675"/>
            <a:ext cx="4095750" cy="1314450"/>
          </a:xfrm>
          <a:prstGeom prst="roundRect">
            <a:avLst>
              <a:gd name="adj" fmla="val 869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658100" y="2505075"/>
            <a:ext cx="3600450" cy="7810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100" b="1">
                <a:solidFill>
                  <a:srgbClr val="2563EB"/>
                </a:solidFill>
                <a:latin typeface="Consolas"/>
                <a:ea typeface="Consolas"/>
              </a:rPr>
              <a:t>0.0122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7658100" y="3324225"/>
            <a:ext cx="3600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数据通路单层</a:t>
            </a:r>
            <a:r>
              <a:rPr lang="en-US" sz="1200">
                <a:solidFill>
                  <a:srgbClr val="9FB3CC"/>
                </a:solidFill>
                <a:latin typeface="Microsoft YaHei"/>
                <a:ea typeface="Microsoft YaHei"/>
              </a:rPr>
              <a:t xml:space="preserve"> 8bit </a:t>
            </a: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误差</a:t>
            </a:r>
            <a:endParaRPr/>
          </a:p>
        </p:txBody>
      </p:sp>
      <p:sp>
        <p:nvSpPr>
          <p:cNvPr id="14" name=""/>
          <p:cNvSpPr/>
          <p:nvPr/>
        </p:nvSpPr>
        <p:spPr>
          <a:xfrm rot="0" flipH="0" flipV="0">
            <a:off x="7410450" y="3819525"/>
            <a:ext cx="4095750" cy="990600"/>
          </a:xfrm>
          <a:prstGeom prst="roundRect">
            <a:avLst>
              <a:gd name="adj" fmla="val 11538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7658100" y="3971925"/>
            <a:ext cx="36004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2563EB"/>
                </a:solidFill>
                <a:latin typeface="Consolas"/>
                <a:ea typeface="Consolas"/>
              </a:rPr>
              <a:t>28</a:t>
            </a:r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7658100" y="4467225"/>
            <a:ext cx="3600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门禁判据（</a:t>
            </a:r>
            <a:r>
              <a:rPr lang="en-US" sz="1200">
                <a:solidFill>
                  <a:srgbClr val="9FB3CC"/>
                </a:solidFill>
                <a:latin typeface="Microsoft YaHei"/>
                <a:ea typeface="Microsoft YaHei"/>
              </a:rPr>
              <a:t xml:space="preserve">+ 5 </a:t>
            </a: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道常驻门禁）</a:t>
            </a:r>
            <a:endParaRPr/>
          </a:p>
        </p:txBody>
      </p:sp>
      <p:sp>
        <p:nvSpPr>
          <p:cNvPr id="17" name=""/>
          <p:cNvSpPr/>
          <p:nvPr/>
        </p:nvSpPr>
        <p:spPr>
          <a:xfrm rot="0" flipH="0" flipV="0">
            <a:off x="685800" y="5895975"/>
            <a:ext cx="10820400" cy="361950"/>
          </a:xfrm>
          <a:custGeom>
            <a:pathLst>
              <a:path w="1136" h="38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9FB3CC">
              <a:alpha val="25000"/>
            </a:srgbClr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685800" y="6057900"/>
            <a:ext cx="34480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FB3CC"/>
                </a:solidFill>
                <a:latin typeface="Microsoft YaHei"/>
                <a:ea typeface="Microsoft YaHei"/>
              </a:rPr>
              <a:t xml:space="preserve">LDA · </a:t>
            </a: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电子计算芯片（电子征程「吃狗粮」</a:t>
            </a:r>
            <a:r>
              <a:rPr lang="en-US" sz="1200">
                <a:solidFill>
                  <a:srgbClr val="9FB3CC"/>
                </a:solidFill>
                <a:latin typeface="Microsoft YaHei"/>
                <a:ea typeface="Microsoft YaHei"/>
              </a:rPr>
              <a:t>E1–E5</a:t>
            </a: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0915650" y="6057900"/>
            <a:ext cx="5905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FB3CC"/>
                </a:solidFill>
                <a:latin typeface="Consolas"/>
                <a:ea typeface="Consolas"/>
              </a:rPr>
              <a:t>01 / 06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20" name="" descr="&lt;Slide style={{ width: 1280, height: 720, background: '#0A1120', padding: '64px 72px', flexDirection: 'column' }}&gt;&#10;    &lt;Box style={{ flexDirection: 'column', gap: 12, marginBottom: 26 }}&gt;&#10;        &lt;Text style={{ fontSize: 16, color: '#2563EB', fontWeight: 'bold' }}&gt;吃狗粮 · 逼出并补齐平台四块真短板&lt;/Text&gt;&#10;        &lt;Text style={{ fontSize: 40, fontWeight: 'bold', color: '#E8EEF7' }}&gt;客户使用前，我们自己先使用并检验&lt;/Text&gt;&#10;        &lt;Text style={{ fontSize: 18, color: '#9FB3CC' }}&gt;此前 LDA 电子域只到行为级——本征程新增 lda/lda_l2/ecore/ 包（7 模块）逐一补齐。&lt;/Text&gt;&#10;    &lt;/Box&gt;&#10;    &lt;Box style={{ flexDirection: 'row', gap: 16 }}&gt;&#10;        &lt;Box style={{ flexDirection: 'column', background: 'rgba(255,255,255,0.05)', borderRadius: 12, padding: '20px 20px', width: 262, gap: 8 }}&gt;&#10;            &lt;Text style={{ fontSize: 34, fontWeight: 'bold', color: '#2563EB', fontFamily: 'Consolas' }}&gt;1&lt;/Text&gt;&#10;            &lt;Text style={{ fontSize: 19, fontWeight: 'bold', color: '#E8EEF7' }}&gt;无晶体管级模型&lt;/Text&gt;&#10;            &lt;Text style={{ fontSize: 15, color: '#9FB3CC', lineHeight: 1.6 }}&gt;新增长沟道平方律 NMOS（三区 + gm/gds 解析）。D-150&lt;/Text&gt;&#10;        &lt;/Box&gt;&#10;        &lt;Box style={{ flexDirection: 'column', background: 'rgba(255,255,255,0.05)', borderRadius: 12, padding: '20px 20px', width: 262, gap: 8 }}&gt;&#10;            &lt;Text style={{ fontSize: 34, fontWeight: 'bold', color: '#2563EB', fontFamily: 'Consolas' }}&gt;2&lt;/Text&gt;&#10;            &lt;Text style={{ fontSize: 19, fontWeight: 'bold', color: '#E8EEF7' }}&gt;无电路仿真器&lt;/Text&gt;&#10;            &lt;Text style={{ fontSize: 15, color: '#9FB3CC', lineHeight: 1.6 }}&gt;新增 MNA 求解器（DC 牛顿 / 瞬态后向欧拉 / AC 复数）。D-150&lt;/Text&gt;&#10;        &lt;/Box&gt;&#10;        &lt;Box style={{ flexDirection: 'column', background: 'rgba(255,255,255,0.05)', borderRadius: 12, padding: '20px 20px', width: 262, gap: 8 }}&gt;&#10;            &lt;Text style={{ fontSize: 34, fontWeight: 'bold', color: '#2563EB', fontFamily: 'Consolas' }}&gt;3&lt;/Text&gt;&#10;            &lt;Text style={{ fontSize: 19, fontWeight: 'bold', color: '#E8EEF7' }}&gt;无模拟计算原语&lt;/Text&gt;&#10;            &lt;Text style={{ fontSize: 15, color: '#9FB3CC', lineHeight: 1.6 }}&gt;新增参数化 N×M MVM 阵列 + 数据通路（DAC→阵列→ADC）。D-151/152&lt;/Text&gt;&#10;        &lt;/Box&gt;&#10;        &lt;Box style={{ flexDirection: 'column', background: 'rgba(255,255,255,0.05)', borderRadius: 12, padding: '20px 20px', width: 262, gap: 8 }}&gt;&#10;            &lt;Text style={{ fontSize: 34, fontWeight: 'bold', color: '#2563EB', fontFamily: 'Consolas' }}&gt;4&lt;/Text&gt;&#10;            &lt;Text style={{ fontSize: 19, fontWeight: 'bold', color: '#E8EEF7' }}&gt;无规模定标与诚实护栏&lt;/Text&gt;&#10;            &lt;Text style={{ fontSize: 15, color: '#9FB3CC', lineHeight: 1.6 }}&gt;新增层输出定标 + 诚实边界机器化护栏 + 能力清单。D-153/154&lt;/Text&gt;&#10;        &lt;/Box&gt;&#10;    &lt;/Box&gt;&#10;    &lt;Box style={{ flexDirection: 'row', alignItems: 'center', justifyContent: 'space-between', borderTop: '1px solid rgba(159,179,204,0.25)', paddingTop: 16, marginTop: 26 }}&gt;&#10;        &lt;Text style={{ fontSize: 16, color: '#9FB3CC' }}&gt;LDA · 电子计算芯片（电子征程「吃狗粮」E1–E5）&lt;/Text&gt;&#10;        &lt;Text style={{ fontSize: 16, color: '#9FB3CC', fontFamily: 'Consolas' }}&gt;02 / 0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A1120"/>
          </a:solidFill>
          <a:ln/>
        </p:spPr>
        <p:txBody>
          <a:bodyPr/>
          <a:p/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685800" y="609600"/>
            <a:ext cx="10820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2563EB"/>
                </a:solidFill>
                <a:latin typeface="Microsoft YaHei"/>
                <a:ea typeface="Microsoft YaHei"/>
              </a:rPr>
              <a:t>吃狗粮</a:t>
            </a:r>
            <a:r>
              <a:rPr lang="en-US" sz="1200" b="1">
                <a:solidFill>
                  <a:srgbClr val="2563EB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 b="1">
                <a:solidFill>
                  <a:srgbClr val="2563EB"/>
                </a:solidFill>
                <a:latin typeface="Microsoft YaHei"/>
                <a:ea typeface="Microsoft YaHei"/>
              </a:rPr>
              <a:t>逼出并补齐平台四块真短板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685800" y="914400"/>
            <a:ext cx="108204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客户使用前，我们自己先使用并检验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685800" y="1485900"/>
            <a:ext cx="10820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9FB3CC"/>
                </a:solidFill>
                <a:latin typeface="Microsoft YaHei"/>
                <a:ea typeface="Microsoft YaHei"/>
              </a:rPr>
              <a:t>此前</a:t>
            </a:r>
            <a:r>
              <a:rPr lang="en-US" sz="1350">
                <a:solidFill>
                  <a:srgbClr val="9FB3CC"/>
                </a:solidFill>
                <a:latin typeface="Microsoft YaHei"/>
                <a:ea typeface="Microsoft YaHei"/>
              </a:rPr>
              <a:t xml:space="preserve"> LDA </a:t>
            </a:r>
            <a:r>
              <a:rPr lang="zh-CN" sz="1350">
                <a:solidFill>
                  <a:srgbClr val="9FB3CC"/>
                </a:solidFill>
                <a:latin typeface="Microsoft YaHei"/>
                <a:ea typeface="Microsoft YaHei"/>
              </a:rPr>
              <a:t>电子域只到行为级——本征程新增</a:t>
            </a:r>
            <a:r>
              <a:rPr lang="en-US" sz="1350">
                <a:solidFill>
                  <a:srgbClr val="9FB3CC"/>
                </a:solidFill>
                <a:latin typeface="Microsoft YaHei"/>
                <a:ea typeface="Microsoft YaHei"/>
              </a:rPr>
              <a:t xml:space="preserve"> lda/lda_l2/ecore/ </a:t>
            </a:r>
            <a:r>
              <a:rPr lang="zh-CN" sz="1350">
                <a:solidFill>
                  <a:srgbClr val="9FB3CC"/>
                </a:solidFill>
                <a:latin typeface="Microsoft YaHei"/>
                <a:ea typeface="Microsoft YaHei"/>
              </a:rPr>
              <a:t>包（</a:t>
            </a:r>
            <a:r>
              <a:rPr lang="en-US" sz="1350">
                <a:solidFill>
                  <a:srgbClr val="9FB3CC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1350">
                <a:solidFill>
                  <a:srgbClr val="9FB3CC"/>
                </a:solidFill>
                <a:latin typeface="Microsoft YaHei"/>
                <a:ea typeface="Microsoft YaHei"/>
              </a:rPr>
              <a:t>模块）逐一补齐。</a:t>
            </a:r>
            <a:endParaRPr/>
          </a:p>
        </p:txBody>
      </p:sp>
      <p:sp>
        <p:nvSpPr>
          <p:cNvPr id="25" name=""/>
          <p:cNvSpPr/>
          <p:nvPr/>
        </p:nvSpPr>
        <p:spPr>
          <a:xfrm rot="0" flipH="0" flipV="0">
            <a:off x="685800" y="1943100"/>
            <a:ext cx="2495550" cy="1971675"/>
          </a:xfrm>
          <a:prstGeom prst="roundRect">
            <a:avLst>
              <a:gd name="adj" fmla="val 5797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876300" y="2133600"/>
            <a:ext cx="21145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2563EB"/>
                </a:solidFill>
                <a:latin typeface="Consolas"/>
                <a:ea typeface="Consolas"/>
              </a:rPr>
              <a:t>1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876300" y="2600325"/>
            <a:ext cx="2114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E8EEF7"/>
                </a:solidFill>
                <a:latin typeface="Microsoft YaHei"/>
                <a:ea typeface="Microsoft YaHei"/>
              </a:rPr>
              <a:t>无晶体管级模型</a:t>
            </a:r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76300" y="2895600"/>
            <a:ext cx="21145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新增长沟道平方律</a:t>
            </a:r>
            <a:r>
              <a:rPr lang="en-US" sz="1125">
                <a:solidFill>
                  <a:srgbClr val="9FB3CC"/>
                </a:solidFill>
                <a:latin typeface="Microsoft YaHei"/>
                <a:ea typeface="Microsoft YaHei"/>
              </a:rPr>
              <a:t xml:space="preserve"> NMOS</a:t>
            </a: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（三区</a:t>
            </a:r>
            <a:r>
              <a:rPr lang="en-US" sz="1125">
                <a:solidFill>
                  <a:srgbClr val="9FB3CC"/>
                </a:solidFill>
                <a:latin typeface="Microsoft YaHei"/>
                <a:ea typeface="Microsoft YaHei"/>
              </a:rPr>
              <a:t xml:space="preserve"> + gm/gds </a:t>
            </a: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解析）。</a:t>
            </a:r>
            <a:r>
              <a:rPr lang="en-US" sz="1125">
                <a:solidFill>
                  <a:srgbClr val="9FB3CC"/>
                </a:solidFill>
                <a:latin typeface="Microsoft YaHei"/>
                <a:ea typeface="Microsoft YaHei"/>
              </a:rPr>
              <a:t>D-150</a:t>
            </a:r>
            <a:endParaRPr/>
          </a:p>
        </p:txBody>
      </p:sp>
      <p:sp>
        <p:nvSpPr>
          <p:cNvPr id="29" name=""/>
          <p:cNvSpPr/>
          <p:nvPr/>
        </p:nvSpPr>
        <p:spPr>
          <a:xfrm rot="0" flipH="0" flipV="0">
            <a:off x="3333750" y="1943100"/>
            <a:ext cx="2495550" cy="1971675"/>
          </a:xfrm>
          <a:prstGeom prst="roundRect">
            <a:avLst>
              <a:gd name="adj" fmla="val 5797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p/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3524250" y="2133600"/>
            <a:ext cx="21145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2563EB"/>
                </a:solidFill>
                <a:latin typeface="Consolas"/>
                <a:ea typeface="Consolas"/>
              </a:rPr>
              <a:t>2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3524250" y="2600325"/>
            <a:ext cx="2114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E8EEF7"/>
                </a:solidFill>
                <a:latin typeface="Microsoft YaHei"/>
                <a:ea typeface="Microsoft YaHei"/>
              </a:rPr>
              <a:t>无电路仿真器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3524250" y="2895600"/>
            <a:ext cx="211455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新增</a:t>
            </a:r>
            <a:r>
              <a:rPr lang="en-US" sz="1125">
                <a:solidFill>
                  <a:srgbClr val="9FB3CC"/>
                </a:solidFill>
                <a:latin typeface="Microsoft YaHei"/>
                <a:ea typeface="Microsoft YaHei"/>
              </a:rPr>
              <a:t xml:space="preserve"> MNA </a:t>
            </a: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求解器（</a:t>
            </a:r>
            <a:r>
              <a:rPr lang="en-US" sz="1125">
                <a:solidFill>
                  <a:srgbClr val="9FB3CC"/>
                </a:solidFill>
                <a:latin typeface="Microsoft YaHei"/>
                <a:ea typeface="Microsoft YaHei"/>
              </a:rPr>
              <a:t xml:space="preserve">DC </a:t>
            </a: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牛顿</a:t>
            </a:r>
            <a:r>
              <a:rPr lang="en-US" sz="1125">
                <a:solidFill>
                  <a:srgbClr val="9FB3CC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瞬态后向欧拉</a:t>
            </a:r>
            <a:r>
              <a:rPr lang="en-US" sz="1125">
                <a:solidFill>
                  <a:srgbClr val="9FB3CC"/>
                </a:solidFill>
                <a:latin typeface="Microsoft YaHei"/>
                <a:ea typeface="Microsoft YaHei"/>
              </a:rPr>
              <a:t xml:space="preserve"> / AC </a:t>
            </a: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复数）。</a:t>
            </a:r>
            <a:r>
              <a:rPr lang="en-US" sz="1125">
                <a:solidFill>
                  <a:srgbClr val="9FB3CC"/>
                </a:solidFill>
                <a:latin typeface="Microsoft YaHei"/>
                <a:ea typeface="Microsoft YaHei"/>
              </a:rPr>
              <a:t>D-150</a:t>
            </a:r>
            <a:endParaRPr/>
          </a:p>
        </p:txBody>
      </p:sp>
      <p:sp>
        <p:nvSpPr>
          <p:cNvPr id="33" name=""/>
          <p:cNvSpPr/>
          <p:nvPr/>
        </p:nvSpPr>
        <p:spPr>
          <a:xfrm rot="0" flipH="0" flipV="0">
            <a:off x="5981700" y="1943100"/>
            <a:ext cx="2495550" cy="1971675"/>
          </a:xfrm>
          <a:prstGeom prst="roundRect">
            <a:avLst>
              <a:gd name="adj" fmla="val 5797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p/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172200" y="2133600"/>
            <a:ext cx="21145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2563EB"/>
                </a:solidFill>
                <a:latin typeface="Consolas"/>
                <a:ea typeface="Consolas"/>
              </a:rPr>
              <a:t>3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6172200" y="2600325"/>
            <a:ext cx="2114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E8EEF7"/>
                </a:solidFill>
                <a:latin typeface="Microsoft YaHei"/>
                <a:ea typeface="Microsoft YaHei"/>
              </a:rPr>
              <a:t>无模拟计算原语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6172200" y="2895600"/>
            <a:ext cx="211455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新增参数化</a:t>
            </a:r>
            <a:r>
              <a:rPr lang="en-US" sz="1125">
                <a:solidFill>
                  <a:srgbClr val="9FB3CC"/>
                </a:solidFill>
                <a:latin typeface="Microsoft YaHei"/>
                <a:ea typeface="Microsoft YaHei"/>
              </a:rPr>
              <a:t xml:space="preserve"> N×M MVM </a:t>
            </a: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阵列</a:t>
            </a:r>
            <a:r>
              <a:rPr lang="en-US" sz="1125">
                <a:solidFill>
                  <a:srgbClr val="9FB3CC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数据通路（</a:t>
            </a:r>
            <a:r>
              <a:rPr lang="en-US" sz="1125">
                <a:solidFill>
                  <a:srgbClr val="9FB3CC"/>
                </a:solidFill>
                <a:latin typeface="Microsoft YaHei"/>
                <a:ea typeface="Microsoft YaHei"/>
              </a:rPr>
              <a:t>DAC→</a:t>
            </a: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阵列→</a:t>
            </a:r>
            <a:r>
              <a:rPr lang="en-US" sz="1125">
                <a:solidFill>
                  <a:srgbClr val="9FB3CC"/>
                </a:solidFill>
                <a:latin typeface="Microsoft YaHei"/>
                <a:ea typeface="Microsoft YaHei"/>
              </a:rPr>
              <a:t>ADC</a:t>
            </a: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）。</a:t>
            </a:r>
            <a:r>
              <a:rPr lang="en-US" sz="1125">
                <a:solidFill>
                  <a:srgbClr val="9FB3CC"/>
                </a:solidFill>
                <a:latin typeface="Microsoft YaHei"/>
                <a:ea typeface="Microsoft YaHei"/>
              </a:rPr>
              <a:t>D-151/152</a:t>
            </a:r>
            <a:endParaRPr/>
          </a:p>
        </p:txBody>
      </p:sp>
      <p:sp>
        <p:nvSpPr>
          <p:cNvPr id="37" name=""/>
          <p:cNvSpPr/>
          <p:nvPr/>
        </p:nvSpPr>
        <p:spPr>
          <a:xfrm rot="0" flipH="0" flipV="0">
            <a:off x="8629650" y="1943100"/>
            <a:ext cx="2495550" cy="1971675"/>
          </a:xfrm>
          <a:prstGeom prst="roundRect">
            <a:avLst>
              <a:gd name="adj" fmla="val 5797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p/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8820150" y="2133600"/>
            <a:ext cx="21145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2563EB"/>
                </a:solidFill>
                <a:latin typeface="Consolas"/>
                <a:ea typeface="Consolas"/>
              </a:rPr>
              <a:t>4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8820150" y="2600325"/>
            <a:ext cx="2114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E8EEF7"/>
                </a:solidFill>
                <a:latin typeface="Microsoft YaHei"/>
                <a:ea typeface="Microsoft YaHei"/>
              </a:rPr>
              <a:t>无规模定标与诚实护栏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8820150" y="2895600"/>
            <a:ext cx="21145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新增层输出定标</a:t>
            </a:r>
            <a:r>
              <a:rPr lang="en-US" sz="1125">
                <a:solidFill>
                  <a:srgbClr val="9FB3CC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诚实边界机器化护栏</a:t>
            </a:r>
            <a:r>
              <a:rPr lang="en-US" sz="1125">
                <a:solidFill>
                  <a:srgbClr val="9FB3CC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能力清单。</a:t>
            </a:r>
            <a:r>
              <a:rPr lang="en-US" sz="1125">
                <a:solidFill>
                  <a:srgbClr val="9FB3CC"/>
                </a:solidFill>
                <a:latin typeface="Microsoft YaHei"/>
                <a:ea typeface="Microsoft YaHei"/>
              </a:rPr>
              <a:t>D-153/154</a:t>
            </a:r>
            <a:endParaRPr/>
          </a:p>
        </p:txBody>
      </p:sp>
      <p:sp>
        <p:nvSpPr>
          <p:cNvPr id="41" name=""/>
          <p:cNvSpPr/>
          <p:nvPr/>
        </p:nvSpPr>
        <p:spPr>
          <a:xfrm rot="0" flipH="0" flipV="0">
            <a:off x="685800" y="4162425"/>
            <a:ext cx="10820400" cy="361950"/>
          </a:xfrm>
          <a:custGeom>
            <a:pathLst>
              <a:path w="1136" h="38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9FB3CC">
              <a:alpha val="25000"/>
            </a:srgbClr>
          </a:solidFill>
          <a:ln/>
        </p:spPr>
        <p:txBody>
          <a:bodyPr/>
          <a:p/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685800" y="4324350"/>
            <a:ext cx="34480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FB3CC"/>
                </a:solidFill>
                <a:latin typeface="Microsoft YaHei"/>
                <a:ea typeface="Microsoft YaHei"/>
              </a:rPr>
              <a:t xml:space="preserve">LDA · </a:t>
            </a: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电子计算芯片（电子征程「吃狗粮」</a:t>
            </a:r>
            <a:r>
              <a:rPr lang="en-US" sz="1200">
                <a:solidFill>
                  <a:srgbClr val="9FB3CC"/>
                </a:solidFill>
                <a:latin typeface="Microsoft YaHei"/>
                <a:ea typeface="Microsoft YaHei"/>
              </a:rPr>
              <a:t>E1–E5</a:t>
            </a: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10915650" y="4324350"/>
            <a:ext cx="5905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FB3CC"/>
                </a:solidFill>
                <a:latin typeface="Consolas"/>
                <a:ea typeface="Consolas"/>
              </a:rPr>
              <a:t>02 / 06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44" name="" descr="&lt;Slide style={{ width: 1280, height: 720, background: '#0A1120', padding: '64px 72px', flexDirection: 'column' }}&gt;&#10;    &lt;Box style={{ flexDirection: 'column', gap: 12, marginBottom: 22 }}&gt;&#10;        &lt;Text style={{ fontSize: 16, color: '#2563EB', fontWeight: 'bold' }}&gt;五段征程 · 全程在 LDA 内闭环&lt;/Text&gt;&#10;        &lt;Text style={{ fontSize: 40, fontWeight: 'bold', color: '#E8EEF7' }}&gt;E1 基座 → E2 阵列 → E3 数据通路 → E4 规模 → E5 硬化&lt;/Text&gt;&#10;        &lt;Text style={{ fontSize: 18, color: '#9FB3CC' }}&gt;门禁合计 28 判据 + 5 道常驻门禁 · D-150…D-154。&lt;/Text&gt;&#10;    &lt;/Box&gt;&#10;    &lt;Box style={{ flexDirection: 'column', gap: 10 }}&gt;&#10;        &lt;Box style={{ flexDirection: 'row', gap: 16, background: 'rgba(255,255,255,0.05)', borderRadius: 10, padding: '14px 20px', alignItems: 'center' }}&gt;&#10;            &lt;Text style={{ fontSize: 20, fontWeight: 'bold', color: '#2563EB', fontFamily: 'Consolas', width: 90 }}&gt;E1&lt;/Text&gt;&#10;            &lt;Text style={{ fontSize: 18, color: '#E8EEF7', width: 360 }}&gt;基座：晶体管模型 + MNA 仿真器 + 最小计算单元&lt;/Text&gt;&#10;            &lt;Text style={{ fontSize: 16, color: '#9FB3CC' }}&gt;RC 瞬态 vs 指数 &amp;lt;2e-4 · AC vs 闭式 &amp;lt;1e-13&lt;/Text&gt;&#10;        &lt;/Box&gt;&#10;        &lt;Box style={{ flexDirection: 'row', gap: 16, background: 'rgba(255,255,255,0.05)', borderRadius: 10, padding: '14px 20px', alignItems: 'center' }}&gt;&#10;            &lt;Text style={{ fontSize: 20, fontWeight: 'bold', color: '#2563EB', fontFamily: 'Consolas', width: 90 }}&gt;E2&lt;/Text&gt;&#10;            &lt;Text style={{ fontSize: 18, color: '#E8EEF7', width: 360 }}&gt;参数化 N×M 模拟 MVM 交叉阵列&lt;/Text&gt;&#10;            &lt;Text style={{ fontSize: 16, color: '#9FB3CC' }}&gt;理想 8×8 &amp;lt;2e-4 · transistor 4×4 &amp;lt;2.4e-4 · OTA 增益 ∝ Rd&lt;/Text&gt;&#10;        &lt;/Box&gt;&#10;        &lt;Box style={{ flexDirection: 'row', gap: 16, background: 'rgba(255,255,255,0.05)', borderRadius: 10, padding: '14px 20px', alignItems: 'center' }}&gt;&#10;            &lt;Text style={{ fontSize: 20, fontWeight: 'bold', color: '#2563EB', fontFamily: 'Consolas', width: 90 }}&gt;E3&lt;/Text&gt;&#10;            &lt;Text style={{ fontSize: 18, color: '#E8EEF7', width: 360 }}&gt;MVM 数据通路（DAC→阵列→ADC、多层、分块）&lt;/Text&gt;&#10;            &lt;Text style={{ fontSize: 16, color: '#9FB3CC' }}&gt;单层 8bit 0.0122 · 2 层 MLP 0.044 · 分块=全阵&lt;/Text&gt;&#10;        &lt;/Box&gt;&#10;        &lt;Box style={{ flexDirection: 'row', gap: 16, background: 'rgba(255,255,255,0.05)', borderRadius: 10, padding: '14px 20px', alignItems: 'center' }}&gt;&#10;            &lt;Text style={{ fontSize: 20, fontWeight: 'bold', color: '#2563EB', fontFamily: 'Consolas', width: 90 }}&gt;E4&lt;/Text&gt;&#10;            &lt;Text style={{ fontSize: 18, color: '#E8EEF7', width: 360 }}&gt;规模对标（至 256×256 = 65536 突触）&lt;/Text&gt;&#10;            &lt;Text style={{ fontSize: 16, color: '#9FB3CC' }}&gt;相对误差有界 0.018→0.030 · 绝对误差 ∝N 0.08→0.54&lt;/Text&gt;&#10;        &lt;/Box&gt;&#10;        &lt;Box style={{ flexDirection: 'row', gap: 16, background: 'rgba(255,255,255,0.05)', borderRadius: 10, padding: '14px 20px', alignItems: 'center' }}&gt;&#10;            &lt;Text style={{ fontSize: 20, fontWeight: 'bold', color: '#2563EB', fontFamily: 'Consolas', width: 90 }}&gt;E5&lt;/Text&gt;&#10;            &lt;Text style={{ fontSize: 18, color: '#E8EEF7', width: 360 }}&gt;平台能力硬化：能力清单 + 守护门禁&lt;/Text&gt;&#10;            &lt;Text style={{ fontSize: 16, color: '#9FB3CC' }}&gt;清单 ↔ 模块/符号 双向完备 · 诚实边界机器化&lt;/Text&gt;&#10;        &lt;/Box&gt;&#10;    &lt;/Box&gt;&#10;    &lt;Box style={{ flexDirection: 'row', alignItems: 'center', justifyContent: 'space-between', borderTop: '1px solid rgba(159,179,204,0.25)', paddingTop: 16, marginTop: 22 }}&gt;&#10;        &lt;Text style={{ fontSize: 16, color: '#9FB3CC' }}&gt;LDA · 电子计算芯片（电子征程「吃狗粮」E1–E5）&lt;/Text&gt;&#10;        &lt;Text style={{ fontSize: 16, color: '#9FB3CC', fontFamily: 'Consolas' }}&gt;03 / 0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A1120"/>
          </a:solidFill>
          <a:ln/>
        </p:spPr>
        <p:txBody>
          <a:bodyPr/>
          <a:p/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685800" y="609600"/>
            <a:ext cx="10820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2563EB"/>
                </a:solidFill>
                <a:latin typeface="Microsoft YaHei"/>
                <a:ea typeface="Microsoft YaHei"/>
              </a:rPr>
              <a:t>五段征程</a:t>
            </a:r>
            <a:r>
              <a:rPr lang="en-US" sz="1200" b="1">
                <a:solidFill>
                  <a:srgbClr val="2563EB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 b="1">
                <a:solidFill>
                  <a:srgbClr val="2563EB"/>
                </a:solidFill>
                <a:latin typeface="Microsoft YaHei"/>
                <a:ea typeface="Microsoft YaHei"/>
              </a:rPr>
              <a:t>全程在</a:t>
            </a:r>
            <a:r>
              <a:rPr lang="en-US" sz="1200" b="1">
                <a:solidFill>
                  <a:srgbClr val="2563EB"/>
                </a:solidFill>
                <a:latin typeface="Microsoft YaHei"/>
                <a:ea typeface="Microsoft YaHei"/>
              </a:rPr>
              <a:t xml:space="preserve"> LDA </a:t>
            </a:r>
            <a:r>
              <a:rPr lang="zh-CN" sz="1200" b="1">
                <a:solidFill>
                  <a:srgbClr val="2563EB"/>
                </a:solidFill>
                <a:latin typeface="Microsoft YaHei"/>
                <a:ea typeface="Microsoft YaHei"/>
              </a:rPr>
              <a:t>内闭环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685800" y="914400"/>
            <a:ext cx="108204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E1 </a:t>
            </a: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基座</a:t>
            </a:r>
            <a:r>
              <a:rPr lang="en-US" sz="30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→ E2 </a:t>
            </a: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阵列</a:t>
            </a:r>
            <a:r>
              <a:rPr lang="en-US" sz="30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→ E3 </a:t>
            </a: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数据通路</a:t>
            </a:r>
            <a:r>
              <a:rPr lang="en-US" sz="30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→ E4 </a:t>
            </a: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规模</a:t>
            </a:r>
            <a:r>
              <a:rPr lang="en-US" sz="30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→ E5 </a:t>
            </a: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硬化</a:t>
            </a:r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685800" y="1485900"/>
            <a:ext cx="10820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9FB3CC"/>
                </a:solidFill>
                <a:latin typeface="Microsoft YaHei"/>
                <a:ea typeface="Microsoft YaHei"/>
              </a:rPr>
              <a:t>门禁合计</a:t>
            </a:r>
            <a:r>
              <a:rPr lang="en-US" sz="1350">
                <a:solidFill>
                  <a:srgbClr val="9FB3CC"/>
                </a:solidFill>
                <a:latin typeface="Microsoft YaHei"/>
                <a:ea typeface="Microsoft YaHei"/>
              </a:rPr>
              <a:t xml:space="preserve"> 28 </a:t>
            </a:r>
            <a:r>
              <a:rPr lang="zh-CN" sz="1350">
                <a:solidFill>
                  <a:srgbClr val="9FB3CC"/>
                </a:solidFill>
                <a:latin typeface="Microsoft YaHei"/>
                <a:ea typeface="Microsoft YaHei"/>
              </a:rPr>
              <a:t>判据</a:t>
            </a:r>
            <a:r>
              <a:rPr lang="en-US" sz="1350">
                <a:solidFill>
                  <a:srgbClr val="9FB3CC"/>
                </a:solidFill>
                <a:latin typeface="Microsoft YaHei"/>
                <a:ea typeface="Microsoft YaHei"/>
              </a:rPr>
              <a:t xml:space="preserve"> + 5 </a:t>
            </a:r>
            <a:r>
              <a:rPr lang="zh-CN" sz="1350">
                <a:solidFill>
                  <a:srgbClr val="9FB3CC"/>
                </a:solidFill>
                <a:latin typeface="Microsoft YaHei"/>
                <a:ea typeface="Microsoft YaHei"/>
              </a:rPr>
              <a:t>道常驻门禁</a:t>
            </a:r>
            <a:r>
              <a:rPr lang="en-US" sz="1350">
                <a:solidFill>
                  <a:srgbClr val="9FB3CC"/>
                </a:solidFill>
                <a:latin typeface="Microsoft YaHei"/>
                <a:ea typeface="Microsoft YaHei"/>
              </a:rPr>
              <a:t xml:space="preserve"> · D-150…D-154</a:t>
            </a:r>
            <a:r>
              <a:rPr lang="zh-CN" sz="1350">
                <a:solidFill>
                  <a:srgbClr val="9FB3CC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49" name=""/>
          <p:cNvSpPr/>
          <p:nvPr/>
        </p:nvSpPr>
        <p:spPr>
          <a:xfrm rot="0" flipH="0" flipV="0">
            <a:off x="685800" y="1905000"/>
            <a:ext cx="10820400" cy="685800"/>
          </a:xfrm>
          <a:prstGeom prst="roundRect">
            <a:avLst>
              <a:gd name="adj" fmla="val 13889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p/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876300" y="2133600"/>
            <a:ext cx="85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2563EB"/>
                </a:solidFill>
                <a:latin typeface="Consolas"/>
                <a:ea typeface="Consolas"/>
              </a:rPr>
              <a:t>E1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1885950" y="2038350"/>
            <a:ext cx="342900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350">
                <a:solidFill>
                  <a:srgbClr val="E8EEF7"/>
                </a:solidFill>
                <a:latin typeface="Microsoft YaHei"/>
                <a:ea typeface="Microsoft YaHei"/>
              </a:rPr>
              <a:t>基座：晶体管模型</a:t>
            </a:r>
            <a:r>
              <a:rPr lang="en-US" sz="1350">
                <a:solidFill>
                  <a:srgbClr val="E8EEF7"/>
                </a:solidFill>
                <a:latin typeface="Microsoft YaHei"/>
                <a:ea typeface="Microsoft YaHei"/>
              </a:rPr>
              <a:t xml:space="preserve"> + MNA </a:t>
            </a:r>
            <a:r>
              <a:rPr lang="zh-CN" sz="1350">
                <a:solidFill>
                  <a:srgbClr val="E8EEF7"/>
                </a:solidFill>
                <a:latin typeface="Microsoft YaHei"/>
                <a:ea typeface="Microsoft YaHei"/>
              </a:rPr>
              <a:t>仿真器</a:t>
            </a:r>
            <a:r>
              <a:rPr lang="en-US" sz="1350">
                <a:solidFill>
                  <a:srgbClr val="E8EEF7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350">
                <a:solidFill>
                  <a:srgbClr val="E8EEF7"/>
                </a:solidFill>
                <a:latin typeface="Microsoft YaHei"/>
                <a:ea typeface="Microsoft YaHei"/>
              </a:rPr>
              <a:t>最小计算单元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5467350" y="2152650"/>
            <a:ext cx="3048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FB3CC"/>
                </a:solidFill>
                <a:latin typeface="Microsoft YaHei"/>
                <a:ea typeface="Microsoft YaHei"/>
              </a:rPr>
              <a:t xml:space="preserve">RC </a:t>
            </a: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瞬态</a:t>
            </a:r>
            <a:r>
              <a:rPr lang="en-US" sz="1200">
                <a:solidFill>
                  <a:srgbClr val="9FB3CC"/>
                </a:solidFill>
                <a:latin typeface="Microsoft YaHei"/>
                <a:ea typeface="Microsoft YaHei"/>
              </a:rPr>
              <a:t xml:space="preserve"> vs </a:t>
            </a: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指数</a:t>
            </a:r>
            <a:r>
              <a:rPr lang="en-US" sz="1200">
                <a:solidFill>
                  <a:srgbClr val="9FB3CC"/>
                </a:solidFill>
                <a:latin typeface="Microsoft YaHei"/>
                <a:ea typeface="Microsoft YaHei"/>
              </a:rPr>
              <a:t xml:space="preserve"> &lt;2e-4 · AC vs </a:t>
            </a: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闭式</a:t>
            </a:r>
            <a:r>
              <a:rPr lang="en-US" sz="1200">
                <a:solidFill>
                  <a:srgbClr val="9FB3CC"/>
                </a:solidFill>
                <a:latin typeface="Microsoft YaHei"/>
                <a:ea typeface="Microsoft YaHei"/>
              </a:rPr>
              <a:t xml:space="preserve"> &lt;1e-13</a:t>
            </a:r>
            <a:endParaRPr/>
          </a:p>
        </p:txBody>
      </p:sp>
      <p:sp>
        <p:nvSpPr>
          <p:cNvPr id="53" name=""/>
          <p:cNvSpPr/>
          <p:nvPr/>
        </p:nvSpPr>
        <p:spPr>
          <a:xfrm rot="0" flipH="0" flipV="0">
            <a:off x="685800" y="2686050"/>
            <a:ext cx="10820400" cy="495300"/>
          </a:xfrm>
          <a:prstGeom prst="roundRect">
            <a:avLst>
              <a:gd name="adj" fmla="val 19231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p/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876300" y="2819400"/>
            <a:ext cx="85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2563EB"/>
                </a:solidFill>
                <a:latin typeface="Consolas"/>
                <a:ea typeface="Consolas"/>
              </a:rPr>
              <a:t>E2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1885950" y="2828925"/>
            <a:ext cx="3429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8EEF7"/>
                </a:solidFill>
                <a:latin typeface="Microsoft YaHei"/>
                <a:ea typeface="Microsoft YaHei"/>
              </a:rPr>
              <a:t>参数化</a:t>
            </a:r>
            <a:r>
              <a:rPr lang="en-US" sz="1350">
                <a:solidFill>
                  <a:srgbClr val="E8EEF7"/>
                </a:solidFill>
                <a:latin typeface="Microsoft YaHei"/>
                <a:ea typeface="Microsoft YaHei"/>
              </a:rPr>
              <a:t xml:space="preserve"> N×M </a:t>
            </a:r>
            <a:r>
              <a:rPr lang="zh-CN" sz="1350">
                <a:solidFill>
                  <a:srgbClr val="E8EEF7"/>
                </a:solidFill>
                <a:latin typeface="Microsoft YaHei"/>
                <a:ea typeface="Microsoft YaHei"/>
              </a:rPr>
              <a:t>模拟</a:t>
            </a:r>
            <a:r>
              <a:rPr lang="en-US" sz="1350">
                <a:solidFill>
                  <a:srgbClr val="E8EEF7"/>
                </a:solidFill>
                <a:latin typeface="Microsoft YaHei"/>
                <a:ea typeface="Microsoft YaHei"/>
              </a:rPr>
              <a:t xml:space="preserve"> MVM </a:t>
            </a:r>
            <a:r>
              <a:rPr lang="zh-CN" sz="1350">
                <a:solidFill>
                  <a:srgbClr val="E8EEF7"/>
                </a:solidFill>
                <a:latin typeface="Microsoft YaHei"/>
                <a:ea typeface="Microsoft YaHei"/>
              </a:rPr>
              <a:t>交叉阵列</a:t>
            </a:r>
            <a:endParaRPr/>
          </a:p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5467350" y="2838450"/>
            <a:ext cx="4095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理想</a:t>
            </a:r>
            <a:r>
              <a:rPr lang="en-US" sz="1200">
                <a:solidFill>
                  <a:srgbClr val="9FB3CC"/>
                </a:solidFill>
                <a:latin typeface="Microsoft YaHei"/>
                <a:ea typeface="Microsoft YaHei"/>
              </a:rPr>
              <a:t xml:space="preserve"> 8×8 &lt;2e-4 · transistor 4×4 &lt;2.4e-4 · OTA </a:t>
            </a: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增益</a:t>
            </a:r>
            <a:r>
              <a:rPr lang="en-US" sz="1200">
                <a:solidFill>
                  <a:srgbClr val="9FB3CC"/>
                </a:solidFill>
                <a:latin typeface="Microsoft YaHei"/>
                <a:ea typeface="Microsoft YaHei"/>
              </a:rPr>
              <a:t xml:space="preserve"> ∝ Rd</a:t>
            </a:r>
            <a:endParaRPr/>
          </a:p>
        </p:txBody>
      </p:sp>
      <p:sp>
        <p:nvSpPr>
          <p:cNvPr id="57" name=""/>
          <p:cNvSpPr/>
          <p:nvPr/>
        </p:nvSpPr>
        <p:spPr>
          <a:xfrm rot="0" flipH="0" flipV="0">
            <a:off x="685800" y="3276600"/>
            <a:ext cx="10820400" cy="685800"/>
          </a:xfrm>
          <a:prstGeom prst="roundRect">
            <a:avLst>
              <a:gd name="adj" fmla="val 13889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876300" y="3505200"/>
            <a:ext cx="85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2563EB"/>
                </a:solidFill>
                <a:latin typeface="Consolas"/>
                <a:ea typeface="Consolas"/>
              </a:rPr>
              <a:t>E3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885950" y="3409950"/>
            <a:ext cx="342900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350">
                <a:solidFill>
                  <a:srgbClr val="E8EEF7"/>
                </a:solidFill>
                <a:latin typeface="Microsoft YaHei"/>
                <a:ea typeface="Microsoft YaHei"/>
              </a:rPr>
              <a:t xml:space="preserve">MVM </a:t>
            </a:r>
            <a:r>
              <a:rPr lang="zh-CN" sz="1350">
                <a:solidFill>
                  <a:srgbClr val="E8EEF7"/>
                </a:solidFill>
                <a:latin typeface="Microsoft YaHei"/>
                <a:ea typeface="Microsoft YaHei"/>
              </a:rPr>
              <a:t>数据通路（</a:t>
            </a:r>
            <a:r>
              <a:rPr lang="en-US" sz="1350">
                <a:solidFill>
                  <a:srgbClr val="E8EEF7"/>
                </a:solidFill>
                <a:latin typeface="Microsoft YaHei"/>
                <a:ea typeface="Microsoft YaHei"/>
              </a:rPr>
              <a:t>DAC→</a:t>
            </a:r>
            <a:r>
              <a:rPr lang="zh-CN" sz="1350">
                <a:solidFill>
                  <a:srgbClr val="E8EEF7"/>
                </a:solidFill>
                <a:latin typeface="Microsoft YaHei"/>
                <a:ea typeface="Microsoft YaHei"/>
              </a:rPr>
              <a:t>阵列→</a:t>
            </a:r>
            <a:r>
              <a:rPr lang="en-US" sz="1350">
                <a:solidFill>
                  <a:srgbClr val="E8EEF7"/>
                </a:solidFill>
                <a:latin typeface="Microsoft YaHei"/>
                <a:ea typeface="Microsoft YaHei"/>
              </a:rPr>
              <a:t>ADC</a:t>
            </a:r>
            <a:r>
              <a:rPr lang="zh-CN" sz="1350">
                <a:solidFill>
                  <a:srgbClr val="E8EEF7"/>
                </a:solidFill>
                <a:latin typeface="Microsoft YaHei"/>
                <a:ea typeface="Microsoft YaHei"/>
              </a:rPr>
              <a:t>、多层、分块）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5467350" y="3524250"/>
            <a:ext cx="3238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单层</a:t>
            </a:r>
            <a:r>
              <a:rPr lang="en-US" sz="1200">
                <a:solidFill>
                  <a:srgbClr val="9FB3CC"/>
                </a:solidFill>
                <a:latin typeface="Microsoft YaHei"/>
                <a:ea typeface="Microsoft YaHei"/>
              </a:rPr>
              <a:t xml:space="preserve"> 8bit 0.0122 · 2 </a:t>
            </a: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层</a:t>
            </a:r>
            <a:r>
              <a:rPr lang="en-US" sz="1200">
                <a:solidFill>
                  <a:srgbClr val="9FB3CC"/>
                </a:solidFill>
                <a:latin typeface="Microsoft YaHei"/>
                <a:ea typeface="Microsoft YaHei"/>
              </a:rPr>
              <a:t xml:space="preserve"> MLP 0.044 · </a:t>
            </a: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分块</a:t>
            </a:r>
            <a:r>
              <a:rPr lang="en-US" sz="1200">
                <a:solidFill>
                  <a:srgbClr val="9FB3CC"/>
                </a:solidFill>
                <a:latin typeface="Microsoft YaHei"/>
                <a:ea typeface="Microsoft YaHei"/>
              </a:rPr>
              <a:t>=</a:t>
            </a: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全阵</a:t>
            </a:r>
            <a:endParaRPr/>
          </a:p>
        </p:txBody>
      </p:sp>
      <p:sp>
        <p:nvSpPr>
          <p:cNvPr id="61" name=""/>
          <p:cNvSpPr/>
          <p:nvPr/>
        </p:nvSpPr>
        <p:spPr>
          <a:xfrm rot="0" flipH="0" flipV="0">
            <a:off x="685800" y="4057650"/>
            <a:ext cx="10820400" cy="495300"/>
          </a:xfrm>
          <a:prstGeom prst="roundRect">
            <a:avLst>
              <a:gd name="adj" fmla="val 19231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p/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876300" y="4191000"/>
            <a:ext cx="85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2563EB"/>
                </a:solidFill>
                <a:latin typeface="Consolas"/>
                <a:ea typeface="Consolas"/>
              </a:rPr>
              <a:t>E4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1885950" y="4200525"/>
            <a:ext cx="3429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8EEF7"/>
                </a:solidFill>
                <a:latin typeface="Microsoft YaHei"/>
                <a:ea typeface="Microsoft YaHei"/>
              </a:rPr>
              <a:t>规模对标（至</a:t>
            </a:r>
            <a:r>
              <a:rPr lang="en-US" sz="1350">
                <a:solidFill>
                  <a:srgbClr val="E8EEF7"/>
                </a:solidFill>
                <a:latin typeface="Microsoft YaHei"/>
                <a:ea typeface="Microsoft YaHei"/>
              </a:rPr>
              <a:t xml:space="preserve"> 256×256 = 65536 </a:t>
            </a:r>
            <a:r>
              <a:rPr lang="zh-CN" sz="1350">
                <a:solidFill>
                  <a:srgbClr val="E8EEF7"/>
                </a:solidFill>
                <a:latin typeface="Microsoft YaHei"/>
                <a:ea typeface="Microsoft YaHei"/>
              </a:rPr>
              <a:t>突触）</a:t>
            </a:r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5467350" y="4210050"/>
            <a:ext cx="3752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相对误差有界</a:t>
            </a:r>
            <a:r>
              <a:rPr lang="en-US" sz="1200">
                <a:solidFill>
                  <a:srgbClr val="9FB3CC"/>
                </a:solidFill>
                <a:latin typeface="Microsoft YaHei"/>
                <a:ea typeface="Microsoft YaHei"/>
              </a:rPr>
              <a:t xml:space="preserve"> 0.018→0.030 · </a:t>
            </a: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绝对误差</a:t>
            </a:r>
            <a:r>
              <a:rPr lang="en-US" sz="1200">
                <a:solidFill>
                  <a:srgbClr val="9FB3CC"/>
                </a:solidFill>
                <a:latin typeface="Microsoft YaHei"/>
                <a:ea typeface="Microsoft YaHei"/>
              </a:rPr>
              <a:t xml:space="preserve"> ∝N 0.08→0.54</a:t>
            </a:r>
            <a:endParaRPr/>
          </a:p>
        </p:txBody>
      </p:sp>
      <p:sp>
        <p:nvSpPr>
          <p:cNvPr id="65" name=""/>
          <p:cNvSpPr/>
          <p:nvPr/>
        </p:nvSpPr>
        <p:spPr>
          <a:xfrm rot="0" flipH="0" flipV="0">
            <a:off x="685800" y="4648200"/>
            <a:ext cx="10820400" cy="495300"/>
          </a:xfrm>
          <a:prstGeom prst="roundRect">
            <a:avLst>
              <a:gd name="adj" fmla="val 19231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p/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876300" y="4781550"/>
            <a:ext cx="85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2563EB"/>
                </a:solidFill>
                <a:latin typeface="Consolas"/>
                <a:ea typeface="Consolas"/>
              </a:rPr>
              <a:t>E5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1885950" y="4791075"/>
            <a:ext cx="3429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8EEF7"/>
                </a:solidFill>
                <a:latin typeface="Microsoft YaHei"/>
                <a:ea typeface="Microsoft YaHei"/>
              </a:rPr>
              <a:t>平台能力硬化：能力清单</a:t>
            </a:r>
            <a:r>
              <a:rPr lang="en-US" sz="1350">
                <a:solidFill>
                  <a:srgbClr val="E8EEF7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350">
                <a:solidFill>
                  <a:srgbClr val="E8EEF7"/>
                </a:solidFill>
                <a:latin typeface="Microsoft YaHei"/>
                <a:ea typeface="Microsoft YaHei"/>
              </a:rPr>
              <a:t>守护门禁</a:t>
            </a:r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5467350" y="4800600"/>
            <a:ext cx="30575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清单</a:t>
            </a:r>
            <a:r>
              <a:rPr lang="en-US" sz="1200">
                <a:solidFill>
                  <a:srgbClr val="9FB3CC"/>
                </a:solidFill>
                <a:latin typeface="Microsoft YaHei"/>
                <a:ea typeface="Microsoft YaHei"/>
              </a:rPr>
              <a:t xml:space="preserve"> ↔ </a:t>
            </a: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模块</a:t>
            </a:r>
            <a:r>
              <a:rPr lang="en-US" sz="1200">
                <a:solidFill>
                  <a:srgbClr val="9FB3CC"/>
                </a:solidFill>
                <a:latin typeface="Microsoft YaHei"/>
                <a:ea typeface="Microsoft YaHei"/>
              </a:rPr>
              <a:t>/</a:t>
            </a: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符号</a:t>
            </a:r>
            <a:r>
              <a:rPr lang="en-US" sz="1200">
                <a:solidFill>
                  <a:srgbClr val="9FB3CC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双向完备</a:t>
            </a:r>
            <a:r>
              <a:rPr lang="en-US" sz="1200">
                <a:solidFill>
                  <a:srgbClr val="9FB3C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诚实边界机器化</a:t>
            </a:r>
            <a:endParaRPr/>
          </a:p>
        </p:txBody>
      </p:sp>
      <p:sp>
        <p:nvSpPr>
          <p:cNvPr id="69" name=""/>
          <p:cNvSpPr/>
          <p:nvPr/>
        </p:nvSpPr>
        <p:spPr>
          <a:xfrm rot="0" flipH="0" flipV="0">
            <a:off x="685800" y="5353050"/>
            <a:ext cx="10820400" cy="361950"/>
          </a:xfrm>
          <a:custGeom>
            <a:pathLst>
              <a:path w="1136" h="38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9FB3CC">
              <a:alpha val="25000"/>
            </a:srgbClr>
          </a:solidFill>
          <a:ln/>
        </p:spPr>
        <p:txBody>
          <a:bodyPr/>
          <a:p/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685800" y="5514975"/>
            <a:ext cx="34480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FB3CC"/>
                </a:solidFill>
                <a:latin typeface="Microsoft YaHei"/>
                <a:ea typeface="Microsoft YaHei"/>
              </a:rPr>
              <a:t xml:space="preserve">LDA · </a:t>
            </a: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电子计算芯片（电子征程「吃狗粮」</a:t>
            </a:r>
            <a:r>
              <a:rPr lang="en-US" sz="1200">
                <a:solidFill>
                  <a:srgbClr val="9FB3CC"/>
                </a:solidFill>
                <a:latin typeface="Microsoft YaHei"/>
                <a:ea typeface="Microsoft YaHei"/>
              </a:rPr>
              <a:t>E1–E5</a:t>
            </a: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10915650" y="5514975"/>
            <a:ext cx="5905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FB3CC"/>
                </a:solidFill>
                <a:latin typeface="Consolas"/>
                <a:ea typeface="Consolas"/>
              </a:rPr>
              <a:t>03 / 06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72" name="" descr="&lt;Slide style={{ width: 1280, height: 720, background: '#0A1120', padding: '64px 72px', flexDirection: 'column' }}&gt;&#10;    &lt;Box style={{ flexDirection: 'column', gap: 12, marginBottom: 22 }}&gt;&#10;        &lt;Text style={{ fontSize: 16, color: '#2563EB', fontWeight: 'bold' }}&gt;关键结果 · 规模律（诚实报告）&lt;/Text&gt;&#10;        &lt;Text style={{ fontSize: 40, fontWeight: 'bold', color: '#E8EEF7' }}&gt;相对误差有界、绝对误差 ∝ N&lt;/Text&gt;&#10;        &lt;Text style={{ fontSize: 18, color: '#9FB3CC' }}&gt;MVM 输出幅度随 N 增长；固定位数 ADC 下绝对 LSB 随之增大 ⇒ 须按层输出定标（out_norm）。&lt;/Text&gt;&#10;    &lt;/Box&gt;&#10;    &lt;Box style={{ flexDirection: 'row', gap: 16, marginBottom: 18 }}&gt;&#10;        &lt;Box style={{ flexDirection: 'column', background: 'rgba(255,255,255,0.05)', borderRadius: 12, padding: '18px 22px', width: 250, gap: 6 }}&gt;&#10;            &lt;Text style={{ fontSize: 15, color: '#9FB3CC' }}&gt;单层 8bit 误差&lt;/Text&gt;&#10;            &lt;Text style={{ fontSize: 44, fontWeight: 'bold', color: '#2563EB', fontFamily: 'Consolas' }}&gt;0.0122&lt;/Text&gt;&#10;            &lt;Text style={{ fontSize: 14, color: '#9FB3CC' }}&gt;vs 全精度数字 golden&lt;/Text&gt;&#10;        &lt;/Box&gt;&#10;        &lt;Box style={{ flexDirection: 'column', background: 'rgba(255,255,255,0.05)', borderRadius: 12, padding: '18px 22px', width: 250, gap: 6 }}&gt;&#10;            &lt;Text style={{ fontSize: 15, color: '#9FB3CC' }}&gt;2 层 MLP 6bit 误差&lt;/Text&gt;&#10;            &lt;Text style={{ fontSize: 44, fontWeight: 'bold', color: '#2563EB', fontFamily: 'Consolas' }}&gt;0.044&lt;/Text&gt;&#10;            &lt;Text style={{ fontSize: 14, color: '#9FB3CC' }}&gt;ReLU 层间累积&lt;/Text&gt;&#10;        &lt;/Box&gt;&#10;        &lt;Box style={{ flexDirection: 'column', background: 'rgba(255,255,255,0.05)', borderRadius: 12, padding: '18px 22px', width: 250, gap: 6 }}&gt;&#10;            &lt;Text style={{ fontSize: 15, color: '#9FB3CC' }}&gt;分块 tiling 误差&lt;/Text&gt;&#10;            &lt;Text style={{ fontSize: 44, fontWeight: 'bold', color: '#2563EB', fontFamily: 'Consolas' }}&gt;0.0&lt;/Text&gt;&#10;            &lt;Text style={{ fontSize: 14, color: '#9FB3CC' }}&gt;= 全阵（精确 · 可组合）&lt;/Text&gt;&#10;        &lt;/Box&gt;&#10;        &lt;Box style={{ flexDirection: 'column', background: 'rgba(255,255,255,0.05)', borderRadius: 12, padding: '18px 22px', width: 250, gap: 6 }}&gt;&#10;            &lt;Text style={{ fontSize: 15, color: '#9FB3CC' }}&gt;MNA 瞬态 vs 指数&lt;/Text&gt;&#10;            &lt;Text style={{ fontSize: 44, fontWeight: 'bold', color: '#2563EB', fontFamily: 'Consolas' }}&gt;&amp;lt;2e-4&lt;/Text&gt;&#10;            &lt;Text style={{ fontSize: 14, color: '#9FB3CC' }}&gt;RC 一阶闭式&lt;/Text&gt;&#10;        &lt;/Box&gt;&#10;    &lt;/Box&gt;&#10;    &lt;Box style={{ flexDirection: 'row', gap: 16, marginBottom: 8 }}&gt;&#10;        &lt;Text style={{ fontSize: 15, color: '#9FB3CC', width: 130 }}&gt;规模档（8bit）&lt;/Text&gt;&#10;        &lt;Text style={{ fontSize: 15, color: '#E8EEF7', width: 120 }}&gt;N=32&lt;/Text&gt;&#10;        &lt;Text style={{ fontSize: 15, color: '#E8EEF7', width: 120 }}&gt;N=64&lt;/Text&gt;&#10;        &lt;Text style={{ fontSize: 15, color: '#E8EEF7', width: 140 }}&gt;N=128&lt;/Text&gt;&#10;        &lt;Text style={{ fontSize: 15, color: '#E8EEF7', width: 180 }}&gt;N=256&lt;/Text&gt;&#10;    &lt;/Box&gt;&#10;    &lt;Box style={{ flexDirection: 'row', gap: 16 }}&gt;&#10;        &lt;Text style={{ fontSize: 15, color: '#9FB3CC', width: 130 }}&gt;相对误差&lt;/Text&gt;&#10;        &lt;Text style={{ fontSize: 15, color: '#2563EB', fontFamily: 'Consolas', width: 120 }}&gt;0.018&lt;/Text&gt;&#10;        &lt;Text style={{ fontSize: 15, color: '#2563EB', fontFamily: 'Consolas', width: 120 }}&gt;0.027&lt;/Text&gt;&#10;        &lt;Text style={{ fontSize: 15, color: '#2563EB', fontFamily: 'Consolas', width: 140 }}&gt;0.024&lt;/Text&gt;&#10;        &lt;Text style={{ fontSize: 15, color: '#2563EB', fontFamily: 'Consolas', width: 180 }}&gt;0.030&lt;/Text&gt;&#10;    &lt;/Box&gt;&#10;    &lt;Box style={{ flexDirection: 'row', alignItems: 'center', justifyContent: 'space-between', borderTop: '1px solid rgba(159,179,204,0.25)', paddingTop: 16, marginTop: 26 }}&gt;&#10;        &lt;Text style={{ fontSize: 16, color: '#9FB3CC' }}&gt;LDA · 电子计算芯片（电子征程「吃狗粮」E1–E5）&lt;/Text&gt;&#10;        &lt;Text style={{ fontSize: 16, color: '#9FB3CC', fontFamily: 'Consolas' }}&gt;04 / 0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A1120"/>
          </a:solidFill>
          <a:ln/>
        </p:spPr>
        <p:txBody>
          <a:bodyPr/>
          <a:p/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685800" y="609600"/>
            <a:ext cx="10820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2563EB"/>
                </a:solidFill>
                <a:latin typeface="Microsoft YaHei"/>
                <a:ea typeface="Microsoft YaHei"/>
              </a:rPr>
              <a:t>关键结果</a:t>
            </a:r>
            <a:r>
              <a:rPr lang="en-US" sz="1200" b="1">
                <a:solidFill>
                  <a:srgbClr val="2563EB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 b="1">
                <a:solidFill>
                  <a:srgbClr val="2563EB"/>
                </a:solidFill>
                <a:latin typeface="Microsoft YaHei"/>
                <a:ea typeface="Microsoft YaHei"/>
              </a:rPr>
              <a:t>规模律（诚实报告）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685800" y="914400"/>
            <a:ext cx="108204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相对误差有界、绝对误差</a:t>
            </a:r>
            <a:r>
              <a:rPr lang="en-US" sz="30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∝ N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685800" y="1485900"/>
            <a:ext cx="10820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9FB3CC"/>
                </a:solidFill>
                <a:latin typeface="Microsoft YaHei"/>
                <a:ea typeface="Microsoft YaHei"/>
              </a:rPr>
              <a:t xml:space="preserve">MVM </a:t>
            </a:r>
            <a:r>
              <a:rPr lang="zh-CN" sz="1350">
                <a:solidFill>
                  <a:srgbClr val="9FB3CC"/>
                </a:solidFill>
                <a:latin typeface="Microsoft YaHei"/>
                <a:ea typeface="Microsoft YaHei"/>
              </a:rPr>
              <a:t>输出幅度随</a:t>
            </a:r>
            <a:r>
              <a:rPr lang="en-US" sz="1350">
                <a:solidFill>
                  <a:srgbClr val="9FB3CC"/>
                </a:solidFill>
                <a:latin typeface="Microsoft YaHei"/>
                <a:ea typeface="Microsoft YaHei"/>
              </a:rPr>
              <a:t xml:space="preserve"> N </a:t>
            </a:r>
            <a:r>
              <a:rPr lang="zh-CN" sz="1350">
                <a:solidFill>
                  <a:srgbClr val="9FB3CC"/>
                </a:solidFill>
                <a:latin typeface="Microsoft YaHei"/>
                <a:ea typeface="Microsoft YaHei"/>
              </a:rPr>
              <a:t>增长；固定位数</a:t>
            </a:r>
            <a:r>
              <a:rPr lang="en-US" sz="1350">
                <a:solidFill>
                  <a:srgbClr val="9FB3CC"/>
                </a:solidFill>
                <a:latin typeface="Microsoft YaHei"/>
                <a:ea typeface="Microsoft YaHei"/>
              </a:rPr>
              <a:t xml:space="preserve"> ADC </a:t>
            </a:r>
            <a:r>
              <a:rPr lang="zh-CN" sz="1350">
                <a:solidFill>
                  <a:srgbClr val="9FB3CC"/>
                </a:solidFill>
                <a:latin typeface="Microsoft YaHei"/>
                <a:ea typeface="Microsoft YaHei"/>
              </a:rPr>
              <a:t>下绝对</a:t>
            </a:r>
            <a:r>
              <a:rPr lang="en-US" sz="1350">
                <a:solidFill>
                  <a:srgbClr val="9FB3CC"/>
                </a:solidFill>
                <a:latin typeface="Microsoft YaHei"/>
                <a:ea typeface="Microsoft YaHei"/>
              </a:rPr>
              <a:t xml:space="preserve"> LSB </a:t>
            </a:r>
            <a:r>
              <a:rPr lang="zh-CN" sz="1350">
                <a:solidFill>
                  <a:srgbClr val="9FB3CC"/>
                </a:solidFill>
                <a:latin typeface="Microsoft YaHei"/>
                <a:ea typeface="Microsoft YaHei"/>
              </a:rPr>
              <a:t>随之增大</a:t>
            </a:r>
            <a:r>
              <a:rPr lang="en-US" sz="1350">
                <a:solidFill>
                  <a:srgbClr val="9FB3CC"/>
                </a:solidFill>
                <a:latin typeface="Microsoft YaHei"/>
                <a:ea typeface="Microsoft YaHei"/>
              </a:rPr>
              <a:t xml:space="preserve"> ⇒ </a:t>
            </a:r>
            <a:r>
              <a:rPr lang="zh-CN" sz="1350">
                <a:solidFill>
                  <a:srgbClr val="9FB3CC"/>
                </a:solidFill>
                <a:latin typeface="Microsoft YaHei"/>
                <a:ea typeface="Microsoft YaHei"/>
              </a:rPr>
              <a:t>须按层输出定标（</a:t>
            </a:r>
            <a:r>
              <a:rPr lang="en-US" sz="1350">
                <a:solidFill>
                  <a:srgbClr val="9FB3CC"/>
                </a:solidFill>
                <a:latin typeface="Microsoft YaHei"/>
                <a:ea typeface="Microsoft YaHei"/>
              </a:rPr>
              <a:t>out_norm</a:t>
            </a:r>
            <a:r>
              <a:rPr lang="zh-CN" sz="1350">
                <a:solidFill>
                  <a:srgbClr val="9FB3CC"/>
                </a:solidFill>
                <a:latin typeface="Microsoft YaHei"/>
                <a:ea typeface="Microsoft YaHei"/>
              </a:rPr>
              <a:t>）。</a:t>
            </a:r>
            <a:endParaRPr/>
          </a:p>
        </p:txBody>
      </p:sp>
      <p:sp>
        <p:nvSpPr>
          <p:cNvPr id="77" name=""/>
          <p:cNvSpPr/>
          <p:nvPr/>
        </p:nvSpPr>
        <p:spPr>
          <a:xfrm rot="0" flipH="0" flipV="0">
            <a:off x="685800" y="1905000"/>
            <a:ext cx="2381250" cy="1295400"/>
          </a:xfrm>
          <a:prstGeom prst="roundRect">
            <a:avLst>
              <a:gd name="adj" fmla="val 8824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895350" y="2076450"/>
            <a:ext cx="1962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单层</a:t>
            </a:r>
            <a:r>
              <a:rPr lang="en-US" sz="1125">
                <a:solidFill>
                  <a:srgbClr val="9FB3CC"/>
                </a:solidFill>
                <a:latin typeface="Microsoft YaHei"/>
                <a:ea typeface="Microsoft YaHei"/>
              </a:rPr>
              <a:t xml:space="preserve"> 8bit </a:t>
            </a: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误差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895350" y="2305050"/>
            <a:ext cx="19621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2563EB"/>
                </a:solidFill>
                <a:latin typeface="Consolas"/>
                <a:ea typeface="Consolas"/>
              </a:rPr>
              <a:t>0.0122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895350" y="2867025"/>
            <a:ext cx="1962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FB3CC"/>
                </a:solidFill>
                <a:latin typeface="Microsoft YaHei"/>
                <a:ea typeface="Microsoft YaHei"/>
              </a:rPr>
              <a:t xml:space="preserve">vs </a:t>
            </a:r>
            <a:r>
              <a:rPr lang="zh-CN" sz="1050">
                <a:solidFill>
                  <a:srgbClr val="9FB3CC"/>
                </a:solidFill>
                <a:latin typeface="Microsoft YaHei"/>
                <a:ea typeface="Microsoft YaHei"/>
              </a:rPr>
              <a:t>全精度数字</a:t>
            </a:r>
            <a:r>
              <a:rPr lang="en-US" sz="1050">
                <a:solidFill>
                  <a:srgbClr val="9FB3CC"/>
                </a:solidFill>
                <a:latin typeface="Microsoft YaHei"/>
                <a:ea typeface="Microsoft YaHei"/>
              </a:rPr>
              <a:t xml:space="preserve"> golden</a:t>
            </a:r>
            <a:endParaRPr/>
          </a:p>
        </p:txBody>
      </p:sp>
      <p:sp>
        <p:nvSpPr>
          <p:cNvPr id="81" name=""/>
          <p:cNvSpPr/>
          <p:nvPr/>
        </p:nvSpPr>
        <p:spPr>
          <a:xfrm rot="0" flipH="0" flipV="0">
            <a:off x="3219450" y="1905000"/>
            <a:ext cx="2381250" cy="1295400"/>
          </a:xfrm>
          <a:prstGeom prst="roundRect">
            <a:avLst>
              <a:gd name="adj" fmla="val 8824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p/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3429000" y="2076450"/>
            <a:ext cx="1962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9FB3CC"/>
                </a:solidFill>
                <a:latin typeface="Microsoft YaHei"/>
                <a:ea typeface="Microsoft YaHei"/>
              </a:rPr>
              <a:t xml:space="preserve">2 </a:t>
            </a: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层</a:t>
            </a:r>
            <a:r>
              <a:rPr lang="en-US" sz="1125">
                <a:solidFill>
                  <a:srgbClr val="9FB3CC"/>
                </a:solidFill>
                <a:latin typeface="Microsoft YaHei"/>
                <a:ea typeface="Microsoft YaHei"/>
              </a:rPr>
              <a:t xml:space="preserve"> MLP 6bit </a:t>
            </a: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误差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3429000" y="2305050"/>
            <a:ext cx="19621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2563EB"/>
                </a:solidFill>
                <a:latin typeface="Consolas"/>
                <a:ea typeface="Consolas"/>
              </a:rPr>
              <a:t>0.044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3429000" y="2867025"/>
            <a:ext cx="1962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FB3CC"/>
                </a:solidFill>
                <a:latin typeface="Microsoft YaHei"/>
                <a:ea typeface="Microsoft YaHei"/>
              </a:rPr>
              <a:t xml:space="preserve">ReLU </a:t>
            </a:r>
            <a:r>
              <a:rPr lang="zh-CN" sz="1050">
                <a:solidFill>
                  <a:srgbClr val="9FB3CC"/>
                </a:solidFill>
                <a:latin typeface="Microsoft YaHei"/>
                <a:ea typeface="Microsoft YaHei"/>
              </a:rPr>
              <a:t>层间累积</a:t>
            </a:r>
            <a:endParaRPr/>
          </a:p>
        </p:txBody>
      </p:sp>
      <p:sp>
        <p:nvSpPr>
          <p:cNvPr id="85" name=""/>
          <p:cNvSpPr/>
          <p:nvPr/>
        </p:nvSpPr>
        <p:spPr>
          <a:xfrm rot="0" flipH="0" flipV="0">
            <a:off x="5753100" y="1905000"/>
            <a:ext cx="2381250" cy="1295400"/>
          </a:xfrm>
          <a:prstGeom prst="roundRect">
            <a:avLst>
              <a:gd name="adj" fmla="val 8824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p/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5962650" y="2076450"/>
            <a:ext cx="1962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分块</a:t>
            </a:r>
            <a:r>
              <a:rPr lang="en-US" sz="1125">
                <a:solidFill>
                  <a:srgbClr val="9FB3CC"/>
                </a:solidFill>
                <a:latin typeface="Microsoft YaHei"/>
                <a:ea typeface="Microsoft YaHei"/>
              </a:rPr>
              <a:t xml:space="preserve"> tiling </a:t>
            </a: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误差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5962650" y="2305050"/>
            <a:ext cx="19621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2563EB"/>
                </a:solidFill>
                <a:latin typeface="Consolas"/>
                <a:ea typeface="Consolas"/>
              </a:rPr>
              <a:t>0.0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5962650" y="2867025"/>
            <a:ext cx="1962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FB3CC"/>
                </a:solidFill>
                <a:latin typeface="Microsoft YaHei"/>
                <a:ea typeface="Microsoft YaHei"/>
              </a:rPr>
              <a:t xml:space="preserve">= </a:t>
            </a:r>
            <a:r>
              <a:rPr lang="zh-CN" sz="1050">
                <a:solidFill>
                  <a:srgbClr val="9FB3CC"/>
                </a:solidFill>
                <a:latin typeface="Microsoft YaHei"/>
                <a:ea typeface="Microsoft YaHei"/>
              </a:rPr>
              <a:t>全阵（精确</a:t>
            </a:r>
            <a:r>
              <a:rPr lang="en-US" sz="1050">
                <a:solidFill>
                  <a:srgbClr val="9FB3C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9FB3CC"/>
                </a:solidFill>
                <a:latin typeface="Microsoft YaHei"/>
                <a:ea typeface="Microsoft YaHei"/>
              </a:rPr>
              <a:t>可组合）</a:t>
            </a:r>
            <a:endParaRPr/>
          </a:p>
        </p:txBody>
      </p:sp>
      <p:sp>
        <p:nvSpPr>
          <p:cNvPr id="89" name=""/>
          <p:cNvSpPr/>
          <p:nvPr/>
        </p:nvSpPr>
        <p:spPr>
          <a:xfrm rot="0" flipH="0" flipV="0">
            <a:off x="8286750" y="1905000"/>
            <a:ext cx="2381250" cy="1295400"/>
          </a:xfrm>
          <a:prstGeom prst="roundRect">
            <a:avLst>
              <a:gd name="adj" fmla="val 8824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p/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8496300" y="2076450"/>
            <a:ext cx="1962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9FB3CC"/>
                </a:solidFill>
                <a:latin typeface="Microsoft YaHei"/>
                <a:ea typeface="Microsoft YaHei"/>
              </a:rPr>
              <a:t xml:space="preserve">MNA </a:t>
            </a: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瞬态</a:t>
            </a:r>
            <a:r>
              <a:rPr lang="en-US" sz="1125">
                <a:solidFill>
                  <a:srgbClr val="9FB3CC"/>
                </a:solidFill>
                <a:latin typeface="Microsoft YaHei"/>
                <a:ea typeface="Microsoft YaHei"/>
              </a:rPr>
              <a:t xml:space="preserve"> vs </a:t>
            </a: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指数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8496300" y="2305050"/>
            <a:ext cx="19621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2563EB"/>
                </a:solidFill>
                <a:latin typeface="Consolas"/>
                <a:ea typeface="Consolas"/>
              </a:rPr>
              <a:t>&lt;2e-4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8496300" y="2867025"/>
            <a:ext cx="1962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FB3CC"/>
                </a:solidFill>
                <a:latin typeface="Microsoft YaHei"/>
                <a:ea typeface="Microsoft YaHei"/>
              </a:rPr>
              <a:t xml:space="preserve">RC </a:t>
            </a:r>
            <a:r>
              <a:rPr lang="zh-CN" sz="1050">
                <a:solidFill>
                  <a:srgbClr val="9FB3CC"/>
                </a:solidFill>
                <a:latin typeface="Microsoft YaHei"/>
                <a:ea typeface="Microsoft YaHei"/>
              </a:rPr>
              <a:t>一阶闭式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685800" y="3371850"/>
            <a:ext cx="1238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规模档（</a:t>
            </a:r>
            <a:r>
              <a:rPr lang="en-US" sz="1125">
                <a:solidFill>
                  <a:srgbClr val="9FB3CC"/>
                </a:solidFill>
                <a:latin typeface="Microsoft YaHei"/>
                <a:ea typeface="Microsoft YaHei"/>
              </a:rPr>
              <a:t>8bit</a:t>
            </a: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2076450" y="3371850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E8EEF7"/>
                </a:solidFill>
                <a:latin typeface="Microsoft YaHei"/>
                <a:ea typeface="Microsoft YaHei"/>
              </a:rPr>
              <a:t>N=32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3371850" y="3371850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E8EEF7"/>
                </a:solidFill>
                <a:latin typeface="Microsoft YaHei"/>
                <a:ea typeface="Microsoft YaHei"/>
              </a:rPr>
              <a:t>N=64</a:t>
            </a:r>
            <a:endParaRPr/>
          </a:p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4667250" y="3371850"/>
            <a:ext cx="1333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E8EEF7"/>
                </a:solidFill>
                <a:latin typeface="Microsoft YaHei"/>
                <a:ea typeface="Microsoft YaHei"/>
              </a:rPr>
              <a:t>N=128</a:t>
            </a:r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6153150" y="3371850"/>
            <a:ext cx="171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E8EEF7"/>
                </a:solidFill>
                <a:latin typeface="Microsoft YaHei"/>
                <a:ea typeface="Microsoft YaHei"/>
              </a:rPr>
              <a:t>N=256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685800" y="3619500"/>
            <a:ext cx="1238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相对误差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2076450" y="3619500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2563EB"/>
                </a:solidFill>
                <a:latin typeface="Consolas"/>
                <a:ea typeface="Consolas"/>
              </a:rPr>
              <a:t>0.018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3371850" y="3619500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2563EB"/>
                </a:solidFill>
                <a:latin typeface="Consolas"/>
                <a:ea typeface="Consolas"/>
              </a:rPr>
              <a:t>0.027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4667250" y="3619500"/>
            <a:ext cx="1333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2563EB"/>
                </a:solidFill>
                <a:latin typeface="Consolas"/>
                <a:ea typeface="Consolas"/>
              </a:rPr>
              <a:t>0.024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6153150" y="3619500"/>
            <a:ext cx="171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2563EB"/>
                </a:solidFill>
                <a:latin typeface="Consolas"/>
                <a:ea typeface="Consolas"/>
              </a:rPr>
              <a:t>0.030</a:t>
            </a:r>
            <a:endParaRPr/>
          </a:p>
        </p:txBody>
      </p:sp>
      <p:sp>
        <p:nvSpPr>
          <p:cNvPr id="103" name=""/>
          <p:cNvSpPr/>
          <p:nvPr/>
        </p:nvSpPr>
        <p:spPr>
          <a:xfrm rot="0" flipH="0" flipV="0">
            <a:off x="685800" y="4038600"/>
            <a:ext cx="10820400" cy="361950"/>
          </a:xfrm>
          <a:custGeom>
            <a:pathLst>
              <a:path w="1136" h="38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9FB3CC">
              <a:alpha val="25000"/>
            </a:srgbClr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685800" y="4200525"/>
            <a:ext cx="34480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FB3CC"/>
                </a:solidFill>
                <a:latin typeface="Microsoft YaHei"/>
                <a:ea typeface="Microsoft YaHei"/>
              </a:rPr>
              <a:t xml:space="preserve">LDA · </a:t>
            </a: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电子计算芯片（电子征程「吃狗粮」</a:t>
            </a:r>
            <a:r>
              <a:rPr lang="en-US" sz="1200">
                <a:solidFill>
                  <a:srgbClr val="9FB3CC"/>
                </a:solidFill>
                <a:latin typeface="Microsoft YaHei"/>
                <a:ea typeface="Microsoft YaHei"/>
              </a:rPr>
              <a:t>E1–E5</a:t>
            </a: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10915650" y="4200525"/>
            <a:ext cx="5905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FB3CC"/>
                </a:solidFill>
                <a:latin typeface="Consolas"/>
                <a:ea typeface="Consolas"/>
              </a:rPr>
              <a:t>04 / 06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06" name="" descr="&lt;Slide style={{ width: 1280, height: 720, background: '#0A1120', padding: '64px 72px', flexDirection: 'column' }}&gt;&#10;    &lt;Box style={{ flexDirection: 'column', gap: 12, marginBottom: 22 }}&gt;&#10;        &lt;Text style={{ fontSize: 16, color: '#2563EB', fontWeight: 'bold' }}&gt;先进性定位 · 架构族对齐&lt;/Text&gt;&#10;        &lt;Text style={{ fontSize: 40, fontWeight: 'bold', color: '#E8EEF7' }}&gt;同族可比 · 不同层级 · 不做数值超越比较&lt;/Text&gt;&#10;        &lt;Text style={{ fontSize: 18, color: '#9FB3CC' }}&gt;LDA 是设计 &amp;amp; 验证工具链（非流片芯片）⇒ 不报任何 TOPS / TOPS-W / fJ/op。&lt;/Text&gt;&#10;    &lt;/Box&gt;&#10;    &lt;Box style={{ flexDirection: 'column', gap: 10, marginBottom: 16 }}&gt;&#10;        &lt;Box style={{ flexDirection: 'row', gap: 14, background: 'rgba(255,255,255,0.05)', borderRadius: 10, padding: '12px 20px' }}&gt;&#10;            &lt;Text style={{ fontSize: 16, color: '#9FB3CC', width: 200 }}&gt;架构族&lt;/Text&gt;&#10;            &lt;Text style={{ fontSize: 16, color: '#E8EEF7' }}&gt;analog CIM MVM 交叉阵列&lt;/Text&gt;&#10;            &lt;Text style={{ fontSize: 16, color: '#2563EB', fontWeight: 'bold' }}&gt;→ 本案例同族（电子版「光子 MZI 网格」）&lt;/Text&gt;&#10;        &lt;/Box&gt;&#10;        &lt;Box style={{ flexDirection: 'row', gap: 14, background: 'rgba(255,255,255,0.05)', borderRadius: 10, padding: '12px 20px' }}&gt;&#10;            &lt;Text style={{ fontSize: 16, color: '#9FB3CC', width: 200 }}&gt;工具链来源&lt;/Text&gt;&#10;            &lt;Text style={{ fontSize: 16, color: '#E8EEF7' }}&gt;闭源 CAD/PDK + 商业 SPICE&lt;/Text&gt;&#10;            &lt;Text style={{ fontSize: 16, color: '#2563EB', fontWeight: 'bold' }}&gt;→ 开源 MIT · 零外部 SPICE 引擎（自研）&lt;/Text&gt;&#10;        &lt;/Box&gt;&#10;        &lt;Box style={{ flexDirection: 'row', gap: 14, background: 'rgba(255,255,255,0.05)', borderRadius: 10, padding: '12px 20px' }}&gt;&#10;            &lt;Text style={{ fontSize: 16, color: '#9FB3CC', width: 200 }}&gt;判决路径&lt;/Text&gt;&#10;            &lt;Text style={{ fontSize: 16, color: '#E8EEF7' }}&gt;实测 + 数值仿真混合&lt;/Text&gt;&#10;            &lt;Text style={{ fontSize: 16, color: '#2563EB', fontWeight: 'bold' }}&gt;→ LLM 不进判决路径（死标量比对）&lt;/Text&gt;&#10;        &lt;/Box&gt;&#10;        &lt;Box style={{ flexDirection: 'row', gap: 14, background: 'rgba(255,255,255,0.05)', borderRadius: 10, padding: '12px 20px' }}&gt;&#10;            &lt;Text style={{ fontSize: 16, color: '#9FB3CC', width: 200 }}&gt;能效口径&lt;/Text&gt;&#10;            &lt;Text style={{ fontSize: 16, color: '#E8EEF7' }}&gt;有实测/宣称 TOPS 与 W&lt;/Text&gt;&#10;            &lt;Text style={{ fontSize: 16, color: '#2563EB', fontWeight: 'bold' }}&gt;→ 不报能效/吞吐（口径不同，不可比数）&lt;/Text&gt;&#10;        &lt;/Box&gt;&#10;    &lt;/Box&gt;&#10;    &lt;Box style={{ background: 'rgba(37,99,235,0.10)', borderRadius: 10, padding: '14px 20px', flexDirection: 'column', gap: 6 }}&gt;&#10;        &lt;Text style={{ fontSize: 15, color: '#9FB3CC' }}&gt;公开 landmark（A 级公开来源 · 照录 · 未验证 · 仅背景坐标 · 不同台比较）&lt;/Text&gt;&#10;        &lt;Text style={{ fontSize: 15, color: '#E8EEF7' }}&gt;Mythic M1076 AMP：analog compute-in-memory MVM（flash array + on-die ADC）· up to 25 TOPS · typ. 3–4 W · 76 AMP tiles · 80M weights · INT4/INT8&lt;/Text&gt;&#10;    &lt;/Box&gt;&#10;    &lt;Box style={{ flexDirection: 'row', alignItems: 'center', justifyContent: 'space-between', borderTop: '1px solid rgba(159,179,204,0.25)', paddingTop: 16, marginTop: 22 }}&gt;&#10;        &lt;Text style={{ fontSize: 16, color: '#9FB3CC' }}&gt;LDA · 电子计算芯片（电子征程「吃狗粮」E1–E5）&lt;/Text&gt;&#10;        &lt;Text style={{ fontSize: 16, color: '#9FB3CC', fontFamily: 'Consolas' }}&gt;05 / 0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A1120"/>
          </a:solidFill>
          <a:ln/>
        </p:spPr>
        <p:txBody>
          <a:bodyPr/>
          <a:p/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685800" y="609600"/>
            <a:ext cx="10820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2563EB"/>
                </a:solidFill>
                <a:latin typeface="Microsoft YaHei"/>
                <a:ea typeface="Microsoft YaHei"/>
              </a:rPr>
              <a:t>先进性定位</a:t>
            </a:r>
            <a:r>
              <a:rPr lang="en-US" sz="1200" b="1">
                <a:solidFill>
                  <a:srgbClr val="2563EB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 b="1">
                <a:solidFill>
                  <a:srgbClr val="2563EB"/>
                </a:solidFill>
                <a:latin typeface="Microsoft YaHei"/>
                <a:ea typeface="Microsoft YaHei"/>
              </a:rPr>
              <a:t>架构族对齐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685800" y="914400"/>
            <a:ext cx="108204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同族可比</a:t>
            </a:r>
            <a:r>
              <a:rPr lang="en-US" sz="30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不同层级</a:t>
            </a:r>
            <a:r>
              <a:rPr lang="en-US" sz="30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000" b="1">
                <a:solidFill>
                  <a:srgbClr val="E8EEF7"/>
                </a:solidFill>
                <a:latin typeface="Microsoft YaHei"/>
                <a:ea typeface="Microsoft YaHei"/>
              </a:rPr>
              <a:t>不做数值超越比较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685800" y="1485900"/>
            <a:ext cx="10820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9FB3CC"/>
                </a:solidFill>
                <a:latin typeface="Microsoft YaHei"/>
                <a:ea typeface="Microsoft YaHei"/>
              </a:rPr>
              <a:t xml:space="preserve">LDA </a:t>
            </a:r>
            <a:r>
              <a:rPr lang="zh-CN" sz="1350">
                <a:solidFill>
                  <a:srgbClr val="9FB3CC"/>
                </a:solidFill>
                <a:latin typeface="Microsoft YaHei"/>
                <a:ea typeface="Microsoft YaHei"/>
              </a:rPr>
              <a:t>是设计</a:t>
            </a:r>
            <a:r>
              <a:rPr lang="en-US" sz="1350">
                <a:solidFill>
                  <a:srgbClr val="9FB3CC"/>
                </a:solidFill>
                <a:latin typeface="Microsoft YaHei"/>
                <a:ea typeface="Microsoft YaHei"/>
              </a:rPr>
              <a:t xml:space="preserve"> &amp; </a:t>
            </a:r>
            <a:r>
              <a:rPr lang="zh-CN" sz="1350">
                <a:solidFill>
                  <a:srgbClr val="9FB3CC"/>
                </a:solidFill>
                <a:latin typeface="Microsoft YaHei"/>
                <a:ea typeface="Microsoft YaHei"/>
              </a:rPr>
              <a:t>验证工具链（非流片芯片）⇒</a:t>
            </a:r>
            <a:r>
              <a:rPr lang="en-US" sz="1350">
                <a:solidFill>
                  <a:srgbClr val="9FB3CC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9FB3CC"/>
                </a:solidFill>
                <a:latin typeface="Microsoft YaHei"/>
                <a:ea typeface="Microsoft YaHei"/>
              </a:rPr>
              <a:t>不报任何</a:t>
            </a:r>
            <a:r>
              <a:rPr lang="en-US" sz="1350">
                <a:solidFill>
                  <a:srgbClr val="9FB3CC"/>
                </a:solidFill>
                <a:latin typeface="Microsoft YaHei"/>
                <a:ea typeface="Microsoft YaHei"/>
              </a:rPr>
              <a:t xml:space="preserve"> TOPS / TOPS-W / fJ/op</a:t>
            </a:r>
            <a:r>
              <a:rPr lang="zh-CN" sz="1350">
                <a:solidFill>
                  <a:srgbClr val="9FB3CC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11" name=""/>
          <p:cNvSpPr/>
          <p:nvPr/>
        </p:nvSpPr>
        <p:spPr>
          <a:xfrm rot="0" flipH="0" flipV="0">
            <a:off x="685800" y="1905000"/>
            <a:ext cx="10820400" cy="419100"/>
          </a:xfrm>
          <a:prstGeom prst="roundRect">
            <a:avLst>
              <a:gd name="adj" fmla="val 22727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p/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876300" y="2019300"/>
            <a:ext cx="1905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架构族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2914650" y="2019300"/>
            <a:ext cx="19431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E8EEF7"/>
                </a:solidFill>
                <a:latin typeface="Microsoft YaHei"/>
                <a:ea typeface="Microsoft YaHei"/>
              </a:rPr>
              <a:t xml:space="preserve">analog CIM MVM </a:t>
            </a:r>
            <a:r>
              <a:rPr lang="zh-CN" sz="1200">
                <a:solidFill>
                  <a:srgbClr val="E8EEF7"/>
                </a:solidFill>
                <a:latin typeface="Microsoft YaHei"/>
                <a:ea typeface="Microsoft YaHei"/>
              </a:rPr>
              <a:t>交叉阵列</a:t>
            </a:r>
            <a:endParaRPr/>
          </a:p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4991100" y="2019300"/>
            <a:ext cx="30384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2563EB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 b="1">
                <a:solidFill>
                  <a:srgbClr val="2563EB"/>
                </a:solidFill>
                <a:latin typeface="Microsoft YaHei"/>
                <a:ea typeface="Microsoft YaHei"/>
              </a:rPr>
              <a:t>本案例同族（电子版「光子</a:t>
            </a:r>
            <a:r>
              <a:rPr lang="en-US" sz="1200" b="1">
                <a:solidFill>
                  <a:srgbClr val="2563EB"/>
                </a:solidFill>
                <a:latin typeface="Microsoft YaHei"/>
                <a:ea typeface="Microsoft YaHei"/>
              </a:rPr>
              <a:t xml:space="preserve"> MZI </a:t>
            </a:r>
            <a:r>
              <a:rPr lang="zh-CN" sz="1200" b="1">
                <a:solidFill>
                  <a:srgbClr val="2563EB"/>
                </a:solidFill>
                <a:latin typeface="Microsoft YaHei"/>
                <a:ea typeface="Microsoft YaHei"/>
              </a:rPr>
              <a:t>网格」）</a:t>
            </a:r>
            <a:endParaRPr/>
          </a:p>
        </p:txBody>
      </p:sp>
      <p:sp>
        <p:nvSpPr>
          <p:cNvPr id="115" name=""/>
          <p:cNvSpPr/>
          <p:nvPr/>
        </p:nvSpPr>
        <p:spPr>
          <a:xfrm rot="0" flipH="0" flipV="0">
            <a:off x="685800" y="2419350"/>
            <a:ext cx="10820400" cy="419100"/>
          </a:xfrm>
          <a:prstGeom prst="roundRect">
            <a:avLst>
              <a:gd name="adj" fmla="val 22727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p/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876300" y="2533650"/>
            <a:ext cx="1905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工具链来源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2914650" y="2533650"/>
            <a:ext cx="2019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E8EEF7"/>
                </a:solidFill>
                <a:latin typeface="Microsoft YaHei"/>
                <a:ea typeface="Microsoft YaHei"/>
              </a:rPr>
              <a:t>闭源</a:t>
            </a:r>
            <a:r>
              <a:rPr lang="en-US" sz="1200">
                <a:solidFill>
                  <a:srgbClr val="E8EEF7"/>
                </a:solidFill>
                <a:latin typeface="Microsoft YaHei"/>
                <a:ea typeface="Microsoft YaHei"/>
              </a:rPr>
              <a:t xml:space="preserve"> CAD/PDK + </a:t>
            </a:r>
            <a:r>
              <a:rPr lang="zh-CN" sz="1200">
                <a:solidFill>
                  <a:srgbClr val="E8EEF7"/>
                </a:solidFill>
                <a:latin typeface="Microsoft YaHei"/>
                <a:ea typeface="Microsoft YaHei"/>
              </a:rPr>
              <a:t>商业</a:t>
            </a:r>
            <a:r>
              <a:rPr lang="en-US" sz="1200">
                <a:solidFill>
                  <a:srgbClr val="E8EEF7"/>
                </a:solidFill>
                <a:latin typeface="Microsoft YaHei"/>
                <a:ea typeface="Microsoft YaHei"/>
              </a:rPr>
              <a:t xml:space="preserve"> SPICE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5067300" y="2533650"/>
            <a:ext cx="2905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2563EB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 b="1">
                <a:solidFill>
                  <a:srgbClr val="2563EB"/>
                </a:solidFill>
                <a:latin typeface="Microsoft YaHei"/>
                <a:ea typeface="Microsoft YaHei"/>
              </a:rPr>
              <a:t>开源</a:t>
            </a:r>
            <a:r>
              <a:rPr lang="en-US" sz="1200" b="1">
                <a:solidFill>
                  <a:srgbClr val="2563EB"/>
                </a:solidFill>
                <a:latin typeface="Microsoft YaHei"/>
                <a:ea typeface="Microsoft YaHei"/>
              </a:rPr>
              <a:t xml:space="preserve"> MIT · </a:t>
            </a:r>
            <a:r>
              <a:rPr lang="zh-CN" sz="1200" b="1">
                <a:solidFill>
                  <a:srgbClr val="2563EB"/>
                </a:solidFill>
                <a:latin typeface="Microsoft YaHei"/>
                <a:ea typeface="Microsoft YaHei"/>
              </a:rPr>
              <a:t>零外部</a:t>
            </a:r>
            <a:r>
              <a:rPr lang="en-US" sz="1200" b="1">
                <a:solidFill>
                  <a:srgbClr val="2563EB"/>
                </a:solidFill>
                <a:latin typeface="Microsoft YaHei"/>
                <a:ea typeface="Microsoft YaHei"/>
              </a:rPr>
              <a:t xml:space="preserve"> SPICE </a:t>
            </a:r>
            <a:r>
              <a:rPr lang="zh-CN" sz="1200" b="1">
                <a:solidFill>
                  <a:srgbClr val="2563EB"/>
                </a:solidFill>
                <a:latin typeface="Microsoft YaHei"/>
                <a:ea typeface="Microsoft YaHei"/>
              </a:rPr>
              <a:t>引擎（自研）</a:t>
            </a:r>
            <a:endParaRPr/>
          </a:p>
        </p:txBody>
      </p:sp>
      <p:sp>
        <p:nvSpPr>
          <p:cNvPr id="119" name=""/>
          <p:cNvSpPr/>
          <p:nvPr/>
        </p:nvSpPr>
        <p:spPr>
          <a:xfrm rot="0" flipH="0" flipV="0">
            <a:off x="685800" y="2933700"/>
            <a:ext cx="10820400" cy="419100"/>
          </a:xfrm>
          <a:prstGeom prst="roundRect">
            <a:avLst>
              <a:gd name="adj" fmla="val 22727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p/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876300" y="3048000"/>
            <a:ext cx="1905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判决路径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2914650" y="3048000"/>
            <a:ext cx="1428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E8EEF7"/>
                </a:solidFill>
                <a:latin typeface="Microsoft YaHei"/>
                <a:ea typeface="Microsoft YaHei"/>
              </a:rPr>
              <a:t>实测</a:t>
            </a:r>
            <a:r>
              <a:rPr lang="en-US" sz="1200">
                <a:solidFill>
                  <a:srgbClr val="E8EEF7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E8EEF7"/>
                </a:solidFill>
                <a:latin typeface="Microsoft YaHei"/>
                <a:ea typeface="Microsoft YaHei"/>
              </a:rPr>
              <a:t>数值仿真混合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4476750" y="3048000"/>
            <a:ext cx="2552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2563EB"/>
                </a:solidFill>
                <a:latin typeface="Microsoft YaHei"/>
                <a:ea typeface="Microsoft YaHei"/>
              </a:rPr>
              <a:t xml:space="preserve">→ LLM </a:t>
            </a:r>
            <a:r>
              <a:rPr lang="zh-CN" sz="1200" b="1">
                <a:solidFill>
                  <a:srgbClr val="2563EB"/>
                </a:solidFill>
                <a:latin typeface="Microsoft YaHei"/>
                <a:ea typeface="Microsoft YaHei"/>
              </a:rPr>
              <a:t>不进判决路径（死标量比对）</a:t>
            </a:r>
            <a:endParaRPr/>
          </a:p>
        </p:txBody>
      </p:sp>
      <p:sp>
        <p:nvSpPr>
          <p:cNvPr id="123" name=""/>
          <p:cNvSpPr/>
          <p:nvPr/>
        </p:nvSpPr>
        <p:spPr>
          <a:xfrm rot="0" flipH="0" flipV="0">
            <a:off x="685800" y="3448050"/>
            <a:ext cx="10820400" cy="419100"/>
          </a:xfrm>
          <a:prstGeom prst="roundRect">
            <a:avLst>
              <a:gd name="adj" fmla="val 22727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p/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876300" y="3562350"/>
            <a:ext cx="1905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能效口径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2914650" y="3562350"/>
            <a:ext cx="16573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E8EEF7"/>
                </a:solidFill>
                <a:latin typeface="Microsoft YaHei"/>
                <a:ea typeface="Microsoft YaHei"/>
              </a:rPr>
              <a:t>有实测</a:t>
            </a:r>
            <a:r>
              <a:rPr lang="en-US" sz="1200">
                <a:solidFill>
                  <a:srgbClr val="E8EEF7"/>
                </a:solidFill>
                <a:latin typeface="Microsoft YaHei"/>
                <a:ea typeface="Microsoft YaHei"/>
              </a:rPr>
              <a:t>/</a:t>
            </a:r>
            <a:r>
              <a:rPr lang="zh-CN" sz="1200">
                <a:solidFill>
                  <a:srgbClr val="E8EEF7"/>
                </a:solidFill>
                <a:latin typeface="Microsoft YaHei"/>
                <a:ea typeface="Microsoft YaHei"/>
              </a:rPr>
              <a:t>宣称</a:t>
            </a:r>
            <a:r>
              <a:rPr lang="en-US" sz="1200">
                <a:solidFill>
                  <a:srgbClr val="E8EEF7"/>
                </a:solidFill>
                <a:latin typeface="Microsoft YaHei"/>
                <a:ea typeface="Microsoft YaHei"/>
              </a:rPr>
              <a:t xml:space="preserve"> TOPS </a:t>
            </a:r>
            <a:r>
              <a:rPr lang="zh-CN" sz="1200">
                <a:solidFill>
                  <a:srgbClr val="E8EEF7"/>
                </a:solidFill>
                <a:latin typeface="Microsoft YaHei"/>
                <a:ea typeface="Microsoft YaHei"/>
              </a:rPr>
              <a:t>与</a:t>
            </a:r>
            <a:r>
              <a:rPr lang="en-US" sz="1200">
                <a:solidFill>
                  <a:srgbClr val="E8EEF7"/>
                </a:solidFill>
                <a:latin typeface="Microsoft YaHei"/>
                <a:ea typeface="Microsoft YaHei"/>
              </a:rPr>
              <a:t xml:space="preserve"> W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4705350" y="3562350"/>
            <a:ext cx="28670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2563EB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 b="1">
                <a:solidFill>
                  <a:srgbClr val="2563EB"/>
                </a:solidFill>
                <a:latin typeface="Microsoft YaHei"/>
                <a:ea typeface="Microsoft YaHei"/>
              </a:rPr>
              <a:t>不报能效</a:t>
            </a:r>
            <a:r>
              <a:rPr lang="en-US" sz="1200" b="1">
                <a:solidFill>
                  <a:srgbClr val="2563EB"/>
                </a:solidFill>
                <a:latin typeface="Microsoft YaHei"/>
                <a:ea typeface="Microsoft YaHei"/>
              </a:rPr>
              <a:t>/</a:t>
            </a:r>
            <a:r>
              <a:rPr lang="zh-CN" sz="1200" b="1">
                <a:solidFill>
                  <a:srgbClr val="2563EB"/>
                </a:solidFill>
                <a:latin typeface="Microsoft YaHei"/>
                <a:ea typeface="Microsoft YaHei"/>
              </a:rPr>
              <a:t>吞吐（口径不同，不可比数）</a:t>
            </a:r>
            <a:endParaRPr/>
          </a:p>
        </p:txBody>
      </p:sp>
      <p:sp>
        <p:nvSpPr>
          <p:cNvPr id="127" name=""/>
          <p:cNvSpPr/>
          <p:nvPr/>
        </p:nvSpPr>
        <p:spPr>
          <a:xfrm rot="0" flipH="0" flipV="0">
            <a:off x="685800" y="4019550"/>
            <a:ext cx="10820400" cy="838200"/>
          </a:xfrm>
          <a:prstGeom prst="roundRect">
            <a:avLst>
              <a:gd name="adj" fmla="val 11364"/>
            </a:avLst>
          </a:prstGeom>
          <a:solidFill>
            <a:srgbClr val="2563EB">
              <a:alpha val="10000"/>
            </a:srgbClr>
          </a:solidFill>
          <a:ln/>
        </p:spPr>
        <p:txBody>
          <a:bodyPr/>
          <a:p/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876300" y="4152900"/>
            <a:ext cx="10439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公开</a:t>
            </a:r>
            <a:r>
              <a:rPr lang="en-US" sz="1125">
                <a:solidFill>
                  <a:srgbClr val="9FB3CC"/>
                </a:solidFill>
                <a:latin typeface="Microsoft YaHei"/>
                <a:ea typeface="Microsoft YaHei"/>
              </a:rPr>
              <a:t xml:space="preserve"> landmark</a:t>
            </a: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（</a:t>
            </a:r>
            <a:r>
              <a:rPr lang="en-US" sz="1125">
                <a:solidFill>
                  <a:srgbClr val="9FB3CC"/>
                </a:solidFill>
                <a:latin typeface="Microsoft YaHei"/>
                <a:ea typeface="Microsoft YaHei"/>
              </a:rPr>
              <a:t xml:space="preserve">A </a:t>
            </a: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级公开来源</a:t>
            </a:r>
            <a:r>
              <a:rPr lang="en-US" sz="1125">
                <a:solidFill>
                  <a:srgbClr val="9FB3C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照录</a:t>
            </a:r>
            <a:r>
              <a:rPr lang="en-US" sz="1125">
                <a:solidFill>
                  <a:srgbClr val="9FB3C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未验证</a:t>
            </a:r>
            <a:r>
              <a:rPr lang="en-US" sz="1125">
                <a:solidFill>
                  <a:srgbClr val="9FB3C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仅背景坐标</a:t>
            </a:r>
            <a:r>
              <a:rPr lang="en-US" sz="1125">
                <a:solidFill>
                  <a:srgbClr val="9FB3C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不同台比较）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876300" y="4381500"/>
            <a:ext cx="10439400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>
                <a:solidFill>
                  <a:srgbClr val="E8EEF7"/>
                </a:solidFill>
                <a:latin typeface="Microsoft YaHei"/>
                <a:ea typeface="Microsoft YaHei"/>
              </a:rPr>
              <a:t>Mythic M1076 AMP</a:t>
            </a:r>
            <a:r>
              <a:rPr lang="zh-CN" sz="1125">
                <a:solidFill>
                  <a:srgbClr val="E8EEF7"/>
                </a:solidFill>
                <a:latin typeface="Microsoft YaHei"/>
                <a:ea typeface="Microsoft YaHei"/>
              </a:rPr>
              <a:t>：</a:t>
            </a:r>
            <a:r>
              <a:rPr lang="en-US" sz="1125">
                <a:solidFill>
                  <a:srgbClr val="E8EEF7"/>
                </a:solidFill>
                <a:latin typeface="Microsoft YaHei"/>
                <a:ea typeface="Microsoft YaHei"/>
              </a:rPr>
              <a:t>analog compute-in-memory MVM</a:t>
            </a:r>
            <a:r>
              <a:rPr lang="zh-CN" sz="1125">
                <a:solidFill>
                  <a:srgbClr val="E8EEF7"/>
                </a:solidFill>
                <a:latin typeface="Microsoft YaHei"/>
                <a:ea typeface="Microsoft YaHei"/>
              </a:rPr>
              <a:t>（</a:t>
            </a:r>
            <a:r>
              <a:rPr lang="en-US" sz="1125">
                <a:solidFill>
                  <a:srgbClr val="E8EEF7"/>
                </a:solidFill>
                <a:latin typeface="Microsoft YaHei"/>
                <a:ea typeface="Microsoft YaHei"/>
              </a:rPr>
              <a:t>flash array + on-die ADC</a:t>
            </a:r>
            <a:r>
              <a:rPr lang="zh-CN" sz="1125">
                <a:solidFill>
                  <a:srgbClr val="E8EEF7"/>
                </a:solidFill>
                <a:latin typeface="Microsoft YaHei"/>
                <a:ea typeface="Microsoft YaHei"/>
              </a:rPr>
              <a:t>）·</a:t>
            </a:r>
            <a:r>
              <a:rPr lang="en-US" sz="1125">
                <a:solidFill>
                  <a:srgbClr val="E8EEF7"/>
                </a:solidFill>
                <a:latin typeface="Microsoft YaHei"/>
                <a:ea typeface="Microsoft YaHei"/>
              </a:rPr>
              <a:t xml:space="preserve"> up to 25 TOPS · typ. 3–4 W · 76 AMP tiles · 80M weights · INT4/INT8</a:t>
            </a:r>
            <a:endParaRPr/>
          </a:p>
        </p:txBody>
      </p:sp>
      <p:sp>
        <p:nvSpPr>
          <p:cNvPr id="130" name=""/>
          <p:cNvSpPr/>
          <p:nvPr/>
        </p:nvSpPr>
        <p:spPr>
          <a:xfrm rot="0" flipH="0" flipV="0">
            <a:off x="685800" y="5067300"/>
            <a:ext cx="10820400" cy="361950"/>
          </a:xfrm>
          <a:custGeom>
            <a:pathLst>
              <a:path w="1136" h="38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9FB3CC">
              <a:alpha val="25000"/>
            </a:srgbClr>
          </a:solidFill>
          <a:ln/>
        </p:spPr>
        <p:txBody>
          <a:bodyPr/>
          <a:p/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685800" y="5229225"/>
            <a:ext cx="34480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FB3CC"/>
                </a:solidFill>
                <a:latin typeface="Microsoft YaHei"/>
                <a:ea typeface="Microsoft YaHei"/>
              </a:rPr>
              <a:t xml:space="preserve">LDA · </a:t>
            </a: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电子计算芯片（电子征程「吃狗粮」</a:t>
            </a:r>
            <a:r>
              <a:rPr lang="en-US" sz="1200">
                <a:solidFill>
                  <a:srgbClr val="9FB3CC"/>
                </a:solidFill>
                <a:latin typeface="Microsoft YaHei"/>
                <a:ea typeface="Microsoft YaHei"/>
              </a:rPr>
              <a:t>E1–E5</a:t>
            </a: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10915650" y="5229225"/>
            <a:ext cx="5905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FB3CC"/>
                </a:solidFill>
                <a:latin typeface="Consolas"/>
                <a:ea typeface="Consolas"/>
              </a:rPr>
              <a:t>05 / 06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33" name="" descr="&lt;Slide style={{ width: 1280, height: 720, background: '#0A1120', padding: '64px 72px', flexDirection: 'column', justifyContent: 'space-between' }}&gt;&#10;    &lt;Box style={{ flexDirection: 'column', gap: 20, marginTop: 30 }}&gt;&#10;        &lt;Box style={{ flexDirection: 'row', alignItems: 'center', gap: 14 }}&gt;&#10;            &lt;Box style={{ width: 6, height: 32, background: '#2563EB', borderRadius: 3 }} /&gt;&#10;            &lt;Text style={{ fontSize: 19, color: '#9FB3CC' }}&gt;收尾 · 电子征程 E1–E5 全部闭环&lt;/Text&gt;&#10;        &lt;/Box&gt;&#10;        &lt;Text style={{ fontSize: 44, fontWeight: 'bold', color: '#E8EEF7', lineHeight: 1.2 }}&gt;从「平台无晶体管级模型、无电路仿真器」&lt;br/&gt;到「能设计完整模拟计算数据通路并端到端验证」&lt;/Text&gt;&#10;        &lt;Box style={{ flexDirection: 'row', gap: 16, marginTop: 8 }}&gt;&#10;            &lt;Box style={{ flexDirection: 'column', background: 'rgba(255,255,255,0.05)', borderRadius: 12, padding: '18px 24px', width: 340, gap: 6 }}&gt;&#10;                &lt;Text style={{ fontSize: 22, fontWeight: 'bold', color: '#2563EB' }}&gt;四条路线已吃狗粮&lt;/Text&gt;&#10;                &lt;Text style={{ fontSize: 15, color: '#9FB3CC', lineHeight: 1.6 }}&gt;光子计算 M1–M5 · 光量子 LOQC · 超导 transmon S1–S5 · 电子计算 E1–E5&lt;/Text&gt;&#10;            &lt;/Box&gt;&#10;            &lt;Box style={{ flexDirection: 'column', background: 'rgba(255,255,255,0.05)', borderRadius: 12, padding: '18px 24px', width: 340, gap: 6 }}&gt;&#10;                &lt;Text style={{ fontSize: 22, fontWeight: 'bold', color: '#2563EB' }}&gt;能力已硬化&lt;/Text&gt;&#10;                &lt;Text style={{ fontSize: 15, color: '#9FB3CC', lineHeight: 1.6 }}&gt;ecore 能力清单 + 双向完备守护门禁 ⇒ 能力面不再静默失守&lt;/Text&gt;&#10;            &lt;/Box&gt;&#10;            &lt;Box style={{ flexDirection: 'column', background: 'rgba(255,255,255,0.05)', borderRadius: 12, padding: '18px 24px', width: 340, gap: 6 }}&gt;&#10;                &lt;Text style={{ fontSize: 22, fontWeight: 'bold', color: '#2563EB' }}&gt;诚实边界&lt;/Text&gt;&#10;                &lt;Text style={{ fontSize: 15, color: '#9FB3CC', lineHeight: 1.6 }}&gt;设计期验证 · 非流片实测 · 不报 fabricated 能效 · landmark 仅背景坐标&lt;/Text&gt;&#10;            &lt;/Box&gt;&#10;        &lt;/Box&gt;&#10;    &lt;/Box&gt;&#10;    &lt;Box style={{ flexDirection: 'row', alignItems: 'center', justifyContent: 'space-between', borderTop: '1px solid rgba(159,179,204,0.25)', paddingTop: 16 }}&gt;&#10;        &lt;Text style={{ fontSize: 16, color: '#9FB3CC' }}&gt;LDA · 开源 Agent-native 光 / 量 / 电子 EDA（MIT）· 电子计算征程 E1–E5（D-150…D-154）&lt;/Text&gt;&#10;        &lt;Text style={{ fontSize: 16, color: '#9FB3CC', fontFamily: 'Consolas' }}&gt;06 / 0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A1120"/>
          </a:solidFill>
          <a:ln/>
        </p:spPr>
        <p:txBody>
          <a:bodyPr/>
          <a:p/>
        </p:txBody>
      </p:sp>
      <p:sp>
        <p:nvSpPr>
          <p:cNvPr id="135" name=""/>
          <p:cNvSpPr/>
          <p:nvPr/>
        </p:nvSpPr>
        <p:spPr>
          <a:xfrm rot="0" flipH="0" flipV="0">
            <a:off x="685800" y="895350"/>
            <a:ext cx="57150" cy="3048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876300" y="942975"/>
            <a:ext cx="25812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9FB3CC"/>
                </a:solidFill>
                <a:latin typeface="Microsoft YaHei"/>
                <a:ea typeface="Microsoft YaHei"/>
              </a:rPr>
              <a:t>收尾</a:t>
            </a:r>
            <a:r>
              <a:rPr lang="en-US" sz="1425">
                <a:solidFill>
                  <a:srgbClr val="9FB3C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425">
                <a:solidFill>
                  <a:srgbClr val="9FB3CC"/>
                </a:solidFill>
                <a:latin typeface="Microsoft YaHei"/>
                <a:ea typeface="Microsoft YaHei"/>
              </a:rPr>
              <a:t>电子征程</a:t>
            </a:r>
            <a:r>
              <a:rPr lang="en-US" sz="1425">
                <a:solidFill>
                  <a:srgbClr val="9FB3CC"/>
                </a:solidFill>
                <a:latin typeface="Microsoft YaHei"/>
                <a:ea typeface="Microsoft YaHei"/>
              </a:rPr>
              <a:t xml:space="preserve"> E1–E5 </a:t>
            </a:r>
            <a:r>
              <a:rPr lang="zh-CN" sz="1425">
                <a:solidFill>
                  <a:srgbClr val="9FB3CC"/>
                </a:solidFill>
                <a:latin typeface="Microsoft YaHei"/>
                <a:ea typeface="Microsoft YaHei"/>
              </a:rPr>
              <a:t>全部闭环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685800" y="1390650"/>
            <a:ext cx="10820400" cy="120967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3300" b="1">
                <a:solidFill>
                  <a:srgbClr val="E8EEF7"/>
                </a:solidFill>
                <a:latin typeface="Microsoft YaHei"/>
                <a:ea typeface="Microsoft YaHei"/>
              </a:rPr>
              <a:t>从「平台无晶体管级模型、无电路仿真器」</a:t>
            </a:r>
            <a:endParaRPr/>
          </a:p>
          <a:p>
            <a:pPr>
              <a:lnSpc>
                <a:spcPct val="120000"/>
              </a:lnSpc>
            </a:pPr>
            <a:r>
              <a:rPr lang="zh-CN" sz="3300" b="1">
                <a:solidFill>
                  <a:srgbClr val="E8EEF7"/>
                </a:solidFill>
                <a:latin typeface="Microsoft YaHei"/>
                <a:ea typeface="Microsoft YaHei"/>
              </a:rPr>
              <a:t>到「能设计完整模拟计算数据通路并端到端验证」</a:t>
            </a:r>
            <a:endParaRPr/>
          </a:p>
        </p:txBody>
      </p:sp>
      <p:sp>
        <p:nvSpPr>
          <p:cNvPr id="138" name=""/>
          <p:cNvSpPr/>
          <p:nvPr/>
        </p:nvSpPr>
        <p:spPr>
          <a:xfrm rot="0" flipH="0" flipV="0">
            <a:off x="685800" y="2867025"/>
            <a:ext cx="3238500" cy="1209675"/>
          </a:xfrm>
          <a:prstGeom prst="roundRect">
            <a:avLst>
              <a:gd name="adj" fmla="val 9449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p/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914400" y="3038475"/>
            <a:ext cx="2781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2563EB"/>
                </a:solidFill>
                <a:latin typeface="Microsoft YaHei"/>
                <a:ea typeface="Microsoft YaHei"/>
              </a:rPr>
              <a:t>四条路线已吃狗粮</a:t>
            </a:r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914400" y="3352800"/>
            <a:ext cx="27813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光子计算</a:t>
            </a:r>
            <a:r>
              <a:rPr lang="en-US" sz="1125">
                <a:solidFill>
                  <a:srgbClr val="9FB3CC"/>
                </a:solidFill>
                <a:latin typeface="Microsoft YaHei"/>
                <a:ea typeface="Microsoft YaHei"/>
              </a:rPr>
              <a:t xml:space="preserve"> M1–M5 · </a:t>
            </a: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光量子</a:t>
            </a:r>
            <a:r>
              <a:rPr lang="en-US" sz="1125">
                <a:solidFill>
                  <a:srgbClr val="9FB3CC"/>
                </a:solidFill>
                <a:latin typeface="Microsoft YaHei"/>
                <a:ea typeface="Microsoft YaHei"/>
              </a:rPr>
              <a:t xml:space="preserve"> LOQC · </a:t>
            </a: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超导</a:t>
            </a:r>
            <a:r>
              <a:rPr lang="en-US" sz="1125">
                <a:solidFill>
                  <a:srgbClr val="9FB3CC"/>
                </a:solidFill>
                <a:latin typeface="Microsoft YaHei"/>
                <a:ea typeface="Microsoft YaHei"/>
              </a:rPr>
              <a:t xml:space="preserve"> transmon S1–S5 · </a:t>
            </a: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电子计算</a:t>
            </a:r>
            <a:r>
              <a:rPr lang="en-US" sz="1125">
                <a:solidFill>
                  <a:srgbClr val="9FB3CC"/>
                </a:solidFill>
                <a:latin typeface="Microsoft YaHei"/>
                <a:ea typeface="Microsoft YaHei"/>
              </a:rPr>
              <a:t xml:space="preserve"> E1–E5</a:t>
            </a:r>
            <a:endParaRPr/>
          </a:p>
        </p:txBody>
      </p:sp>
      <p:sp>
        <p:nvSpPr>
          <p:cNvPr id="141" name=""/>
          <p:cNvSpPr/>
          <p:nvPr/>
        </p:nvSpPr>
        <p:spPr>
          <a:xfrm rot="0" flipH="0" flipV="0">
            <a:off x="4076700" y="2867025"/>
            <a:ext cx="3238500" cy="1209675"/>
          </a:xfrm>
          <a:prstGeom prst="roundRect">
            <a:avLst>
              <a:gd name="adj" fmla="val 9449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p/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4305300" y="3038475"/>
            <a:ext cx="2781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2563EB"/>
                </a:solidFill>
                <a:latin typeface="Microsoft YaHei"/>
                <a:ea typeface="Microsoft YaHei"/>
              </a:rPr>
              <a:t>能力已硬化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4305300" y="3352800"/>
            <a:ext cx="27813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9FB3CC"/>
                </a:solidFill>
                <a:latin typeface="Microsoft YaHei"/>
                <a:ea typeface="Microsoft YaHei"/>
              </a:rPr>
              <a:t xml:space="preserve">ecore </a:t>
            </a: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能力清单</a:t>
            </a:r>
            <a:r>
              <a:rPr lang="en-US" sz="1125">
                <a:solidFill>
                  <a:srgbClr val="9FB3CC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双向完备守护门禁</a:t>
            </a:r>
            <a:r>
              <a:rPr lang="en-US" sz="1125">
                <a:solidFill>
                  <a:srgbClr val="9FB3CC"/>
                </a:solidFill>
                <a:latin typeface="Microsoft YaHei"/>
                <a:ea typeface="Microsoft YaHei"/>
              </a:rPr>
              <a:t xml:space="preserve"> ⇒ </a:t>
            </a: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能力面不再静默失守</a:t>
            </a:r>
            <a:endParaRPr/>
          </a:p>
        </p:txBody>
      </p:sp>
      <p:sp>
        <p:nvSpPr>
          <p:cNvPr id="144" name=""/>
          <p:cNvSpPr/>
          <p:nvPr/>
        </p:nvSpPr>
        <p:spPr>
          <a:xfrm rot="0" flipH="0" flipV="0">
            <a:off x="7467600" y="2867025"/>
            <a:ext cx="3238500" cy="1209675"/>
          </a:xfrm>
          <a:prstGeom prst="roundRect">
            <a:avLst>
              <a:gd name="adj" fmla="val 9449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p/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7696200" y="3038475"/>
            <a:ext cx="2781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2563EB"/>
                </a:solidFill>
                <a:latin typeface="Microsoft YaHei"/>
                <a:ea typeface="Microsoft YaHei"/>
              </a:rPr>
              <a:t>诚实边界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7696200" y="3352800"/>
            <a:ext cx="27813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设计期验证</a:t>
            </a:r>
            <a:r>
              <a:rPr lang="en-US" sz="1125">
                <a:solidFill>
                  <a:srgbClr val="9FB3C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非流片实测</a:t>
            </a:r>
            <a:r>
              <a:rPr lang="en-US" sz="1125">
                <a:solidFill>
                  <a:srgbClr val="9FB3C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不报</a:t>
            </a:r>
            <a:r>
              <a:rPr lang="en-US" sz="1125">
                <a:solidFill>
                  <a:srgbClr val="9FB3CC"/>
                </a:solidFill>
                <a:latin typeface="Microsoft YaHei"/>
                <a:ea typeface="Microsoft YaHei"/>
              </a:rPr>
              <a:t xml:space="preserve"> fabricated </a:t>
            </a: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能效</a:t>
            </a:r>
            <a:r>
              <a:rPr lang="en-US" sz="1125">
                <a:solidFill>
                  <a:srgbClr val="9FB3CC"/>
                </a:solidFill>
                <a:latin typeface="Microsoft YaHei"/>
                <a:ea typeface="Microsoft YaHei"/>
              </a:rPr>
              <a:t xml:space="preserve"> · landmark </a:t>
            </a:r>
            <a:r>
              <a:rPr lang="zh-CN" sz="1125">
                <a:solidFill>
                  <a:srgbClr val="9FB3CC"/>
                </a:solidFill>
                <a:latin typeface="Microsoft YaHei"/>
                <a:ea typeface="Microsoft YaHei"/>
              </a:rPr>
              <a:t>仅背景坐标</a:t>
            </a:r>
            <a:endParaRPr/>
          </a:p>
        </p:txBody>
      </p:sp>
      <p:sp>
        <p:nvSpPr>
          <p:cNvPr id="147" name=""/>
          <p:cNvSpPr/>
          <p:nvPr/>
        </p:nvSpPr>
        <p:spPr>
          <a:xfrm rot="0" flipH="0" flipV="0">
            <a:off x="685800" y="5895975"/>
            <a:ext cx="10820400" cy="361950"/>
          </a:xfrm>
          <a:custGeom>
            <a:pathLst>
              <a:path w="1136" h="38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9FB3CC">
              <a:alpha val="25000"/>
            </a:srgbClr>
          </a:solidFill>
          <a:ln/>
        </p:spPr>
        <p:txBody>
          <a:bodyPr/>
          <a:p/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685800" y="6057900"/>
            <a:ext cx="6419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FB3CC"/>
                </a:solidFill>
                <a:latin typeface="Microsoft YaHei"/>
                <a:ea typeface="Microsoft YaHei"/>
              </a:rPr>
              <a:t xml:space="preserve">LDA · </a:t>
            </a: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开源</a:t>
            </a:r>
            <a:r>
              <a:rPr lang="en-US" sz="1200">
                <a:solidFill>
                  <a:srgbClr val="9FB3CC"/>
                </a:solidFill>
                <a:latin typeface="Microsoft YaHei"/>
                <a:ea typeface="Microsoft YaHei"/>
              </a:rPr>
              <a:t xml:space="preserve"> Agent-native </a:t>
            </a: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光</a:t>
            </a:r>
            <a:r>
              <a:rPr lang="en-US" sz="1200">
                <a:solidFill>
                  <a:srgbClr val="9FB3CC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量</a:t>
            </a:r>
            <a:r>
              <a:rPr lang="en-US" sz="1200">
                <a:solidFill>
                  <a:srgbClr val="9FB3CC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电子</a:t>
            </a:r>
            <a:r>
              <a:rPr lang="en-US" sz="1200">
                <a:solidFill>
                  <a:srgbClr val="9FB3CC"/>
                </a:solidFill>
                <a:latin typeface="Microsoft YaHei"/>
                <a:ea typeface="Microsoft YaHei"/>
              </a:rPr>
              <a:t xml:space="preserve"> EDA</a:t>
            </a: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（</a:t>
            </a:r>
            <a:r>
              <a:rPr lang="en-US" sz="1200">
                <a:solidFill>
                  <a:srgbClr val="9FB3CC"/>
                </a:solidFill>
                <a:latin typeface="Microsoft YaHei"/>
                <a:ea typeface="Microsoft YaHei"/>
              </a:rPr>
              <a:t>MIT</a:t>
            </a: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）·</a:t>
            </a:r>
            <a:r>
              <a:rPr lang="en-US" sz="1200">
                <a:solidFill>
                  <a:srgbClr val="9FB3CC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电子计算征程</a:t>
            </a:r>
            <a:r>
              <a:rPr lang="en-US" sz="1200">
                <a:solidFill>
                  <a:srgbClr val="9FB3CC"/>
                </a:solidFill>
                <a:latin typeface="Microsoft YaHei"/>
                <a:ea typeface="Microsoft YaHei"/>
              </a:rPr>
              <a:t xml:space="preserve"> E1–E5</a:t>
            </a: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（</a:t>
            </a:r>
            <a:r>
              <a:rPr lang="en-US" sz="1200">
                <a:solidFill>
                  <a:srgbClr val="9FB3CC"/>
                </a:solidFill>
                <a:latin typeface="Microsoft YaHei"/>
                <a:ea typeface="Microsoft YaHei"/>
              </a:rPr>
              <a:t>D-150…D-154</a:t>
            </a:r>
            <a:r>
              <a:rPr lang="zh-CN" sz="1200">
                <a:solidFill>
                  <a:srgbClr val="9FB3CC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10915650" y="6057900"/>
            <a:ext cx="5905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FB3CC"/>
                </a:solidFill>
                <a:latin typeface="Consolas"/>
                <a:ea typeface="Consolas"/>
              </a:rPr>
              <a:t>06 / 06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2026-09-30T19:25:53Z</dcterms:created>
  <dcterms:modified xsi:type="dcterms:W3CDTF">2026-09-30T19:25:53Z</dcterms:modified>
</cp:coreProperties>
</file>